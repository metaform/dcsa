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7" r:id="rId2"/>
    <p:sldId id="415" r:id="rId3"/>
    <p:sldId id="416" r:id="rId4"/>
    <p:sldId id="407" r:id="rId5"/>
    <p:sldId id="258" r:id="rId6"/>
    <p:sldId id="412" r:id="rId7"/>
    <p:sldId id="259" r:id="rId8"/>
    <p:sldId id="399" r:id="rId9"/>
    <p:sldId id="400" r:id="rId10"/>
    <p:sldId id="403" r:id="rId11"/>
    <p:sldId id="380" r:id="rId12"/>
    <p:sldId id="387" r:id="rId13"/>
    <p:sldId id="401" r:id="rId14"/>
    <p:sldId id="394" r:id="rId15"/>
    <p:sldId id="395" r:id="rId16"/>
    <p:sldId id="396" r:id="rId17"/>
    <p:sldId id="398" r:id="rId18"/>
    <p:sldId id="264" r:id="rId19"/>
    <p:sldId id="388" r:id="rId20"/>
    <p:sldId id="405" r:id="rId21"/>
    <p:sldId id="409" r:id="rId22"/>
    <p:sldId id="408" r:id="rId23"/>
    <p:sldId id="406" r:id="rId24"/>
    <p:sldId id="410" r:id="rId25"/>
    <p:sldId id="282" r:id="rId26"/>
    <p:sldId id="402" r:id="rId27"/>
    <p:sldId id="267" r:id="rId28"/>
    <p:sldId id="283" r:id="rId29"/>
    <p:sldId id="265" r:id="rId30"/>
    <p:sldId id="266" r:id="rId31"/>
    <p:sldId id="284" r:id="rId32"/>
    <p:sldId id="287" r:id="rId33"/>
    <p:sldId id="286" r:id="rId34"/>
    <p:sldId id="289" r:id="rId35"/>
    <p:sldId id="292" r:id="rId36"/>
    <p:sldId id="294" r:id="rId37"/>
    <p:sldId id="293" r:id="rId38"/>
    <p:sldId id="413" r:id="rId39"/>
    <p:sldId id="41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34771A-BC43-EC1A-3B58-8CB70A8707F5}" name="Jim Marino" initials="JM" userId="S::jmarino_metaformsystems.com#ext#@microsoft.onmicrosoft.com::3fb7cbcc-e4b0-4910-9883-7d987e85e1e2" providerId="AD"/>
  <p188:author id="{21E51368-ACE7-CB23-E7D2-D9A0A442ADA5}" name="Jim Marino" initials="JM" userId="352dc5a30aeaf6d1" providerId="Windows Live"/>
  <p188:author id="{4D5D7B78-89B4-DFDE-B4FD-F6F38AD199AE}" name="Eric Samson (CELA)" initials="ES" userId="S::ericsam@microsoft.com::5bd812a0-c560-40a5-9a74-8931e83e73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EF9"/>
    <a:srgbClr val="0051F5"/>
    <a:srgbClr val="9FC1FD"/>
    <a:srgbClr val="00B050"/>
    <a:srgbClr val="536DE6"/>
    <a:srgbClr val="DEEAFF"/>
    <a:srgbClr val="8DEBF9"/>
    <a:srgbClr val="D9D9D9"/>
    <a:srgbClr val="002060"/>
    <a:srgbClr val="EF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9"/>
    <p:restoredTop sz="95081"/>
  </p:normalViewPr>
  <p:slideViewPr>
    <p:cSldViewPr snapToGrid="0">
      <p:cViewPr>
        <p:scale>
          <a:sx n="143" d="100"/>
          <a:sy n="143" d="100"/>
        </p:scale>
        <p:origin x="144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8FC4A-DF98-FA40-B7A8-B259601F95D5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43F05-8547-1847-A67C-878D6D903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2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16207A-ECCB-E709-1150-E33B1F35BDA5}"/>
              </a:ext>
            </a:extLst>
          </p:cNvPr>
          <p:cNvSpPr/>
          <p:nvPr userDrawn="1"/>
        </p:nvSpPr>
        <p:spPr>
          <a:xfrm>
            <a:off x="0" y="0"/>
            <a:ext cx="12212320" cy="10064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F2B478-5BFA-CAB1-C3D2-F602309B6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2CBFB-C011-933F-2E65-28DA6F384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1222A-1B2C-F834-6908-C11529DB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4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E82D4-87E3-A7CC-6D45-2D3BA169D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2413"/>
          </a:xfrm>
        </p:spPr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BB14C-3D9F-0C2B-3B1C-15C9AA569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418"/>
            <a:ext cx="10515600" cy="4597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8AF09-751B-8762-01BD-0201EC313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79B75-A4D0-E5B4-051F-127FE010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EE367-1950-3643-99C0-EBD27DCA656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DB2199-4543-8593-482F-937B6E73B956}"/>
              </a:ext>
            </a:extLst>
          </p:cNvPr>
          <p:cNvSpPr txBox="1"/>
          <p:nvPr userDrawn="1"/>
        </p:nvSpPr>
        <p:spPr>
          <a:xfrm>
            <a:off x="2123440" y="69494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44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38BB-9B0E-9847-0ED2-3316979DC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87AEC-3F9E-BF55-4682-2E27B2ADF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2099E-0BF6-B853-BDDE-93597AC1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209F-304E-E04D-A6AD-16AF79CE8880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B8D16-DF91-A386-6684-DAD24B2B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24AAA-4022-3457-C91B-6A70BAAC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EE367-1950-3643-99C0-EBD27DCA6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4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6C2C-31A0-E1CA-8D5A-252215FFA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D1989-087A-B23F-153E-2B44C9229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8F982-4089-897E-F7D2-5A649DD5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26D7A-6C76-2630-AD93-42A5CC398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209F-304E-E04D-A6AD-16AF79CE8880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14B17-D642-99DE-64A0-E9E7B6C9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5F231-478F-3539-3279-59F9BDF54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EE367-1950-3643-99C0-EBD27DCA6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608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7675-5EB7-E662-F7F5-5E97A6855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783C9-DD4F-4D0D-1F87-C54A816B0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0CB2C-8D70-143D-0307-766FECA50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E36F23-6BFE-BEBB-18F1-A08D1B3BC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6340D-6436-55A6-300F-36310A5E4F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C64DE6-2336-E9C4-0D84-120EE25E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209F-304E-E04D-A6AD-16AF79CE8880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76410C-E149-AC30-149D-47C74CB5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8FEB08-CF02-701B-DC65-10F1AF965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EE367-1950-3643-99C0-EBD27DCA6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44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73C2-7966-44F2-D8A2-F00F6FECC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64D57C-4DEE-3180-B628-F831A643A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209F-304E-E04D-A6AD-16AF79CE8880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08B8D8-F041-3705-8A43-BCBCD85B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9FB89A-6ED1-D0B8-99E8-6244C9F4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EE367-1950-3643-99C0-EBD27DCA6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2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7F2347-325C-17EF-EEF9-A14618170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209F-304E-E04D-A6AD-16AF79CE8880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4041DD-0AE3-8243-A763-F8374FE8D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F76A6-8D69-8B71-5D93-716267DE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EE367-1950-3643-99C0-EBD27DCA6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97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095F8-D83D-7D29-B845-250295CC7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ACBCC-D1D6-74A1-5BEA-9E3099A32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5E9DE-C430-C669-6724-1371002FA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48D4C-3E6F-2773-6293-8B16FB4F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209F-304E-E04D-A6AD-16AF79CE8880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4976D-C46E-6A80-9667-63C5E7E9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6F1C1-1CAB-5DD1-121C-B6104720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EE367-1950-3643-99C0-EBD27DCA6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88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398BF-1F16-0560-3918-25D90A37D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406F5-6A0C-6425-32D3-E0CDB4BF1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34738-61C4-F883-7E7B-73E60288C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8E55D-11A3-6BAA-7D30-1273B58FB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209F-304E-E04D-A6AD-16AF79CE8880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03838-018C-3C2D-D72B-32BAC61B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96CD7-4F95-0E27-686B-BFD3DF174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EE367-1950-3643-99C0-EBD27DCA6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97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B1F49-D4BA-352B-CE4A-0F6BC50F7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9BB7F0-D1CC-FCA4-1542-13A47F69D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C7FD2-74F1-62E2-2C07-C225A3E4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209F-304E-E04D-A6AD-16AF79CE8880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3EE92-3BEA-3790-DCE9-8E41B666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50157-FDDA-6777-F6D1-81C591549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EE367-1950-3643-99C0-EBD27DCA6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61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112D5A-D69C-0C96-9824-FBC7C0C8BE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3DEA9-3B69-F189-FF16-2538D9B6A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48C93-9DF3-90F8-83A7-5B624E003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209F-304E-E04D-A6AD-16AF79CE8880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A8CA6-D9BE-6F6E-714D-AA7B4E9DC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FAC93-91C6-2B63-C53F-C64944C0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EE367-1950-3643-99C0-EBD27DCA6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07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8" y="1620000"/>
            <a:ext cx="11183563" cy="4716000"/>
          </a:xfrm>
        </p:spPr>
        <p:txBody>
          <a:bodyPr/>
          <a:lstStyle>
            <a:lvl1pPr>
              <a:lnSpc>
                <a:spcPct val="100000"/>
              </a:lnSpc>
              <a:spcBef>
                <a:spcPts val="1600"/>
              </a:spcBef>
              <a:defRPr/>
            </a:lvl1pPr>
            <a:lvl2pPr>
              <a:lnSpc>
                <a:spcPct val="100000"/>
              </a:lnSpc>
              <a:spcBef>
                <a:spcPts val="1600"/>
              </a:spcBef>
              <a:defRPr/>
            </a:lvl2pPr>
            <a:lvl3pPr>
              <a:lnSpc>
                <a:spcPct val="100000"/>
              </a:lnSpc>
              <a:spcBef>
                <a:spcPts val="1600"/>
              </a:spcBef>
              <a:defRPr/>
            </a:lvl3pPr>
            <a:lvl4pPr>
              <a:lnSpc>
                <a:spcPct val="100000"/>
              </a:lnSpc>
              <a:spcBef>
                <a:spcPts val="1600"/>
              </a:spcBef>
              <a:defRPr/>
            </a:lvl4pPr>
            <a:lvl5pPr>
              <a:lnSpc>
                <a:spcPct val="100000"/>
              </a:lnSpc>
              <a:spcBef>
                <a:spcPts val="1600"/>
              </a:spcBef>
              <a:defRPr/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1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5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10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1492B9-38C4-6C75-7701-688AACC1F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E731C-8E1E-3DDC-87A6-D38862CFE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EFA39-1302-CEFC-4AB6-212143E2F3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C209F-304E-E04D-A6AD-16AF79CE8880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BD711-F61E-3B5B-ED7C-4AB4B5880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CB096-F62A-FFB5-B0A0-700D79566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EE367-1950-3643-99C0-EBD27DCA6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5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18" Type="http://schemas.openxmlformats.org/officeDocument/2006/relationships/image" Target="../media/image41.jpe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35.png"/><Relationship Id="rId17" Type="http://schemas.openxmlformats.org/officeDocument/2006/relationships/image" Target="../media/image40.svg"/><Relationship Id="rId2" Type="http://schemas.openxmlformats.org/officeDocument/2006/relationships/image" Target="../media/image19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34.svg"/><Relationship Id="rId5" Type="http://schemas.openxmlformats.org/officeDocument/2006/relationships/image" Target="../media/image22.svg"/><Relationship Id="rId15" Type="http://schemas.openxmlformats.org/officeDocument/2006/relationships/image" Target="../media/image38.svg"/><Relationship Id="rId10" Type="http://schemas.openxmlformats.org/officeDocument/2006/relationships/image" Target="../media/image33.png"/><Relationship Id="rId4" Type="http://schemas.openxmlformats.org/officeDocument/2006/relationships/image" Target="../media/image21.png"/><Relationship Id="rId9" Type="http://schemas.openxmlformats.org/officeDocument/2006/relationships/image" Target="../media/image32.svg"/><Relationship Id="rId1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7.png"/><Relationship Id="rId18" Type="http://schemas.openxmlformats.org/officeDocument/2006/relationships/image" Target="../media/image43.svg"/><Relationship Id="rId3" Type="http://schemas.openxmlformats.org/officeDocument/2006/relationships/image" Target="../media/image6.svg"/><Relationship Id="rId7" Type="http://schemas.openxmlformats.org/officeDocument/2006/relationships/image" Target="../media/image49.svg"/><Relationship Id="rId12" Type="http://schemas.openxmlformats.org/officeDocument/2006/relationships/image" Target="../media/image54.svg"/><Relationship Id="rId17" Type="http://schemas.openxmlformats.org/officeDocument/2006/relationships/image" Target="../media/image42.png"/><Relationship Id="rId2" Type="http://schemas.openxmlformats.org/officeDocument/2006/relationships/image" Target="../media/image5.png"/><Relationship Id="rId16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5.svg"/><Relationship Id="rId15" Type="http://schemas.openxmlformats.org/officeDocument/2006/relationships/image" Target="../media/image9.png"/><Relationship Id="rId10" Type="http://schemas.openxmlformats.org/officeDocument/2006/relationships/image" Target="../media/image52.svg"/><Relationship Id="rId4" Type="http://schemas.openxmlformats.org/officeDocument/2006/relationships/image" Target="../media/image44.png"/><Relationship Id="rId9" Type="http://schemas.openxmlformats.org/officeDocument/2006/relationships/image" Target="../media/image51.png"/><Relationship Id="rId1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12" Type="http://schemas.openxmlformats.org/officeDocument/2006/relationships/image" Target="../media/image6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svg"/><Relationship Id="rId5" Type="http://schemas.openxmlformats.org/officeDocument/2006/relationships/image" Target="../media/image62.sv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svg"/><Relationship Id="rId14" Type="http://schemas.openxmlformats.org/officeDocument/2006/relationships/image" Target="../media/image71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.svg"/><Relationship Id="rId7" Type="http://schemas.openxmlformats.org/officeDocument/2006/relationships/image" Target="../media/image7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10" Type="http://schemas.openxmlformats.org/officeDocument/2006/relationships/image" Target="../media/image75.svg"/><Relationship Id="rId4" Type="http://schemas.openxmlformats.org/officeDocument/2006/relationships/image" Target="../media/image50.png"/><Relationship Id="rId9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20.svg"/><Relationship Id="rId3" Type="http://schemas.openxmlformats.org/officeDocument/2006/relationships/image" Target="../media/image66.svg"/><Relationship Id="rId7" Type="http://schemas.openxmlformats.org/officeDocument/2006/relationships/image" Target="../media/image34.svg"/><Relationship Id="rId12" Type="http://schemas.openxmlformats.org/officeDocument/2006/relationships/image" Target="../media/image19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81.svg"/><Relationship Id="rId5" Type="http://schemas.openxmlformats.org/officeDocument/2006/relationships/image" Target="../media/image60.svg"/><Relationship Id="rId10" Type="http://schemas.openxmlformats.org/officeDocument/2006/relationships/image" Target="../media/image80.png"/><Relationship Id="rId4" Type="http://schemas.openxmlformats.org/officeDocument/2006/relationships/image" Target="../media/image59.png"/><Relationship Id="rId9" Type="http://schemas.openxmlformats.org/officeDocument/2006/relationships/image" Target="../media/image36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66.svg"/><Relationship Id="rId7" Type="http://schemas.openxmlformats.org/officeDocument/2006/relationships/image" Target="../media/image34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20.svg"/><Relationship Id="rId5" Type="http://schemas.openxmlformats.org/officeDocument/2006/relationships/image" Target="../media/image60.svg"/><Relationship Id="rId10" Type="http://schemas.openxmlformats.org/officeDocument/2006/relationships/image" Target="../media/image19.png"/><Relationship Id="rId4" Type="http://schemas.openxmlformats.org/officeDocument/2006/relationships/image" Target="../media/image59.png"/><Relationship Id="rId9" Type="http://schemas.openxmlformats.org/officeDocument/2006/relationships/image" Target="../media/image36.sv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9A631-7668-C51B-FABA-FB5F434A76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r"/>
            <a:br>
              <a:rPr lang="en-US" sz="4000" kern="1200" dirty="0">
                <a:solidFill>
                  <a:srgbClr val="006EF9"/>
                </a:solidFill>
                <a:latin typeface="+mj-lt"/>
                <a:ea typeface="+mj-ea"/>
                <a:cs typeface="+mj-cs"/>
              </a:rPr>
            </a:br>
            <a:br>
              <a:rPr lang="en-US" sz="4400" kern="1200" dirty="0">
                <a:solidFill>
                  <a:srgbClr val="006EF9"/>
                </a:solidFill>
                <a:latin typeface="+mj-lt"/>
                <a:ea typeface="+mj-ea"/>
                <a:cs typeface="+mj-cs"/>
              </a:rPr>
            </a:br>
            <a:endParaRPr lang="en-US" sz="4400" kern="1200" dirty="0">
              <a:solidFill>
                <a:srgbClr val="006EF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F2002-6C26-7585-D874-B84ED95738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400" b="1" dirty="0">
                <a:solidFill>
                  <a:srgbClr val="006EF9"/>
                </a:solidFill>
              </a:rPr>
              <a:t>Catena-X SME Acceleration Offsite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A20C1C1-3D0F-9F9D-D2FD-E06617C7BF1E}"/>
              </a:ext>
            </a:extLst>
          </p:cNvPr>
          <p:cNvSpPr txBox="1">
            <a:spLocks/>
          </p:cNvSpPr>
          <p:nvPr/>
        </p:nvSpPr>
        <p:spPr>
          <a:xfrm>
            <a:off x="1524000" y="5349875"/>
            <a:ext cx="3797111" cy="639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March 9-11, 2026</a:t>
            </a:r>
          </a:p>
        </p:txBody>
      </p:sp>
    </p:spTree>
    <p:extLst>
      <p:ext uri="{BB962C8B-B14F-4D97-AF65-F5344CB8AC3E}">
        <p14:creationId xmlns:p14="http://schemas.microsoft.com/office/powerpoint/2010/main" val="779546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E55F-8DCA-EB94-AB88-CA5E6969F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0: Monday Agenda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96A12DF-158E-924D-408D-21A87313C3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5175563"/>
              </p:ext>
            </p:extLst>
          </p:nvPr>
        </p:nvGraphicFramePr>
        <p:xfrm>
          <a:off x="838200" y="1579563"/>
          <a:ext cx="10515597" cy="43230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775429">
                  <a:extLst>
                    <a:ext uri="{9D8B030D-6E8A-4147-A177-3AD203B41FA5}">
                      <a16:colId xmlns:a16="http://schemas.microsoft.com/office/drawing/2014/main" val="4025781144"/>
                    </a:ext>
                  </a:extLst>
                </a:gridCol>
                <a:gridCol w="4135524">
                  <a:extLst>
                    <a:ext uri="{9D8B030D-6E8A-4147-A177-3AD203B41FA5}">
                      <a16:colId xmlns:a16="http://schemas.microsoft.com/office/drawing/2014/main" val="3232812078"/>
                    </a:ext>
                  </a:extLst>
                </a:gridCol>
                <a:gridCol w="1415334">
                  <a:extLst>
                    <a:ext uri="{9D8B030D-6E8A-4147-A177-3AD203B41FA5}">
                      <a16:colId xmlns:a16="http://schemas.microsoft.com/office/drawing/2014/main" val="3705436057"/>
                    </a:ext>
                  </a:extLst>
                </a:gridCol>
                <a:gridCol w="1094655">
                  <a:extLst>
                    <a:ext uri="{9D8B030D-6E8A-4147-A177-3AD203B41FA5}">
                      <a16:colId xmlns:a16="http://schemas.microsoft.com/office/drawing/2014/main" val="3337691546"/>
                    </a:ext>
                  </a:extLst>
                </a:gridCol>
                <a:gridCol w="1094655">
                  <a:extLst>
                    <a:ext uri="{9D8B030D-6E8A-4147-A177-3AD203B41FA5}">
                      <a16:colId xmlns:a16="http://schemas.microsoft.com/office/drawing/2014/main" val="3814148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Work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07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Goals &amp; Objectives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Presentation and discussion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9:00-9:30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7397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Catena-X SME Rollout 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Presentation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Discussion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Thomas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9:30-10:30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513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Technology and Working Session Overview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Technology stack review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Outline what needs to be resolved in working sessions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Discussion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Jim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10:30-11:15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929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CSPs: Status, Questions, and Needs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Status review and discussion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/>
                        <a:t>Opiquad</a:t>
                      </a:r>
                      <a:r>
                        <a:rPr lang="en-US" sz="1200" dirty="0"/>
                        <a:t>/Aruba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11:15-12:00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8235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Lunch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12:00-13:00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11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25" indent="0">
                        <a:tabLst/>
                      </a:pPr>
                      <a:r>
                        <a:rPr lang="en-US" sz="1200" b="1" dirty="0"/>
                        <a:t>CCM Use Cases Working 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Proposal and discussion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Detailed analysis of required Catena-X adjustments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13:00-14:00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376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25" indent="0">
                        <a:tabLst/>
                      </a:pPr>
                      <a:r>
                        <a:rPr lang="en-US" sz="1200" b="1" dirty="0"/>
                        <a:t>MVP Design Working 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Engineering overview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Product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14:00-15:30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9404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25" indent="0">
                        <a:tabLst/>
                      </a:pPr>
                      <a:r>
                        <a:rPr lang="en-US" sz="1200" b="1" dirty="0"/>
                        <a:t>Detailed Product Requirements for Catena-X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Business &amp; Technical Onboarding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15:30-16:00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7781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25" indent="0">
                        <a:tabLst/>
                      </a:pPr>
                      <a:r>
                        <a:rPr lang="en-US" sz="1200" b="1" dirty="0"/>
                        <a:t>Delivery 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Discussion, planning, and agreement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16:00-17:00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459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867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E55F-8DCA-EB94-AB88-CA5E6969F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1: Tuesday Agenda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96A12DF-158E-924D-408D-21A87313C3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79563"/>
          <a:ext cx="10515597" cy="38608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775429">
                  <a:extLst>
                    <a:ext uri="{9D8B030D-6E8A-4147-A177-3AD203B41FA5}">
                      <a16:colId xmlns:a16="http://schemas.microsoft.com/office/drawing/2014/main" val="4025781144"/>
                    </a:ext>
                  </a:extLst>
                </a:gridCol>
                <a:gridCol w="4143273">
                  <a:extLst>
                    <a:ext uri="{9D8B030D-6E8A-4147-A177-3AD203B41FA5}">
                      <a16:colId xmlns:a16="http://schemas.microsoft.com/office/drawing/2014/main" val="3232812078"/>
                    </a:ext>
                  </a:extLst>
                </a:gridCol>
                <a:gridCol w="1407585">
                  <a:extLst>
                    <a:ext uri="{9D8B030D-6E8A-4147-A177-3AD203B41FA5}">
                      <a16:colId xmlns:a16="http://schemas.microsoft.com/office/drawing/2014/main" val="3705436057"/>
                    </a:ext>
                  </a:extLst>
                </a:gridCol>
                <a:gridCol w="1094655">
                  <a:extLst>
                    <a:ext uri="{9D8B030D-6E8A-4147-A177-3AD203B41FA5}">
                      <a16:colId xmlns:a16="http://schemas.microsoft.com/office/drawing/2014/main" val="2903530717"/>
                    </a:ext>
                  </a:extLst>
                </a:gridCol>
                <a:gridCol w="1094655">
                  <a:extLst>
                    <a:ext uri="{9D8B030D-6E8A-4147-A177-3AD203B41FA5}">
                      <a16:colId xmlns:a16="http://schemas.microsoft.com/office/drawing/2014/main" val="3814148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Work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07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Goals &amp; Objectives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Presentation and discussion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9:00-9:30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7397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Catena-X SME Rollout 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Overview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Discussion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Thomas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9:30-10:30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513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Technology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EDC-V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Data Plane Signaling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Impact on Tractus-X (Management API, Data Plane)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Jim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10:30-12:00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929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Lunch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12:00-13:00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11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25" indent="0">
                        <a:tabLst/>
                      </a:pPr>
                      <a:r>
                        <a:rPr lang="en-US" sz="1200" b="1" dirty="0"/>
                        <a:t>Onboarding Working 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Madrid demo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Julia to present process flow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Process/APIs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13:00-15:00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376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25" indent="0">
                        <a:tabLst/>
                      </a:pPr>
                      <a:r>
                        <a:rPr lang="en-US" sz="1200" b="1" dirty="0"/>
                        <a:t>CCM Use Case Working 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Proposal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Discussion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15:00-16:45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9404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25" indent="0">
                        <a:tabLst/>
                      </a:pPr>
                      <a:r>
                        <a:rPr lang="en-US" sz="1200" b="1" dirty="0"/>
                        <a:t>Recap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Summary and recap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16:45-17:00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459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517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E55F-8DCA-EB94-AB88-CA5E6969F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2: Wednesday Agenda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96A12DF-158E-924D-408D-21A87313C3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79562"/>
          <a:ext cx="10447216" cy="352388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774229">
                  <a:extLst>
                    <a:ext uri="{9D8B030D-6E8A-4147-A177-3AD203B41FA5}">
                      <a16:colId xmlns:a16="http://schemas.microsoft.com/office/drawing/2014/main" val="4025781144"/>
                    </a:ext>
                  </a:extLst>
                </a:gridCol>
                <a:gridCol w="4125676">
                  <a:extLst>
                    <a:ext uri="{9D8B030D-6E8A-4147-A177-3AD203B41FA5}">
                      <a16:colId xmlns:a16="http://schemas.microsoft.com/office/drawing/2014/main" val="3232812078"/>
                    </a:ext>
                  </a:extLst>
                </a:gridCol>
                <a:gridCol w="1010213">
                  <a:extLst>
                    <a:ext uri="{9D8B030D-6E8A-4147-A177-3AD203B41FA5}">
                      <a16:colId xmlns:a16="http://schemas.microsoft.com/office/drawing/2014/main" val="3705436057"/>
                    </a:ext>
                  </a:extLst>
                </a:gridCol>
                <a:gridCol w="1326386">
                  <a:extLst>
                    <a:ext uri="{9D8B030D-6E8A-4147-A177-3AD203B41FA5}">
                      <a16:colId xmlns:a16="http://schemas.microsoft.com/office/drawing/2014/main" val="1457617668"/>
                    </a:ext>
                  </a:extLst>
                </a:gridCol>
                <a:gridCol w="1210712">
                  <a:extLst>
                    <a:ext uri="{9D8B030D-6E8A-4147-A177-3AD203B41FA5}">
                      <a16:colId xmlns:a16="http://schemas.microsoft.com/office/drawing/2014/main" val="3814148049"/>
                    </a:ext>
                  </a:extLst>
                </a:gridCol>
              </a:tblGrid>
              <a:tr h="372817">
                <a:tc>
                  <a:txBody>
                    <a:bodyPr/>
                    <a:lstStyle/>
                    <a:p>
                      <a:r>
                        <a:rPr lang="en-US" sz="1200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Work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074716"/>
                  </a:ext>
                </a:extLst>
              </a:tr>
              <a:tr h="372817">
                <a:tc>
                  <a:txBody>
                    <a:bodyPr/>
                    <a:lstStyle/>
                    <a:p>
                      <a:r>
                        <a:rPr lang="en-US" sz="1200" b="1" dirty="0"/>
                        <a:t>Intro and Recap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Thomas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9:00-9:30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7397668"/>
                  </a:ext>
                </a:extLst>
              </a:tr>
              <a:tr h="372817">
                <a:tc>
                  <a:txBody>
                    <a:bodyPr/>
                    <a:lstStyle/>
                    <a:p>
                      <a:r>
                        <a:rPr lang="en-US" sz="1200" b="1" dirty="0"/>
                        <a:t>Onboarding and Use Cases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Continued discussion and planning as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9:30-10:30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9454205"/>
                  </a:ext>
                </a:extLst>
              </a:tr>
              <a:tr h="643492">
                <a:tc>
                  <a:txBody>
                    <a:bodyPr/>
                    <a:lstStyle/>
                    <a:p>
                      <a:r>
                        <a:rPr lang="en-US" sz="1200" b="1" dirty="0"/>
                        <a:t>Development and Delivery Plan For Tier-1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Milestones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Rollout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Next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10:30-12:00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513545"/>
                  </a:ext>
                </a:extLst>
              </a:tr>
              <a:tr h="372817">
                <a:tc>
                  <a:txBody>
                    <a:bodyPr/>
                    <a:lstStyle/>
                    <a:p>
                      <a:r>
                        <a:rPr lang="en-US" sz="1200" b="1" dirty="0"/>
                        <a:t>Lunch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12:00-13:00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11459"/>
                  </a:ext>
                </a:extLst>
              </a:tr>
              <a:tr h="643492">
                <a:tc>
                  <a:txBody>
                    <a:bodyPr/>
                    <a:lstStyle/>
                    <a:p>
                      <a:pPr marL="11113" indent="0">
                        <a:tabLst/>
                      </a:pPr>
                      <a:r>
                        <a:rPr lang="en-US" sz="1200" b="1" dirty="0"/>
                        <a:t>Development and Delivery Plan For Tier-1, continued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Milestones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Rollout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Next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13:00:14:00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2332954"/>
                  </a:ext>
                </a:extLst>
              </a:tr>
              <a:tr h="372817">
                <a:tc>
                  <a:txBody>
                    <a:bodyPr/>
                    <a:lstStyle/>
                    <a:p>
                      <a:pPr marL="11113" indent="0">
                        <a:tabLst/>
                      </a:pPr>
                      <a:r>
                        <a:rPr lang="en-US" sz="1200" b="1" dirty="0"/>
                        <a:t>Working Model and Agreement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Working model and plan for Tier-1 meeting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14:00-16:00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7881422"/>
                  </a:ext>
                </a:extLst>
              </a:tr>
              <a:tr h="372817">
                <a:tc>
                  <a:txBody>
                    <a:bodyPr/>
                    <a:lstStyle/>
                    <a:p>
                      <a:pPr marL="11113" indent="0">
                        <a:tabLst/>
                      </a:pPr>
                      <a:r>
                        <a:rPr lang="en-US" sz="1200" b="1" dirty="0"/>
                        <a:t>Recap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Summary and recap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16:00-16:30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459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851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A988F-B050-8B2D-6ACE-B1DBD4FE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Technology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6C305-D7E9-B941-328C-B0E9D848F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418"/>
            <a:ext cx="10948416" cy="4597545"/>
          </a:xfrm>
        </p:spPr>
        <p:txBody>
          <a:bodyPr>
            <a:normAutofit/>
          </a:bodyPr>
          <a:lstStyle/>
          <a:p>
            <a:r>
              <a:rPr lang="en-US" dirty="0"/>
              <a:t>Accelerate SME onboarding via CSPs at scale</a:t>
            </a:r>
          </a:p>
          <a:p>
            <a:pPr lvl="1"/>
            <a:r>
              <a:rPr lang="en-US" dirty="0"/>
              <a:t> Make it easy and fast for SMEs to join the dataspace</a:t>
            </a:r>
          </a:p>
          <a:p>
            <a:r>
              <a:rPr lang="en-US" dirty="0"/>
              <a:t>Overcome technology barriers</a:t>
            </a:r>
          </a:p>
          <a:p>
            <a:pPr lvl="1"/>
            <a:r>
              <a:rPr lang="en-US" dirty="0"/>
              <a:t>Complete the Catena-X vision: a verifiable and adaptable foundation</a:t>
            </a:r>
          </a:p>
          <a:p>
            <a:r>
              <a:rPr lang="en-US" dirty="0"/>
              <a:t>Ensure Partner Stability</a:t>
            </a:r>
          </a:p>
          <a:p>
            <a:pPr lvl="1"/>
            <a:r>
              <a:rPr lang="en-US" dirty="0"/>
              <a:t>Support existing participants while evolving the platform</a:t>
            </a:r>
          </a:p>
          <a:p>
            <a:r>
              <a:rPr lang="en-US" dirty="0"/>
              <a:t>Deliver in 2026</a:t>
            </a:r>
          </a:p>
          <a:p>
            <a:pPr lvl="1"/>
            <a:r>
              <a:rPr lang="en-US" dirty="0"/>
              <a:t>Product rollout within the year</a:t>
            </a:r>
          </a:p>
        </p:txBody>
      </p:sp>
    </p:spTree>
    <p:extLst>
      <p:ext uri="{BB962C8B-B14F-4D97-AF65-F5344CB8AC3E}">
        <p14:creationId xmlns:p14="http://schemas.microsoft.com/office/powerpoint/2010/main" val="3436585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F581E8-CC4E-E0FD-51C6-DFF8503F8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Foundation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F9BE45-91DF-526E-8D76-3236AEF97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Enabling SME Onboarding at Scale</a:t>
            </a:r>
          </a:p>
        </p:txBody>
      </p:sp>
    </p:spTree>
    <p:extLst>
      <p:ext uri="{BB962C8B-B14F-4D97-AF65-F5344CB8AC3E}">
        <p14:creationId xmlns:p14="http://schemas.microsoft.com/office/powerpoint/2010/main" val="3527270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B4D7-609F-80AC-6281-1A76918CF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EDC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99FB9-2443-845E-1528-E5AA0362B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418"/>
            <a:ext cx="6781800" cy="459754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EDC is just the start. We’re building an extensible dataspace stack that goes far </a:t>
            </a:r>
            <a:r>
              <a:rPr lang="en-US"/>
              <a:t>beyond that </a:t>
            </a:r>
            <a:r>
              <a:rPr lang="en-US" dirty="0"/>
              <a:t>original vision.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3AF2C3-EFE7-82D8-5F50-EDA43A3DF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97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D9596-6538-FBFB-8FB6-1EE8A1357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Dataspace Technology Foundation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010BC5-53A8-29DC-203D-9D5653EDAE64}"/>
              </a:ext>
            </a:extLst>
          </p:cNvPr>
          <p:cNvGrpSpPr/>
          <p:nvPr/>
        </p:nvGrpSpPr>
        <p:grpSpPr>
          <a:xfrm>
            <a:off x="3689285" y="4044142"/>
            <a:ext cx="2406715" cy="732992"/>
            <a:chOff x="2935414" y="3343545"/>
            <a:chExt cx="6868887" cy="839531"/>
          </a:xfrm>
          <a:solidFill>
            <a:srgbClr val="006EF9"/>
          </a:solidFill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8CEC277-F598-1481-1867-3265C0E23169}"/>
                </a:ext>
              </a:extLst>
            </p:cNvPr>
            <p:cNvSpPr/>
            <p:nvPr/>
          </p:nvSpPr>
          <p:spPr>
            <a:xfrm>
              <a:off x="2935416" y="3343545"/>
              <a:ext cx="6868885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E825C9-E024-C93E-DDCF-0392E8416FE2}"/>
                </a:ext>
              </a:extLst>
            </p:cNvPr>
            <p:cNvSpPr txBox="1"/>
            <p:nvPr/>
          </p:nvSpPr>
          <p:spPr>
            <a:xfrm>
              <a:off x="2935414" y="3604892"/>
              <a:ext cx="6868883" cy="28162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EDC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C393A30-8A60-8337-FD85-C7F0ACD5C44D}"/>
              </a:ext>
            </a:extLst>
          </p:cNvPr>
          <p:cNvGrpSpPr/>
          <p:nvPr/>
        </p:nvGrpSpPr>
        <p:grpSpPr>
          <a:xfrm>
            <a:off x="3689285" y="3230133"/>
            <a:ext cx="4833501" cy="732991"/>
            <a:chOff x="3830685" y="3903965"/>
            <a:chExt cx="4833501" cy="73299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E93A363-5C3A-9ABA-AEE9-71B509A0F81C}"/>
                </a:ext>
              </a:extLst>
            </p:cNvPr>
            <p:cNvGrpSpPr/>
            <p:nvPr/>
          </p:nvGrpSpPr>
          <p:grpSpPr>
            <a:xfrm>
              <a:off x="3830686" y="3903965"/>
              <a:ext cx="4833499" cy="732991"/>
              <a:chOff x="2935416" y="3343545"/>
              <a:chExt cx="6868885" cy="839531"/>
            </a:xfrm>
            <a:solidFill>
              <a:srgbClr val="002060"/>
            </a:solidFill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982CF4-31D2-FDB8-E97D-423878CB1599}"/>
                  </a:ext>
                </a:extLst>
              </p:cNvPr>
              <p:cNvSpPr txBox="1"/>
              <p:nvPr/>
            </p:nvSpPr>
            <p:spPr>
              <a:xfrm>
                <a:off x="2935416" y="3487660"/>
                <a:ext cx="6868885" cy="550579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AE1AD289-D518-AE67-ADAE-6AEBD9C9E525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AF0F4B1-03B3-F9B5-A2F7-05CA6D8DC124}"/>
                </a:ext>
              </a:extLst>
            </p:cNvPr>
            <p:cNvSpPr txBox="1"/>
            <p:nvPr/>
          </p:nvSpPr>
          <p:spPr>
            <a:xfrm>
              <a:off x="3830685" y="4139655"/>
              <a:ext cx="48335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Connector Fabric Manager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CD1A4F-776D-38AC-58AB-752646353401}"/>
              </a:ext>
            </a:extLst>
          </p:cNvPr>
          <p:cNvGrpSpPr/>
          <p:nvPr/>
        </p:nvGrpSpPr>
        <p:grpSpPr>
          <a:xfrm>
            <a:off x="6122141" y="4040331"/>
            <a:ext cx="2400644" cy="749826"/>
            <a:chOff x="2918045" y="3260793"/>
            <a:chExt cx="6868885" cy="815501"/>
          </a:xfrm>
          <a:solidFill>
            <a:srgbClr val="536DE6"/>
          </a:solidFill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85603DD9-4AE7-49BC-59B7-EE985C5C4242}"/>
                </a:ext>
              </a:extLst>
            </p:cNvPr>
            <p:cNvSpPr/>
            <p:nvPr/>
          </p:nvSpPr>
          <p:spPr>
            <a:xfrm>
              <a:off x="2918045" y="3260793"/>
              <a:ext cx="6868885" cy="815501"/>
            </a:xfrm>
            <a:prstGeom prst="roundRect">
              <a:avLst>
                <a:gd name="adj" fmla="val 10092"/>
              </a:avLst>
            </a:prstGeom>
            <a:solidFill>
              <a:srgbClr val="536D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C2AA54-19B6-9F63-8EFE-106CD4E33DBD}"/>
                </a:ext>
              </a:extLst>
            </p:cNvPr>
            <p:cNvSpPr txBox="1"/>
            <p:nvPr/>
          </p:nvSpPr>
          <p:spPr>
            <a:xfrm>
              <a:off x="2918045" y="3514316"/>
              <a:ext cx="6868885" cy="30126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Data Planes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EE33ECA-ED38-DBC3-C37B-4CBEC23E2DA3}"/>
              </a:ext>
            </a:extLst>
          </p:cNvPr>
          <p:cNvGrpSpPr/>
          <p:nvPr/>
        </p:nvGrpSpPr>
        <p:grpSpPr>
          <a:xfrm>
            <a:off x="3689285" y="2394311"/>
            <a:ext cx="4833501" cy="732991"/>
            <a:chOff x="3705390" y="1811613"/>
            <a:chExt cx="4833501" cy="73299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07361A6-36CD-6041-5499-699E270C5C7B}"/>
                </a:ext>
              </a:extLst>
            </p:cNvPr>
            <p:cNvGrpSpPr/>
            <p:nvPr/>
          </p:nvGrpSpPr>
          <p:grpSpPr>
            <a:xfrm>
              <a:off x="3705391" y="1811613"/>
              <a:ext cx="4833499" cy="732991"/>
              <a:chOff x="2935416" y="3343545"/>
              <a:chExt cx="6868885" cy="839531"/>
            </a:xfrm>
            <a:solidFill>
              <a:schemeClr val="bg1">
                <a:lumMod val="95000"/>
              </a:schemeClr>
            </a:solidFill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0C0D60E-8174-C5C6-7D45-7D0D135362AE}"/>
                  </a:ext>
                </a:extLst>
              </p:cNvPr>
              <p:cNvSpPr txBox="1"/>
              <p:nvPr/>
            </p:nvSpPr>
            <p:spPr>
              <a:xfrm>
                <a:off x="2935416" y="3487660"/>
                <a:ext cx="6868885" cy="550579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32382A39-E940-910A-C974-242B2056A6F7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06E0EC-4D96-31F2-84B4-92775E763F08}"/>
                </a:ext>
              </a:extLst>
            </p:cNvPr>
            <p:cNvSpPr txBox="1"/>
            <p:nvPr/>
          </p:nvSpPr>
          <p:spPr>
            <a:xfrm>
              <a:off x="3705390" y="2047303"/>
              <a:ext cx="48335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Onboarding Platforms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2046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D9596-6538-FBFB-8FB6-1EE8A1357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Dataspace Technology Foundation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010BC5-53A8-29DC-203D-9D5653EDAE64}"/>
              </a:ext>
            </a:extLst>
          </p:cNvPr>
          <p:cNvGrpSpPr/>
          <p:nvPr/>
        </p:nvGrpSpPr>
        <p:grpSpPr>
          <a:xfrm>
            <a:off x="3689285" y="4044142"/>
            <a:ext cx="2406715" cy="732992"/>
            <a:chOff x="2935414" y="3343545"/>
            <a:chExt cx="6868887" cy="839531"/>
          </a:xfrm>
          <a:solidFill>
            <a:srgbClr val="006EF9"/>
          </a:solidFill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8CEC277-F598-1481-1867-3265C0E23169}"/>
                </a:ext>
              </a:extLst>
            </p:cNvPr>
            <p:cNvSpPr/>
            <p:nvPr/>
          </p:nvSpPr>
          <p:spPr>
            <a:xfrm>
              <a:off x="2935416" y="3343545"/>
              <a:ext cx="6868885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E825C9-E024-C93E-DDCF-0392E8416FE2}"/>
                </a:ext>
              </a:extLst>
            </p:cNvPr>
            <p:cNvSpPr txBox="1"/>
            <p:nvPr/>
          </p:nvSpPr>
          <p:spPr>
            <a:xfrm>
              <a:off x="2935414" y="3604892"/>
              <a:ext cx="6868883" cy="28162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EDC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C393A30-8A60-8337-FD85-C7F0ACD5C44D}"/>
              </a:ext>
            </a:extLst>
          </p:cNvPr>
          <p:cNvGrpSpPr/>
          <p:nvPr/>
        </p:nvGrpSpPr>
        <p:grpSpPr>
          <a:xfrm>
            <a:off x="3689285" y="3230133"/>
            <a:ext cx="4833501" cy="732991"/>
            <a:chOff x="3830685" y="3903965"/>
            <a:chExt cx="4833501" cy="73299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E93A363-5C3A-9ABA-AEE9-71B509A0F81C}"/>
                </a:ext>
              </a:extLst>
            </p:cNvPr>
            <p:cNvGrpSpPr/>
            <p:nvPr/>
          </p:nvGrpSpPr>
          <p:grpSpPr>
            <a:xfrm>
              <a:off x="3830686" y="3903965"/>
              <a:ext cx="4833499" cy="732991"/>
              <a:chOff x="2935416" y="3343545"/>
              <a:chExt cx="6868885" cy="839531"/>
            </a:xfrm>
            <a:solidFill>
              <a:srgbClr val="002060"/>
            </a:solidFill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982CF4-31D2-FDB8-E97D-423878CB1599}"/>
                  </a:ext>
                </a:extLst>
              </p:cNvPr>
              <p:cNvSpPr txBox="1"/>
              <p:nvPr/>
            </p:nvSpPr>
            <p:spPr>
              <a:xfrm>
                <a:off x="2935416" y="3487660"/>
                <a:ext cx="6868885" cy="550579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AE1AD289-D518-AE67-ADAE-6AEBD9C9E525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AF0F4B1-03B3-F9B5-A2F7-05CA6D8DC124}"/>
                </a:ext>
              </a:extLst>
            </p:cNvPr>
            <p:cNvSpPr txBox="1"/>
            <p:nvPr/>
          </p:nvSpPr>
          <p:spPr>
            <a:xfrm>
              <a:off x="3830685" y="4139655"/>
              <a:ext cx="48335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Connector Fabric Manager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CD1A4F-776D-38AC-58AB-752646353401}"/>
              </a:ext>
            </a:extLst>
          </p:cNvPr>
          <p:cNvGrpSpPr/>
          <p:nvPr/>
        </p:nvGrpSpPr>
        <p:grpSpPr>
          <a:xfrm>
            <a:off x="6122141" y="4040331"/>
            <a:ext cx="2400644" cy="749826"/>
            <a:chOff x="2918045" y="3260793"/>
            <a:chExt cx="6868885" cy="815501"/>
          </a:xfrm>
          <a:solidFill>
            <a:schemeClr val="bg1">
              <a:lumMod val="95000"/>
            </a:schemeClr>
          </a:solidFill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85603DD9-4AE7-49BC-59B7-EE985C5C4242}"/>
                </a:ext>
              </a:extLst>
            </p:cNvPr>
            <p:cNvSpPr/>
            <p:nvPr/>
          </p:nvSpPr>
          <p:spPr>
            <a:xfrm>
              <a:off x="2918045" y="3260793"/>
              <a:ext cx="6868885" cy="815501"/>
            </a:xfrm>
            <a:prstGeom prst="roundRect">
              <a:avLst>
                <a:gd name="adj" fmla="val 1009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C2AA54-19B6-9F63-8EFE-106CD4E33DBD}"/>
                </a:ext>
              </a:extLst>
            </p:cNvPr>
            <p:cNvSpPr txBox="1"/>
            <p:nvPr/>
          </p:nvSpPr>
          <p:spPr>
            <a:xfrm>
              <a:off x="2918045" y="3514316"/>
              <a:ext cx="6868885" cy="301261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Data Planes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EE33ECA-ED38-DBC3-C37B-4CBEC23E2DA3}"/>
              </a:ext>
            </a:extLst>
          </p:cNvPr>
          <p:cNvGrpSpPr/>
          <p:nvPr/>
        </p:nvGrpSpPr>
        <p:grpSpPr>
          <a:xfrm>
            <a:off x="3689285" y="2394311"/>
            <a:ext cx="4833501" cy="732991"/>
            <a:chOff x="3705390" y="1811613"/>
            <a:chExt cx="4833501" cy="73299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07361A6-36CD-6041-5499-699E270C5C7B}"/>
                </a:ext>
              </a:extLst>
            </p:cNvPr>
            <p:cNvGrpSpPr/>
            <p:nvPr/>
          </p:nvGrpSpPr>
          <p:grpSpPr>
            <a:xfrm>
              <a:off x="3705391" y="1811613"/>
              <a:ext cx="4833499" cy="732991"/>
              <a:chOff x="2935416" y="3343545"/>
              <a:chExt cx="6868885" cy="839531"/>
            </a:xfrm>
            <a:solidFill>
              <a:schemeClr val="bg1">
                <a:lumMod val="95000"/>
              </a:schemeClr>
            </a:solidFill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0C0D60E-8174-C5C6-7D45-7D0D135362AE}"/>
                  </a:ext>
                </a:extLst>
              </p:cNvPr>
              <p:cNvSpPr txBox="1"/>
              <p:nvPr/>
            </p:nvSpPr>
            <p:spPr>
              <a:xfrm>
                <a:off x="2935416" y="3487660"/>
                <a:ext cx="6868885" cy="550579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32382A39-E940-910A-C974-242B2056A6F7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06E0EC-4D96-31F2-84B4-92775E763F08}"/>
                </a:ext>
              </a:extLst>
            </p:cNvPr>
            <p:cNvSpPr txBox="1"/>
            <p:nvPr/>
          </p:nvSpPr>
          <p:spPr>
            <a:xfrm>
              <a:off x="3705390" y="2047303"/>
              <a:ext cx="48335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Onboarding Platforms</a:t>
              </a:r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BBE9975F-5BBB-A984-714C-117809BD3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7687" y="4175188"/>
            <a:ext cx="488852" cy="48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44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61E12-3101-7562-DF47-5C7941F0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The EDC Platform is Adding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B7080-6325-E717-B9E2-0DC8EE638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/>
              <a:t>Cut costs through </a:t>
            </a:r>
            <a:r>
              <a:rPr lang="en-US" sz="2200" b="1" i="1" dirty="0"/>
              <a:t>virtualization</a:t>
            </a:r>
            <a:endParaRPr lang="en-US" sz="2200" b="1" dirty="0"/>
          </a:p>
          <a:p>
            <a:pPr lvl="1"/>
            <a:r>
              <a:rPr lang="en-US" sz="2200" dirty="0"/>
              <a:t>Support multiple dataspaces and participants in the same runtime</a:t>
            </a:r>
          </a:p>
          <a:p>
            <a:r>
              <a:rPr lang="en-US" sz="2200" dirty="0"/>
              <a:t>One code base, one architecture, deploy your way</a:t>
            </a:r>
          </a:p>
          <a:p>
            <a:pPr lvl="1"/>
            <a:r>
              <a:rPr lang="en-US" sz="2200" b="1" dirty="0"/>
              <a:t>We are not re-architecting EDC</a:t>
            </a:r>
          </a:p>
          <a:p>
            <a:pPr lvl="1"/>
            <a:r>
              <a:rPr lang="en-US" sz="2200" dirty="0"/>
              <a:t>Virtualization features are opt-in</a:t>
            </a:r>
          </a:p>
          <a:p>
            <a:r>
              <a:rPr lang="en-US" sz="2200" dirty="0"/>
              <a:t>Not just for service providers </a:t>
            </a:r>
          </a:p>
          <a:p>
            <a:pPr lvl="1"/>
            <a:r>
              <a:rPr lang="en-US" sz="2200" dirty="0"/>
              <a:t>Organizations that participate in more than one dataspace</a:t>
            </a:r>
          </a:p>
          <a:p>
            <a:pPr lvl="1"/>
            <a:r>
              <a:rPr lang="en-US" sz="2200" dirty="0"/>
              <a:t>Multi-site deployments</a:t>
            </a:r>
          </a:p>
          <a:p>
            <a:endParaRPr lang="en-US" sz="2200" dirty="0"/>
          </a:p>
        </p:txBody>
      </p:sp>
      <p:pic>
        <p:nvPicPr>
          <p:cNvPr id="15" name="Picture 4" descr="Electric Vehicle Platforms">
            <a:extLst>
              <a:ext uri="{FF2B5EF4-FFF2-40B4-BE49-F238E27FC236}">
                <a16:creationId xmlns:a16="http://schemas.microsoft.com/office/drawing/2014/main" id="{D1972482-D1CF-066D-1F51-9B392BD85C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>
            <a:fillRect/>
          </a:stretch>
        </p:blipFill>
        <p:spPr bwMode="auto"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99077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B24687-7974-801F-898C-593167CA7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Virtualization?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5E22F-F363-FF99-713C-AB2C26ACD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 optimizations miss the forest for the trees</a:t>
            </a:r>
          </a:p>
          <a:p>
            <a:pPr lvl="1"/>
            <a:r>
              <a:rPr lang="en-US" dirty="0"/>
              <a:t>Problem is resource consumption, not performance</a:t>
            </a:r>
          </a:p>
          <a:p>
            <a:r>
              <a:rPr lang="en-US" dirty="0"/>
              <a:t>Runtime-per-tenant model </a:t>
            </a:r>
          </a:p>
          <a:p>
            <a:pPr lvl="1"/>
            <a:r>
              <a:rPr lang="en-US" dirty="0"/>
              <a:t>Ephemeral runtimes launched on demand </a:t>
            </a:r>
          </a:p>
          <a:p>
            <a:pPr lvl="1"/>
            <a:r>
              <a:rPr lang="en-US" dirty="0"/>
              <a:t>Still too costly for SMEs</a:t>
            </a:r>
          </a:p>
          <a:p>
            <a:pPr lvl="1"/>
            <a:r>
              <a:rPr lang="en-US" dirty="0"/>
              <a:t>Exponential operational complexity</a:t>
            </a:r>
          </a:p>
          <a:p>
            <a:pPr lvl="2"/>
            <a:r>
              <a:rPr lang="en-US" dirty="0"/>
              <a:t>K8S namespaces insufficient for isolation</a:t>
            </a:r>
          </a:p>
          <a:p>
            <a:pPr lvl="2"/>
            <a:r>
              <a:rPr lang="en-US" dirty="0"/>
              <a:t>Runtime passivation requires complex scheduling</a:t>
            </a:r>
          </a:p>
          <a:p>
            <a:pPr lvl="2"/>
            <a:r>
              <a:rPr lang="en-US" dirty="0"/>
              <a:t>Failover, resiliency, backups, and migrations are difficult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421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EE122F-567D-DB0F-4753-19660D68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3800" dirty="0"/>
              <a:t>Virtualization Design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49DF0-8CD5-1FF7-2866-3F981FF58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79418"/>
            <a:ext cx="5931144" cy="4597545"/>
          </a:xfrm>
        </p:spPr>
        <p:txBody>
          <a:bodyPr>
            <a:normAutofit/>
          </a:bodyPr>
          <a:lstStyle/>
          <a:p>
            <a:r>
              <a:rPr lang="en-US" sz="2400" dirty="0"/>
              <a:t>Configuration-based isolation</a:t>
            </a:r>
          </a:p>
          <a:p>
            <a:pPr lvl="1"/>
            <a:r>
              <a:rPr lang="en-US" sz="2000" dirty="0"/>
              <a:t>Lightweight isolation contexts created on the fly from persistent configuration </a:t>
            </a:r>
          </a:p>
          <a:p>
            <a:r>
              <a:rPr lang="en-US" sz="2400" dirty="0"/>
              <a:t>Virtualization Context</a:t>
            </a:r>
            <a:endParaRPr lang="en-US" sz="2400" i="1" dirty="0"/>
          </a:p>
          <a:p>
            <a:pPr lvl="1"/>
            <a:r>
              <a:rPr lang="en-US" sz="2000" dirty="0"/>
              <a:t>Dataspace context with dynamically loaded policy expressions based on CEL</a:t>
            </a:r>
          </a:p>
          <a:p>
            <a:pPr lvl="1"/>
            <a:r>
              <a:rPr lang="en-US" sz="2000" dirty="0"/>
              <a:t>Participant context </a:t>
            </a:r>
          </a:p>
          <a:p>
            <a:r>
              <a:rPr lang="en-US" sz="2400" dirty="0"/>
              <a:t>Message-based state machines</a:t>
            </a:r>
          </a:p>
          <a:p>
            <a:pPr lvl="1"/>
            <a:r>
              <a:rPr lang="en-US" sz="2000" dirty="0"/>
              <a:t>Efficient compute utilization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C9F4D4B-8795-730B-1845-AB15BAFEE236}"/>
              </a:ext>
            </a:extLst>
          </p:cNvPr>
          <p:cNvGrpSpPr/>
          <p:nvPr/>
        </p:nvGrpSpPr>
        <p:grpSpPr>
          <a:xfrm>
            <a:off x="8703586" y="1708169"/>
            <a:ext cx="833943" cy="833943"/>
            <a:chOff x="6137723" y="4998297"/>
            <a:chExt cx="1658462" cy="165846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B1DFEE5-F76F-9A1E-3FF7-F6CED307F113}"/>
                </a:ext>
              </a:extLst>
            </p:cNvPr>
            <p:cNvSpPr/>
            <p:nvPr/>
          </p:nvSpPr>
          <p:spPr>
            <a:xfrm>
              <a:off x="6137723" y="4998297"/>
              <a:ext cx="1658462" cy="1658462"/>
            </a:xfrm>
            <a:prstGeom prst="ellipse">
              <a:avLst/>
            </a:prstGeom>
            <a:solidFill>
              <a:srgbClr val="006EF9">
                <a:alpha val="3259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7AA38A5-50C2-668A-78F4-67EFC07AC6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5329" y="5796568"/>
              <a:ext cx="869531" cy="467910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0A52ABA-CA35-06D5-E71D-84C72B3804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7757" y="5390310"/>
              <a:ext cx="216041" cy="640213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E45327B-2057-CB79-2B9C-BD10E6C728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71013" y="5460496"/>
              <a:ext cx="236744" cy="490696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E057B92-7706-D963-1831-2A3211A1A1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73061" y="5364569"/>
              <a:ext cx="457658" cy="108692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643F997-CB59-9295-60E7-6DE75FC80B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61350" y="5472242"/>
              <a:ext cx="267327" cy="371987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4F989DE-5204-A72D-DB15-33517ACF52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72935" y="5464146"/>
              <a:ext cx="221925" cy="349302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B2DF5C-A2B1-EB22-D007-23775280B8EB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 flipH="1" flipV="1">
              <a:off x="6465979" y="5951192"/>
              <a:ext cx="176803" cy="310440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AC64C6B-4B81-C106-9D79-E412E29E1269}"/>
                </a:ext>
              </a:extLst>
            </p:cNvPr>
            <p:cNvGrpSpPr/>
            <p:nvPr/>
          </p:nvGrpSpPr>
          <p:grpSpPr>
            <a:xfrm>
              <a:off x="7022643" y="5209498"/>
              <a:ext cx="402311" cy="402311"/>
              <a:chOff x="7569200" y="4053840"/>
              <a:chExt cx="609600" cy="609600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36281F7-C35B-2326-AEAE-A82F36035A78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6" name="Graphic 35" descr="Building outline">
                <a:extLst>
                  <a:ext uri="{FF2B5EF4-FFF2-40B4-BE49-F238E27FC236}">
                    <a16:creationId xmlns:a16="http://schemas.microsoft.com/office/drawing/2014/main" id="{D214CEA1-FFDF-DE98-8F1C-CDDE3135CA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21F989F-BA08-2E21-A3B5-C277E0B6DF81}"/>
                </a:ext>
              </a:extLst>
            </p:cNvPr>
            <p:cNvGrpSpPr/>
            <p:nvPr/>
          </p:nvGrpSpPr>
          <p:grpSpPr>
            <a:xfrm>
              <a:off x="6606384" y="5310904"/>
              <a:ext cx="284025" cy="284025"/>
              <a:chOff x="7569200" y="4053840"/>
              <a:chExt cx="609600" cy="6096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CCEEE67-3FFE-424A-D30F-6A8F1884C434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4" name="Graphic 33" descr="Building outline">
                <a:extLst>
                  <a:ext uri="{FF2B5EF4-FFF2-40B4-BE49-F238E27FC236}">
                    <a16:creationId xmlns:a16="http://schemas.microsoft.com/office/drawing/2014/main" id="{3A43C578-878C-E68D-030D-B2D9EBFED2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B9C8FB3-0527-B394-3F90-E9EFA13C1A0B}"/>
                </a:ext>
              </a:extLst>
            </p:cNvPr>
            <p:cNvGrpSpPr/>
            <p:nvPr/>
          </p:nvGrpSpPr>
          <p:grpSpPr>
            <a:xfrm>
              <a:off x="6263088" y="5631987"/>
              <a:ext cx="402311" cy="402311"/>
              <a:chOff x="7569200" y="4053840"/>
              <a:chExt cx="609600" cy="609600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03AB67D-4C7F-1721-C60C-5C33E9898FCF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2" name="Graphic 31" descr="Building outline">
                <a:extLst>
                  <a:ext uri="{FF2B5EF4-FFF2-40B4-BE49-F238E27FC236}">
                    <a16:creationId xmlns:a16="http://schemas.microsoft.com/office/drawing/2014/main" id="{A384712F-7693-EE04-879D-B83A31E027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53A0FF4-E85A-6932-B6EE-E0833137915F}"/>
                </a:ext>
              </a:extLst>
            </p:cNvPr>
            <p:cNvGrpSpPr/>
            <p:nvPr/>
          </p:nvGrpSpPr>
          <p:grpSpPr>
            <a:xfrm>
              <a:off x="6784795" y="5726518"/>
              <a:ext cx="512169" cy="512169"/>
              <a:chOff x="7569200" y="4053840"/>
              <a:chExt cx="609600" cy="6096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962D08A-8D26-4AE4-DF63-57E8467F3C99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0" name="Graphic 29" descr="Building outline">
                <a:extLst>
                  <a:ext uri="{FF2B5EF4-FFF2-40B4-BE49-F238E27FC236}">
                    <a16:creationId xmlns:a16="http://schemas.microsoft.com/office/drawing/2014/main" id="{5E260A1F-FA77-0B0D-3E0E-2A6214F31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E7EF6E1-77B1-4191-8EF7-5FE313E78525}"/>
                </a:ext>
              </a:extLst>
            </p:cNvPr>
            <p:cNvGrpSpPr/>
            <p:nvPr/>
          </p:nvGrpSpPr>
          <p:grpSpPr>
            <a:xfrm>
              <a:off x="7336384" y="5655884"/>
              <a:ext cx="284025" cy="284025"/>
              <a:chOff x="7569200" y="4053840"/>
              <a:chExt cx="609600" cy="60960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F0F583A-B9B5-9A21-D338-7498DCCE9003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8" name="Graphic 27" descr="Building outline">
                <a:extLst>
                  <a:ext uri="{FF2B5EF4-FFF2-40B4-BE49-F238E27FC236}">
                    <a16:creationId xmlns:a16="http://schemas.microsoft.com/office/drawing/2014/main" id="{9CD21B0A-8DAA-1891-65F1-280DE0E587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6D74D10-3CDC-1942-3759-28277444D270}"/>
                </a:ext>
              </a:extLst>
            </p:cNvPr>
            <p:cNvGrpSpPr/>
            <p:nvPr/>
          </p:nvGrpSpPr>
          <p:grpSpPr>
            <a:xfrm>
              <a:off x="6500770" y="6098561"/>
              <a:ext cx="284025" cy="284025"/>
              <a:chOff x="7569200" y="4053840"/>
              <a:chExt cx="609600" cy="6096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8A5D896-4621-13D2-FEBE-CDA34C87D931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6" name="Graphic 25" descr="Building outline">
                <a:extLst>
                  <a:ext uri="{FF2B5EF4-FFF2-40B4-BE49-F238E27FC236}">
                    <a16:creationId xmlns:a16="http://schemas.microsoft.com/office/drawing/2014/main" id="{DCA9A386-9F8F-71F3-1D05-E31F42EB5E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1A56DF5-25A2-C0A3-2EDD-016C6114023A}"/>
              </a:ext>
            </a:extLst>
          </p:cNvPr>
          <p:cNvGrpSpPr/>
          <p:nvPr/>
        </p:nvGrpSpPr>
        <p:grpSpPr>
          <a:xfrm>
            <a:off x="9995708" y="1280020"/>
            <a:ext cx="833943" cy="833943"/>
            <a:chOff x="6137723" y="4998297"/>
            <a:chExt cx="1658462" cy="1658462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E47C61A-DE11-65A4-B033-3BBCCCD02F5C}"/>
                </a:ext>
              </a:extLst>
            </p:cNvPr>
            <p:cNvSpPr/>
            <p:nvPr/>
          </p:nvSpPr>
          <p:spPr>
            <a:xfrm>
              <a:off x="6137723" y="4998297"/>
              <a:ext cx="1658462" cy="1658462"/>
            </a:xfrm>
            <a:prstGeom prst="ellipse">
              <a:avLst/>
            </a:prstGeom>
            <a:solidFill>
              <a:srgbClr val="006EF9">
                <a:alpha val="3259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78694C1-93A9-A605-1F5A-F7C34F976C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5329" y="5796568"/>
              <a:ext cx="869531" cy="467910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C44A4ED-BE20-7228-53C9-2ABCA9E90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7757" y="5390310"/>
              <a:ext cx="216041" cy="640213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AE737EC-18B6-0B4A-70D9-74A04B3E18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71013" y="5460496"/>
              <a:ext cx="236744" cy="490696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0DF01EE-1FDD-B7F2-3C07-E118BEA3DA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73061" y="5364569"/>
              <a:ext cx="457658" cy="108692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7334B14-0700-77F5-947E-923165C3C2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61350" y="5472242"/>
              <a:ext cx="267327" cy="371987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ACA735-8431-5FF6-9CBC-6090F224A9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72935" y="5464146"/>
              <a:ext cx="221925" cy="349302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25B2B2F-2B1A-1908-904E-D80C6AECB83E}"/>
                </a:ext>
              </a:extLst>
            </p:cNvPr>
            <p:cNvCxnSpPr>
              <a:cxnSpLocks/>
              <a:endCxn id="59" idx="2"/>
            </p:cNvCxnSpPr>
            <p:nvPr/>
          </p:nvCxnSpPr>
          <p:spPr>
            <a:xfrm flipH="1" flipV="1">
              <a:off x="6465979" y="5951192"/>
              <a:ext cx="176803" cy="310440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B5E2956-D78F-AEA6-6E24-3A8A1AB02BA1}"/>
                </a:ext>
              </a:extLst>
            </p:cNvPr>
            <p:cNvGrpSpPr/>
            <p:nvPr/>
          </p:nvGrpSpPr>
          <p:grpSpPr>
            <a:xfrm>
              <a:off x="7022643" y="5209498"/>
              <a:ext cx="402311" cy="402311"/>
              <a:chOff x="7569200" y="4053840"/>
              <a:chExt cx="609600" cy="609600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19C1DF2E-7230-9ED3-BA00-A7BAD31F5F8B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3" name="Graphic 62" descr="Building outline">
                <a:extLst>
                  <a:ext uri="{FF2B5EF4-FFF2-40B4-BE49-F238E27FC236}">
                    <a16:creationId xmlns:a16="http://schemas.microsoft.com/office/drawing/2014/main" id="{B5CA2E59-CB55-A06F-8ECD-7CB920C29C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6B62962-F779-CF34-CD53-C9F5EC4BCA2A}"/>
                </a:ext>
              </a:extLst>
            </p:cNvPr>
            <p:cNvGrpSpPr/>
            <p:nvPr/>
          </p:nvGrpSpPr>
          <p:grpSpPr>
            <a:xfrm>
              <a:off x="6606384" y="5310904"/>
              <a:ext cx="284025" cy="284025"/>
              <a:chOff x="7569200" y="4053840"/>
              <a:chExt cx="609600" cy="609600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B242B68F-1D57-C31D-841A-403A25E4FAC5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1" name="Graphic 60" descr="Building outline">
                <a:extLst>
                  <a:ext uri="{FF2B5EF4-FFF2-40B4-BE49-F238E27FC236}">
                    <a16:creationId xmlns:a16="http://schemas.microsoft.com/office/drawing/2014/main" id="{069E7690-EB4C-A3B1-C5DB-3AA7C72919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3E03FB7-8AC2-8AE0-5D4D-A168E38F9F12}"/>
                </a:ext>
              </a:extLst>
            </p:cNvPr>
            <p:cNvGrpSpPr/>
            <p:nvPr/>
          </p:nvGrpSpPr>
          <p:grpSpPr>
            <a:xfrm>
              <a:off x="6263088" y="5631987"/>
              <a:ext cx="402311" cy="402311"/>
              <a:chOff x="7569200" y="4053840"/>
              <a:chExt cx="609600" cy="609600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DDFA49A4-4E74-7774-026C-4D8505D48679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9" name="Graphic 58" descr="Building outline">
                <a:extLst>
                  <a:ext uri="{FF2B5EF4-FFF2-40B4-BE49-F238E27FC236}">
                    <a16:creationId xmlns:a16="http://schemas.microsoft.com/office/drawing/2014/main" id="{B2EA42E1-5636-8784-BACC-64158483C3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FE466A1-7463-F4F4-2CC7-6244BCBD7F90}"/>
                </a:ext>
              </a:extLst>
            </p:cNvPr>
            <p:cNvGrpSpPr/>
            <p:nvPr/>
          </p:nvGrpSpPr>
          <p:grpSpPr>
            <a:xfrm>
              <a:off x="6784795" y="5726518"/>
              <a:ext cx="512169" cy="512169"/>
              <a:chOff x="7569200" y="4053840"/>
              <a:chExt cx="609600" cy="6096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43B87181-EDD2-7FC7-941F-EC832D13D81D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57" name="Graphic 56" descr="Building outline">
                <a:extLst>
                  <a:ext uri="{FF2B5EF4-FFF2-40B4-BE49-F238E27FC236}">
                    <a16:creationId xmlns:a16="http://schemas.microsoft.com/office/drawing/2014/main" id="{27FEA280-B3AC-48D1-D71D-F60B3905AC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D93402AD-DD9A-2875-4EF7-1AE8FEF86DA1}"/>
                </a:ext>
              </a:extLst>
            </p:cNvPr>
            <p:cNvGrpSpPr/>
            <p:nvPr/>
          </p:nvGrpSpPr>
          <p:grpSpPr>
            <a:xfrm>
              <a:off x="7336384" y="5655884"/>
              <a:ext cx="284025" cy="284025"/>
              <a:chOff x="7569200" y="4053840"/>
              <a:chExt cx="609600" cy="609600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F880B05-17B2-A741-F432-E796AC8BFED9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5" name="Graphic 54" descr="Building outline">
                <a:extLst>
                  <a:ext uri="{FF2B5EF4-FFF2-40B4-BE49-F238E27FC236}">
                    <a16:creationId xmlns:a16="http://schemas.microsoft.com/office/drawing/2014/main" id="{4EEEE6A8-A798-8DE9-0F44-706B3760CE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5BE2338-90EB-DCE0-5CAD-3A739903CEE1}"/>
                </a:ext>
              </a:extLst>
            </p:cNvPr>
            <p:cNvGrpSpPr/>
            <p:nvPr/>
          </p:nvGrpSpPr>
          <p:grpSpPr>
            <a:xfrm>
              <a:off x="6500770" y="6098561"/>
              <a:ext cx="284025" cy="284025"/>
              <a:chOff x="7569200" y="4053840"/>
              <a:chExt cx="609600" cy="60960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C0676199-54EC-976B-EE27-E48132828940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3" name="Graphic 52" descr="Building outline">
                <a:extLst>
                  <a:ext uri="{FF2B5EF4-FFF2-40B4-BE49-F238E27FC236}">
                    <a16:creationId xmlns:a16="http://schemas.microsoft.com/office/drawing/2014/main" id="{8CD9265D-9B7B-057F-342C-EA756027F0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</p:grp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28C106A4-3A00-1DE8-762B-C2D1023C3F66}"/>
              </a:ext>
            </a:extLst>
          </p:cNvPr>
          <p:cNvSpPr/>
          <p:nvPr/>
        </p:nvSpPr>
        <p:spPr>
          <a:xfrm>
            <a:off x="8393509" y="2648314"/>
            <a:ext cx="2819082" cy="2570256"/>
          </a:xfrm>
          <a:prstGeom prst="roundRect">
            <a:avLst>
              <a:gd name="adj" fmla="val 12018"/>
            </a:avLst>
          </a:prstGeom>
          <a:solidFill>
            <a:srgbClr val="006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682B5857-8AB5-D7C6-280C-6CBC2A3B24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5914" b="-21625"/>
          <a:stretch/>
        </p:blipFill>
        <p:spPr>
          <a:xfrm>
            <a:off x="9534547" y="3506908"/>
            <a:ext cx="537006" cy="572156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F6201A1-A833-6E29-41A1-79B7FEEE1F49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9120557" y="2542112"/>
            <a:ext cx="1" cy="402661"/>
          </a:xfrm>
          <a:prstGeom prst="straightConnector1">
            <a:avLst/>
          </a:prstGeom>
          <a:ln>
            <a:solidFill>
              <a:srgbClr val="B6D1F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98BACC1-7CA9-148F-6C04-E6F48ACCADAA}"/>
              </a:ext>
            </a:extLst>
          </p:cNvPr>
          <p:cNvCxnSpPr>
            <a:cxnSpLocks/>
            <a:stCxn id="38" idx="4"/>
          </p:cNvCxnSpPr>
          <p:nvPr/>
        </p:nvCxnSpPr>
        <p:spPr>
          <a:xfrm>
            <a:off x="10412680" y="2113963"/>
            <a:ext cx="0" cy="830810"/>
          </a:xfrm>
          <a:prstGeom prst="straightConnector1">
            <a:avLst/>
          </a:prstGeom>
          <a:ln>
            <a:solidFill>
              <a:srgbClr val="B6D1F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9" name="Graphic 78" descr="Checklist with solid fill">
            <a:extLst>
              <a:ext uri="{FF2B5EF4-FFF2-40B4-BE49-F238E27FC236}">
                <a16:creationId xmlns:a16="http://schemas.microsoft.com/office/drawing/2014/main" id="{68ED2F51-FCA4-34E8-6405-6C09A6504A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00305" y="2989153"/>
            <a:ext cx="457200" cy="457200"/>
          </a:xfrm>
          <a:prstGeom prst="rect">
            <a:avLst/>
          </a:prstGeom>
        </p:spPr>
      </p:pic>
      <p:pic>
        <p:nvPicPr>
          <p:cNvPr id="80" name="Graphic 79" descr="Checklist with solid fill">
            <a:extLst>
              <a:ext uri="{FF2B5EF4-FFF2-40B4-BE49-F238E27FC236}">
                <a16:creationId xmlns:a16="http://schemas.microsoft.com/office/drawing/2014/main" id="{49A7656D-721B-DB4F-90AE-0CA83EF7B3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98587" y="2981953"/>
            <a:ext cx="457200" cy="457200"/>
          </a:xfrm>
          <a:prstGeom prst="rect">
            <a:avLst/>
          </a:prstGeom>
        </p:spPr>
      </p:pic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B0EED46-F1E6-547F-AF47-1D53FEDBD1E3}"/>
              </a:ext>
            </a:extLst>
          </p:cNvPr>
          <p:cNvCxnSpPr>
            <a:cxnSpLocks/>
          </p:cNvCxnSpPr>
          <p:nvPr/>
        </p:nvCxnSpPr>
        <p:spPr>
          <a:xfrm>
            <a:off x="9120518" y="3445942"/>
            <a:ext cx="300405" cy="272461"/>
          </a:xfrm>
          <a:prstGeom prst="straightConnector1">
            <a:avLst/>
          </a:prstGeom>
          <a:ln>
            <a:solidFill>
              <a:srgbClr val="B6D1F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E44EBB7-EB57-757C-A06E-1D750E615FD0}"/>
              </a:ext>
            </a:extLst>
          </p:cNvPr>
          <p:cNvCxnSpPr>
            <a:cxnSpLocks/>
          </p:cNvCxnSpPr>
          <p:nvPr/>
        </p:nvCxnSpPr>
        <p:spPr>
          <a:xfrm flipH="1">
            <a:off x="10112275" y="3452559"/>
            <a:ext cx="300405" cy="272461"/>
          </a:xfrm>
          <a:prstGeom prst="straightConnector1">
            <a:avLst/>
          </a:prstGeom>
          <a:ln>
            <a:solidFill>
              <a:srgbClr val="B6D1F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278A6B88-2B6C-3554-5388-34C9D9931212}"/>
              </a:ext>
            </a:extLst>
          </p:cNvPr>
          <p:cNvSpPr txBox="1"/>
          <p:nvPr/>
        </p:nvSpPr>
        <p:spPr>
          <a:xfrm>
            <a:off x="10178263" y="3634421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FF9FE"/>
                </a:solidFill>
              </a:rPr>
              <a:t>Participant</a:t>
            </a:r>
          </a:p>
          <a:p>
            <a:r>
              <a:rPr lang="en-US" sz="800" dirty="0">
                <a:solidFill>
                  <a:srgbClr val="EFF9FE"/>
                </a:solidFill>
              </a:rPr>
              <a:t>Context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6782DE6-0308-E703-07E6-D69A923841F6}"/>
              </a:ext>
            </a:extLst>
          </p:cNvPr>
          <p:cNvSpPr txBox="1"/>
          <p:nvPr/>
        </p:nvSpPr>
        <p:spPr>
          <a:xfrm>
            <a:off x="9417611" y="3051302"/>
            <a:ext cx="668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Dataspace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Contexts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AF87C60-12D6-6982-980A-0B6254714D7A}"/>
              </a:ext>
            </a:extLst>
          </p:cNvPr>
          <p:cNvGrpSpPr/>
          <p:nvPr/>
        </p:nvGrpSpPr>
        <p:grpSpPr>
          <a:xfrm>
            <a:off x="9186272" y="4184876"/>
            <a:ext cx="240099" cy="553374"/>
            <a:chOff x="8838229" y="5898364"/>
            <a:chExt cx="240099" cy="553374"/>
          </a:xfrm>
        </p:grpSpPr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9AC2EA4A-A34B-DE45-AFCF-55719F294BF2}"/>
                </a:ext>
              </a:extLst>
            </p:cNvPr>
            <p:cNvSpPr/>
            <p:nvPr/>
          </p:nvSpPr>
          <p:spPr>
            <a:xfrm>
              <a:off x="8838229" y="5898364"/>
              <a:ext cx="234117" cy="553374"/>
            </a:xfrm>
            <a:prstGeom prst="roundRect">
              <a:avLst/>
            </a:prstGeom>
            <a:noFill/>
            <a:ln>
              <a:solidFill>
                <a:srgbClr val="B6D1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B760E2F-4152-C571-B1CB-5DCA4458A3DC}"/>
                </a:ext>
              </a:extLst>
            </p:cNvPr>
            <p:cNvCxnSpPr/>
            <p:nvPr/>
          </p:nvCxnSpPr>
          <p:spPr>
            <a:xfrm>
              <a:off x="8838229" y="6039650"/>
              <a:ext cx="234117" cy="0"/>
            </a:xfrm>
            <a:prstGeom prst="line">
              <a:avLst/>
            </a:prstGeom>
            <a:ln>
              <a:solidFill>
                <a:srgbClr val="B6D1F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7CC1211-05AF-E6AF-3CD6-01A1E3B6D1ED}"/>
                </a:ext>
              </a:extLst>
            </p:cNvPr>
            <p:cNvCxnSpPr/>
            <p:nvPr/>
          </p:nvCxnSpPr>
          <p:spPr>
            <a:xfrm>
              <a:off x="8844211" y="6175682"/>
              <a:ext cx="234117" cy="0"/>
            </a:xfrm>
            <a:prstGeom prst="line">
              <a:avLst/>
            </a:prstGeom>
            <a:ln>
              <a:solidFill>
                <a:srgbClr val="B6D1F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12C5D3C2-D250-7E74-2AE1-EC2F6AF5541C}"/>
                </a:ext>
              </a:extLst>
            </p:cNvPr>
            <p:cNvCxnSpPr/>
            <p:nvPr/>
          </p:nvCxnSpPr>
          <p:spPr>
            <a:xfrm>
              <a:off x="8838229" y="6311714"/>
              <a:ext cx="234117" cy="0"/>
            </a:xfrm>
            <a:prstGeom prst="line">
              <a:avLst/>
            </a:prstGeom>
            <a:ln>
              <a:solidFill>
                <a:srgbClr val="B6D1F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8F6BC81-C113-960D-E633-9F0C92624918}"/>
              </a:ext>
            </a:extLst>
          </p:cNvPr>
          <p:cNvGrpSpPr/>
          <p:nvPr/>
        </p:nvGrpSpPr>
        <p:grpSpPr>
          <a:xfrm>
            <a:off x="9650828" y="4182458"/>
            <a:ext cx="240099" cy="553374"/>
            <a:chOff x="8838229" y="5898364"/>
            <a:chExt cx="240099" cy="553374"/>
          </a:xfrm>
        </p:grpSpPr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3C879486-4FFA-0B48-F7C5-12A799C70585}"/>
                </a:ext>
              </a:extLst>
            </p:cNvPr>
            <p:cNvSpPr/>
            <p:nvPr/>
          </p:nvSpPr>
          <p:spPr>
            <a:xfrm>
              <a:off x="8838229" y="5898364"/>
              <a:ext cx="234117" cy="553374"/>
            </a:xfrm>
            <a:prstGeom prst="roundRect">
              <a:avLst/>
            </a:prstGeom>
            <a:noFill/>
            <a:ln>
              <a:solidFill>
                <a:srgbClr val="B6D1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89F2FF97-8E2B-A70B-A272-D498B6AF953F}"/>
                </a:ext>
              </a:extLst>
            </p:cNvPr>
            <p:cNvCxnSpPr/>
            <p:nvPr/>
          </p:nvCxnSpPr>
          <p:spPr>
            <a:xfrm>
              <a:off x="8838229" y="6039650"/>
              <a:ext cx="234117" cy="0"/>
            </a:xfrm>
            <a:prstGeom prst="line">
              <a:avLst/>
            </a:prstGeom>
            <a:ln>
              <a:solidFill>
                <a:srgbClr val="B6D1F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4C6DD111-4250-A04F-63C3-C97598B82297}"/>
                </a:ext>
              </a:extLst>
            </p:cNvPr>
            <p:cNvCxnSpPr/>
            <p:nvPr/>
          </p:nvCxnSpPr>
          <p:spPr>
            <a:xfrm>
              <a:off x="8844211" y="6175682"/>
              <a:ext cx="234117" cy="0"/>
            </a:xfrm>
            <a:prstGeom prst="line">
              <a:avLst/>
            </a:prstGeom>
            <a:ln>
              <a:solidFill>
                <a:srgbClr val="B6D1F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3EA6A89F-B058-3738-6412-F31B98266EA4}"/>
                </a:ext>
              </a:extLst>
            </p:cNvPr>
            <p:cNvCxnSpPr/>
            <p:nvPr/>
          </p:nvCxnSpPr>
          <p:spPr>
            <a:xfrm>
              <a:off x="8838229" y="6311714"/>
              <a:ext cx="234117" cy="0"/>
            </a:xfrm>
            <a:prstGeom prst="line">
              <a:avLst/>
            </a:prstGeom>
            <a:ln>
              <a:solidFill>
                <a:srgbClr val="B6D1F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9181506-47BA-9338-B8F1-29F7D602DFB2}"/>
              </a:ext>
            </a:extLst>
          </p:cNvPr>
          <p:cNvGrpSpPr/>
          <p:nvPr/>
        </p:nvGrpSpPr>
        <p:grpSpPr>
          <a:xfrm>
            <a:off x="10115384" y="4180040"/>
            <a:ext cx="240099" cy="553374"/>
            <a:chOff x="8838229" y="5898364"/>
            <a:chExt cx="240099" cy="553374"/>
          </a:xfrm>
        </p:grpSpPr>
        <p:sp>
          <p:nvSpPr>
            <p:cNvPr id="108" name="Rounded Rectangle 107">
              <a:extLst>
                <a:ext uri="{FF2B5EF4-FFF2-40B4-BE49-F238E27FC236}">
                  <a16:creationId xmlns:a16="http://schemas.microsoft.com/office/drawing/2014/main" id="{1D2BFD5A-0E70-BD2D-CDEF-6E64029CD3E3}"/>
                </a:ext>
              </a:extLst>
            </p:cNvPr>
            <p:cNvSpPr/>
            <p:nvPr/>
          </p:nvSpPr>
          <p:spPr>
            <a:xfrm>
              <a:off x="8838229" y="5898364"/>
              <a:ext cx="234117" cy="553374"/>
            </a:xfrm>
            <a:prstGeom prst="roundRect">
              <a:avLst/>
            </a:prstGeom>
            <a:noFill/>
            <a:ln>
              <a:solidFill>
                <a:srgbClr val="B6D1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303D252-247D-EB67-0C60-220A393ECC26}"/>
                </a:ext>
              </a:extLst>
            </p:cNvPr>
            <p:cNvCxnSpPr/>
            <p:nvPr/>
          </p:nvCxnSpPr>
          <p:spPr>
            <a:xfrm>
              <a:off x="8838229" y="6039650"/>
              <a:ext cx="234117" cy="0"/>
            </a:xfrm>
            <a:prstGeom prst="line">
              <a:avLst/>
            </a:prstGeom>
            <a:ln>
              <a:solidFill>
                <a:srgbClr val="B6D1F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C0A83C9-B080-2492-C54F-77D1D87DF46B}"/>
                </a:ext>
              </a:extLst>
            </p:cNvPr>
            <p:cNvCxnSpPr/>
            <p:nvPr/>
          </p:nvCxnSpPr>
          <p:spPr>
            <a:xfrm>
              <a:off x="8844211" y="6175682"/>
              <a:ext cx="234117" cy="0"/>
            </a:xfrm>
            <a:prstGeom prst="line">
              <a:avLst/>
            </a:prstGeom>
            <a:ln>
              <a:solidFill>
                <a:srgbClr val="B6D1F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64E4D32B-C971-5F63-DA34-72E7F4B13150}"/>
                </a:ext>
              </a:extLst>
            </p:cNvPr>
            <p:cNvCxnSpPr/>
            <p:nvPr/>
          </p:nvCxnSpPr>
          <p:spPr>
            <a:xfrm>
              <a:off x="8838229" y="6311714"/>
              <a:ext cx="234117" cy="0"/>
            </a:xfrm>
            <a:prstGeom prst="line">
              <a:avLst/>
            </a:prstGeom>
            <a:ln>
              <a:solidFill>
                <a:srgbClr val="B6D1F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EC7B33B3-6411-32FE-31BB-D5F7BBDE604D}"/>
              </a:ext>
            </a:extLst>
          </p:cNvPr>
          <p:cNvSpPr txBox="1"/>
          <p:nvPr/>
        </p:nvSpPr>
        <p:spPr>
          <a:xfrm>
            <a:off x="9256494" y="4914185"/>
            <a:ext cx="10422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FF9FE"/>
                </a:solidFill>
              </a:rPr>
              <a:t>Processing Queues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12C529F-9094-E66C-6079-DB298934B3A7}"/>
              </a:ext>
            </a:extLst>
          </p:cNvPr>
          <p:cNvSpPr txBox="1"/>
          <p:nvPr/>
        </p:nvSpPr>
        <p:spPr>
          <a:xfrm>
            <a:off x="8736084" y="1423253"/>
            <a:ext cx="7441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Dataspace 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C23A1D7-2324-245E-9EFA-DA9BED0FFD10}"/>
              </a:ext>
            </a:extLst>
          </p:cNvPr>
          <p:cNvSpPr txBox="1"/>
          <p:nvPr/>
        </p:nvSpPr>
        <p:spPr>
          <a:xfrm>
            <a:off x="10040622" y="1000411"/>
            <a:ext cx="7441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Dataspace 2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F154195-EB86-51A2-D53E-BA8B1E459D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9687" y="1974879"/>
            <a:ext cx="561367" cy="5613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3B71A30-9BAC-38DC-83B7-E50DD57CE6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1525" y="3223752"/>
            <a:ext cx="549529" cy="54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54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D9596-6538-FBFB-8FB6-1EE8A1357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Dataspace Technology Foundation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010BC5-53A8-29DC-203D-9D5653EDAE64}"/>
              </a:ext>
            </a:extLst>
          </p:cNvPr>
          <p:cNvGrpSpPr/>
          <p:nvPr/>
        </p:nvGrpSpPr>
        <p:grpSpPr>
          <a:xfrm>
            <a:off x="3689285" y="4044142"/>
            <a:ext cx="2406715" cy="732992"/>
            <a:chOff x="2935414" y="3343545"/>
            <a:chExt cx="6868887" cy="839531"/>
          </a:xfrm>
          <a:solidFill>
            <a:schemeClr val="bg1">
              <a:lumMod val="95000"/>
            </a:schemeClr>
          </a:solidFill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8CEC277-F598-1481-1867-3265C0E23169}"/>
                </a:ext>
              </a:extLst>
            </p:cNvPr>
            <p:cNvSpPr/>
            <p:nvPr/>
          </p:nvSpPr>
          <p:spPr>
            <a:xfrm>
              <a:off x="2935416" y="3343545"/>
              <a:ext cx="6868885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E825C9-E024-C93E-DDCF-0392E8416FE2}"/>
                </a:ext>
              </a:extLst>
            </p:cNvPr>
            <p:cNvSpPr txBox="1"/>
            <p:nvPr/>
          </p:nvSpPr>
          <p:spPr>
            <a:xfrm>
              <a:off x="2935414" y="3587073"/>
              <a:ext cx="6868884" cy="317260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EDC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C393A30-8A60-8337-FD85-C7F0ACD5C44D}"/>
              </a:ext>
            </a:extLst>
          </p:cNvPr>
          <p:cNvGrpSpPr/>
          <p:nvPr/>
        </p:nvGrpSpPr>
        <p:grpSpPr>
          <a:xfrm>
            <a:off x="3689285" y="3230133"/>
            <a:ext cx="4833501" cy="732991"/>
            <a:chOff x="3830685" y="3903965"/>
            <a:chExt cx="4833501" cy="73299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E93A363-5C3A-9ABA-AEE9-71B509A0F81C}"/>
                </a:ext>
              </a:extLst>
            </p:cNvPr>
            <p:cNvGrpSpPr/>
            <p:nvPr/>
          </p:nvGrpSpPr>
          <p:grpSpPr>
            <a:xfrm>
              <a:off x="3830686" y="3903965"/>
              <a:ext cx="4833499" cy="732991"/>
              <a:chOff x="2935416" y="3343545"/>
              <a:chExt cx="6868885" cy="839531"/>
            </a:xfrm>
            <a:solidFill>
              <a:srgbClr val="002060"/>
            </a:solidFill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982CF4-31D2-FDB8-E97D-423878CB1599}"/>
                  </a:ext>
                </a:extLst>
              </p:cNvPr>
              <p:cNvSpPr txBox="1"/>
              <p:nvPr/>
            </p:nvSpPr>
            <p:spPr>
              <a:xfrm>
                <a:off x="2935416" y="3604318"/>
                <a:ext cx="6868885" cy="317261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AE1AD289-D518-AE67-ADAE-6AEBD9C9E525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AF0F4B1-03B3-F9B5-A2F7-05CA6D8DC124}"/>
                </a:ext>
              </a:extLst>
            </p:cNvPr>
            <p:cNvSpPr txBox="1"/>
            <p:nvPr/>
          </p:nvSpPr>
          <p:spPr>
            <a:xfrm>
              <a:off x="3830685" y="4139655"/>
              <a:ext cx="48335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Connector Fabric Manager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CD1A4F-776D-38AC-58AB-752646353401}"/>
              </a:ext>
            </a:extLst>
          </p:cNvPr>
          <p:cNvGrpSpPr/>
          <p:nvPr/>
        </p:nvGrpSpPr>
        <p:grpSpPr>
          <a:xfrm>
            <a:off x="6122141" y="4040331"/>
            <a:ext cx="2400644" cy="749826"/>
            <a:chOff x="2918045" y="3260793"/>
            <a:chExt cx="6868885" cy="815501"/>
          </a:xfrm>
          <a:solidFill>
            <a:srgbClr val="536DE6"/>
          </a:solidFill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85603DD9-4AE7-49BC-59B7-EE985C5C4242}"/>
                </a:ext>
              </a:extLst>
            </p:cNvPr>
            <p:cNvSpPr/>
            <p:nvPr/>
          </p:nvSpPr>
          <p:spPr>
            <a:xfrm>
              <a:off x="2918045" y="3260793"/>
              <a:ext cx="6868885" cy="815501"/>
            </a:xfrm>
            <a:prstGeom prst="roundRect">
              <a:avLst>
                <a:gd name="adj" fmla="val 10092"/>
              </a:avLst>
            </a:prstGeom>
            <a:solidFill>
              <a:srgbClr val="536D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C2AA54-19B6-9F63-8EFE-106CD4E33DBD}"/>
                </a:ext>
              </a:extLst>
            </p:cNvPr>
            <p:cNvSpPr txBox="1"/>
            <p:nvPr/>
          </p:nvSpPr>
          <p:spPr>
            <a:xfrm>
              <a:off x="2918045" y="3514316"/>
              <a:ext cx="6868885" cy="30126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Data Planes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EE33ECA-ED38-DBC3-C37B-4CBEC23E2DA3}"/>
              </a:ext>
            </a:extLst>
          </p:cNvPr>
          <p:cNvGrpSpPr/>
          <p:nvPr/>
        </p:nvGrpSpPr>
        <p:grpSpPr>
          <a:xfrm>
            <a:off x="3689285" y="2394311"/>
            <a:ext cx="4833501" cy="732991"/>
            <a:chOff x="3705390" y="1811613"/>
            <a:chExt cx="4833501" cy="73299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07361A6-36CD-6041-5499-699E270C5C7B}"/>
                </a:ext>
              </a:extLst>
            </p:cNvPr>
            <p:cNvGrpSpPr/>
            <p:nvPr/>
          </p:nvGrpSpPr>
          <p:grpSpPr>
            <a:xfrm>
              <a:off x="3705391" y="1811613"/>
              <a:ext cx="4833499" cy="732991"/>
              <a:chOff x="2935416" y="3343545"/>
              <a:chExt cx="6868885" cy="839531"/>
            </a:xfrm>
            <a:solidFill>
              <a:schemeClr val="bg1">
                <a:lumMod val="95000"/>
              </a:schemeClr>
            </a:solidFill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0C0D60E-8174-C5C6-7D45-7D0D135362AE}"/>
                  </a:ext>
                </a:extLst>
              </p:cNvPr>
              <p:cNvSpPr txBox="1"/>
              <p:nvPr/>
            </p:nvSpPr>
            <p:spPr>
              <a:xfrm>
                <a:off x="2935416" y="3487660"/>
                <a:ext cx="6868885" cy="550579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32382A39-E940-910A-C974-242B2056A6F7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06E0EC-4D96-31F2-84B4-92775E763F08}"/>
                </a:ext>
              </a:extLst>
            </p:cNvPr>
            <p:cNvSpPr txBox="1"/>
            <p:nvPr/>
          </p:nvSpPr>
          <p:spPr>
            <a:xfrm>
              <a:off x="3705390" y="2047303"/>
              <a:ext cx="48335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Onboarding Platforms</a:t>
              </a:r>
            </a:p>
          </p:txBody>
        </p:sp>
      </p:grpSp>
      <p:pic>
        <p:nvPicPr>
          <p:cNvPr id="21" name="Graphic 20">
            <a:extLst>
              <a:ext uri="{FF2B5EF4-FFF2-40B4-BE49-F238E27FC236}">
                <a16:creationId xmlns:a16="http://schemas.microsoft.com/office/drawing/2014/main" id="{669C85DB-D0DB-BBB7-C07E-1F2204F7A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9022" y="4176571"/>
            <a:ext cx="437388" cy="437388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F298F30-E0F6-1623-1742-C4D2CBC2C3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1790" y="4176571"/>
            <a:ext cx="437388" cy="43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941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E1702-7A18-513F-AF2B-B8CF74057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Ecosystem of Data Planes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98521-5E2D-5910-B612-99623D8D5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705" y="1636568"/>
            <a:ext cx="6381750" cy="459754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Data Plane Signaling</a:t>
            </a:r>
          </a:p>
          <a:p>
            <a:pPr lvl="1"/>
            <a:r>
              <a:rPr lang="en-US" dirty="0"/>
              <a:t>Eclipse Foundation specification </a:t>
            </a:r>
          </a:p>
          <a:p>
            <a:pPr lvl="1"/>
            <a:r>
              <a:rPr lang="en-US" dirty="0"/>
              <a:t>Control/data plane interop</a:t>
            </a:r>
          </a:p>
          <a:p>
            <a:r>
              <a:rPr lang="en-US" b="1" dirty="0"/>
              <a:t>Data Plane Core</a:t>
            </a:r>
          </a:p>
          <a:p>
            <a:pPr lvl="1"/>
            <a:r>
              <a:rPr lang="en-US" dirty="0"/>
              <a:t>Eclipse Foundation project </a:t>
            </a:r>
          </a:p>
          <a:p>
            <a:pPr lvl="1"/>
            <a:r>
              <a:rPr lang="en-US" dirty="0"/>
              <a:t>SDKs - Rust, Go, Java, .NET</a:t>
            </a:r>
          </a:p>
          <a:p>
            <a:pPr lvl="1"/>
            <a:r>
              <a:rPr lang="en-US" dirty="0"/>
              <a:t>Facet-RS Library</a:t>
            </a:r>
          </a:p>
          <a:p>
            <a:pPr lvl="2"/>
            <a:r>
              <a:rPr lang="en-US" dirty="0"/>
              <a:t>Rust-based reusable building blocks</a:t>
            </a:r>
          </a:p>
          <a:p>
            <a:pPr lvl="1"/>
            <a:r>
              <a:rPr lang="en-US" dirty="0"/>
              <a:t>Siglet</a:t>
            </a:r>
          </a:p>
          <a:p>
            <a:pPr lvl="2"/>
            <a:r>
              <a:rPr lang="en-US" dirty="0"/>
              <a:t>Small agents that bundle the Rust SDK and Facet-RS libraries</a:t>
            </a:r>
          </a:p>
          <a:p>
            <a:r>
              <a:rPr lang="en-US" dirty="0"/>
              <a:t>EDC will be control plane-only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2AD3A9-AC12-9AB5-DDCE-87FB2BDC19EC}"/>
              </a:ext>
            </a:extLst>
          </p:cNvPr>
          <p:cNvSpPr/>
          <p:nvPr/>
        </p:nvSpPr>
        <p:spPr>
          <a:xfrm>
            <a:off x="519545" y="2155050"/>
            <a:ext cx="4195763" cy="2547900"/>
          </a:xfrm>
          <a:prstGeom prst="roundRect">
            <a:avLst>
              <a:gd name="adj" fmla="val 952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Enable rapid integration of industry data formats and protocols through reusable components</a:t>
            </a:r>
          </a:p>
        </p:txBody>
      </p:sp>
    </p:spTree>
    <p:extLst>
      <p:ext uri="{BB962C8B-B14F-4D97-AF65-F5344CB8AC3E}">
        <p14:creationId xmlns:p14="http://schemas.microsoft.com/office/powerpoint/2010/main" val="4028561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2C2C2C8-426C-1DB6-2237-138C6C71ECDB}"/>
              </a:ext>
            </a:extLst>
          </p:cNvPr>
          <p:cNvSpPr/>
          <p:nvPr/>
        </p:nvSpPr>
        <p:spPr>
          <a:xfrm>
            <a:off x="2754767" y="4016649"/>
            <a:ext cx="823953" cy="966413"/>
          </a:xfrm>
          <a:prstGeom prst="roundRect">
            <a:avLst>
              <a:gd name="adj" fmla="val 32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B59B38-A4C6-9A72-F1E5-3EFA15ED6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Data Planes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E999741-945B-50D4-0E3D-38CAC3622322}"/>
              </a:ext>
            </a:extLst>
          </p:cNvPr>
          <p:cNvGrpSpPr/>
          <p:nvPr/>
        </p:nvGrpSpPr>
        <p:grpSpPr>
          <a:xfrm>
            <a:off x="2395263" y="5063049"/>
            <a:ext cx="1555737" cy="1558400"/>
            <a:chOff x="1742949" y="2034740"/>
            <a:chExt cx="1104153" cy="1106043"/>
          </a:xfrm>
        </p:grpSpPr>
        <p:pic>
          <p:nvPicPr>
            <p:cNvPr id="5" name="Graphic 4" descr="Connected with solid fill">
              <a:extLst>
                <a:ext uri="{FF2B5EF4-FFF2-40B4-BE49-F238E27FC236}">
                  <a16:creationId xmlns:a16="http://schemas.microsoft.com/office/drawing/2014/main" id="{C56EDCC2-17F7-7FD8-4388-2BC231B68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37473" y="2395252"/>
              <a:ext cx="715104" cy="71510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A6640F-8E5E-DA73-2D7B-FD2264F874BB}"/>
                </a:ext>
              </a:extLst>
            </p:cNvPr>
            <p:cNvSpPr txBox="1"/>
            <p:nvPr/>
          </p:nvSpPr>
          <p:spPr>
            <a:xfrm>
              <a:off x="1872492" y="2044826"/>
              <a:ext cx="845067" cy="283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SME</a:t>
              </a:r>
            </a:p>
            <a:p>
              <a:pPr algn="ctr"/>
              <a:r>
                <a:rPr lang="en-US" sz="1000" dirty="0"/>
                <a:t>Connector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14E3CBB-3D6D-CAD2-9398-DF2C99C6D1D4}"/>
                </a:ext>
              </a:extLst>
            </p:cNvPr>
            <p:cNvSpPr/>
            <p:nvPr/>
          </p:nvSpPr>
          <p:spPr>
            <a:xfrm>
              <a:off x="1742949" y="2034740"/>
              <a:ext cx="1104153" cy="1106043"/>
            </a:xfrm>
            <a:prstGeom prst="roundRect">
              <a:avLst>
                <a:gd name="adj" fmla="val 324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0E8BD994-1DBF-22AE-7DBB-639740CEFB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660" r="41072" b="1"/>
          <a:stretch/>
        </p:blipFill>
        <p:spPr>
          <a:xfrm>
            <a:off x="2793512" y="3304282"/>
            <a:ext cx="759242" cy="369333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10C0608-0CC4-0807-E231-F67D70A9BF7F}"/>
              </a:ext>
            </a:extLst>
          </p:cNvPr>
          <p:cNvSpPr/>
          <p:nvPr/>
        </p:nvSpPr>
        <p:spPr>
          <a:xfrm>
            <a:off x="2514932" y="3145594"/>
            <a:ext cx="1316403" cy="686709"/>
          </a:xfrm>
          <a:prstGeom prst="roundRect">
            <a:avLst>
              <a:gd name="adj" fmla="val 32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7D29177-2323-02D9-5691-CCF0231BE4B4}"/>
              </a:ext>
            </a:extLst>
          </p:cNvPr>
          <p:cNvSpPr/>
          <p:nvPr/>
        </p:nvSpPr>
        <p:spPr>
          <a:xfrm>
            <a:off x="2348059" y="1506964"/>
            <a:ext cx="1650151" cy="2432704"/>
          </a:xfrm>
          <a:prstGeom prst="roundRect">
            <a:avLst>
              <a:gd name="adj" fmla="val 32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5278DF-7D5D-D95F-6592-896379CFBB4D}"/>
              </a:ext>
            </a:extLst>
          </p:cNvPr>
          <p:cNvSpPr txBox="1"/>
          <p:nvPr/>
        </p:nvSpPr>
        <p:spPr>
          <a:xfrm>
            <a:off x="820696" y="2158575"/>
            <a:ext cx="14608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Token Client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Token Provider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Authentication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JWT Generator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Lock Manager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Object Storage auth proxy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5D608A2-FD4E-1727-771B-27292E88467F}"/>
              </a:ext>
            </a:extLst>
          </p:cNvPr>
          <p:cNvGrpSpPr/>
          <p:nvPr/>
        </p:nvGrpSpPr>
        <p:grpSpPr>
          <a:xfrm>
            <a:off x="2512945" y="1595870"/>
            <a:ext cx="1336854" cy="1464937"/>
            <a:chOff x="3047571" y="2439917"/>
            <a:chExt cx="1336854" cy="1464937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9651A8C2-4AE5-BE23-D9BB-B128918BA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68130" y="3401183"/>
              <a:ext cx="895737" cy="320633"/>
            </a:xfrm>
            <a:prstGeom prst="rect">
              <a:avLst/>
            </a:prstGeom>
          </p:spPr>
        </p:pic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BB461B50-3BC7-8AFA-3E0C-621F60C1273C}"/>
                </a:ext>
              </a:extLst>
            </p:cNvPr>
            <p:cNvSpPr/>
            <p:nvPr/>
          </p:nvSpPr>
          <p:spPr>
            <a:xfrm>
              <a:off x="3047571" y="3218145"/>
              <a:ext cx="1336854" cy="686709"/>
            </a:xfrm>
            <a:prstGeom prst="roundRect">
              <a:avLst>
                <a:gd name="adj" fmla="val 324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1108" name="Rounded Rectangle 1107">
              <a:extLst>
                <a:ext uri="{FF2B5EF4-FFF2-40B4-BE49-F238E27FC236}">
                  <a16:creationId xmlns:a16="http://schemas.microsoft.com/office/drawing/2014/main" id="{F1FA9EC3-154D-5E00-F29D-873234635432}"/>
                </a:ext>
              </a:extLst>
            </p:cNvPr>
            <p:cNvSpPr/>
            <p:nvPr/>
          </p:nvSpPr>
          <p:spPr>
            <a:xfrm>
              <a:off x="3047571" y="2439917"/>
              <a:ext cx="1336854" cy="686709"/>
            </a:xfrm>
            <a:prstGeom prst="roundRect">
              <a:avLst>
                <a:gd name="adj" fmla="val 324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6522CD91-35BD-D07A-2B68-C69FC7296069}"/>
              </a:ext>
            </a:extLst>
          </p:cNvPr>
          <p:cNvGrpSpPr/>
          <p:nvPr/>
        </p:nvGrpSpPr>
        <p:grpSpPr>
          <a:xfrm>
            <a:off x="3050409" y="4148633"/>
            <a:ext cx="206644" cy="720027"/>
            <a:chOff x="2938688" y="3926220"/>
            <a:chExt cx="206644" cy="720027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FCED8EB2-3B56-C528-FD81-B427710FE52E}"/>
                </a:ext>
              </a:extLst>
            </p:cNvPr>
            <p:cNvCxnSpPr>
              <a:cxnSpLocks/>
            </p:cNvCxnSpPr>
            <p:nvPr/>
          </p:nvCxnSpPr>
          <p:spPr>
            <a:xfrm>
              <a:off x="2938688" y="3926220"/>
              <a:ext cx="0" cy="718855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Straight Arrow Connector 1025">
              <a:extLst>
                <a:ext uri="{FF2B5EF4-FFF2-40B4-BE49-F238E27FC236}">
                  <a16:creationId xmlns:a16="http://schemas.microsoft.com/office/drawing/2014/main" id="{E56DDBF7-83E9-869B-8E4F-0A79574D10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5332" y="3926220"/>
              <a:ext cx="0" cy="720027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EFFA2AA-0EE8-E227-60C2-6EFEB2BD32C4}"/>
              </a:ext>
            </a:extLst>
          </p:cNvPr>
          <p:cNvSpPr txBox="1"/>
          <p:nvPr/>
        </p:nvSpPr>
        <p:spPr>
          <a:xfrm>
            <a:off x="3602107" y="4305903"/>
            <a:ext cx="792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Data Plane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Signaling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DEA49E1E-F119-80A1-17A0-86E7FF074A49}"/>
              </a:ext>
            </a:extLst>
          </p:cNvPr>
          <p:cNvSpPr txBox="1"/>
          <p:nvPr/>
        </p:nvSpPr>
        <p:spPr>
          <a:xfrm>
            <a:off x="6733130" y="8352690"/>
            <a:ext cx="10176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006EF9"/>
                </a:solidFill>
              </a:rPr>
              <a:t>3. Return JWT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F70FBC93-9B43-5C59-E804-2CF1D80C617C}"/>
              </a:ext>
            </a:extLst>
          </p:cNvPr>
          <p:cNvSpPr txBox="1"/>
          <p:nvPr/>
        </p:nvSpPr>
        <p:spPr>
          <a:xfrm>
            <a:off x="2715989" y="1727688"/>
            <a:ext cx="10134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Custom</a:t>
            </a:r>
          </a:p>
          <a:p>
            <a:pPr algn="ctr"/>
            <a:r>
              <a:rPr lang="en-US" sz="1100" dirty="0"/>
              <a:t>Wire Protocol</a:t>
            </a:r>
          </a:p>
        </p:txBody>
      </p:sp>
      <p:grpSp>
        <p:nvGrpSpPr>
          <p:cNvPr id="1118" name="Group 1117">
            <a:extLst>
              <a:ext uri="{FF2B5EF4-FFF2-40B4-BE49-F238E27FC236}">
                <a16:creationId xmlns:a16="http://schemas.microsoft.com/office/drawing/2014/main" id="{0A797C07-4C3C-CC7D-D642-5D4A80EFBA00}"/>
              </a:ext>
            </a:extLst>
          </p:cNvPr>
          <p:cNvGrpSpPr/>
          <p:nvPr/>
        </p:nvGrpSpPr>
        <p:grpSpPr>
          <a:xfrm>
            <a:off x="4415515" y="1506964"/>
            <a:ext cx="1650151" cy="2432704"/>
            <a:chOff x="5082979" y="1441152"/>
            <a:chExt cx="1650151" cy="2432704"/>
          </a:xfrm>
        </p:grpSpPr>
        <p:sp>
          <p:nvSpPr>
            <p:cNvPr id="1110" name="Rounded Rectangle 1109">
              <a:extLst>
                <a:ext uri="{FF2B5EF4-FFF2-40B4-BE49-F238E27FC236}">
                  <a16:creationId xmlns:a16="http://schemas.microsoft.com/office/drawing/2014/main" id="{2BF0FD61-630A-FE5F-5C2B-344945883689}"/>
                </a:ext>
              </a:extLst>
            </p:cNvPr>
            <p:cNvSpPr/>
            <p:nvPr/>
          </p:nvSpPr>
          <p:spPr>
            <a:xfrm>
              <a:off x="5245118" y="3085645"/>
              <a:ext cx="1316403" cy="686709"/>
            </a:xfrm>
            <a:prstGeom prst="roundRect">
              <a:avLst>
                <a:gd name="adj" fmla="val 324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1111" name="Rounded Rectangle 1110">
              <a:extLst>
                <a:ext uri="{FF2B5EF4-FFF2-40B4-BE49-F238E27FC236}">
                  <a16:creationId xmlns:a16="http://schemas.microsoft.com/office/drawing/2014/main" id="{FCC1653F-E057-1FB4-6A21-AA5EA10592B4}"/>
                </a:ext>
              </a:extLst>
            </p:cNvPr>
            <p:cNvSpPr/>
            <p:nvPr/>
          </p:nvSpPr>
          <p:spPr>
            <a:xfrm>
              <a:off x="5245118" y="1535923"/>
              <a:ext cx="1316403" cy="1464936"/>
            </a:xfrm>
            <a:prstGeom prst="roundRect">
              <a:avLst>
                <a:gd name="adj" fmla="val 324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  <p:grpSp>
          <p:nvGrpSpPr>
            <p:cNvPr id="1117" name="Group 1116">
              <a:extLst>
                <a:ext uri="{FF2B5EF4-FFF2-40B4-BE49-F238E27FC236}">
                  <a16:creationId xmlns:a16="http://schemas.microsoft.com/office/drawing/2014/main" id="{D8D612EC-9569-C1BF-3C7E-824B6F7850C8}"/>
                </a:ext>
              </a:extLst>
            </p:cNvPr>
            <p:cNvGrpSpPr/>
            <p:nvPr/>
          </p:nvGrpSpPr>
          <p:grpSpPr>
            <a:xfrm>
              <a:off x="5082979" y="1441152"/>
              <a:ext cx="1650151" cy="2432704"/>
              <a:chOff x="3982894" y="1371675"/>
              <a:chExt cx="1650151" cy="2432704"/>
            </a:xfrm>
          </p:grpSpPr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F826C609-EB0F-3087-FE23-B6275C4495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r="41201"/>
              <a:stretch/>
            </p:blipFill>
            <p:spPr>
              <a:xfrm>
                <a:off x="4389405" y="3134949"/>
                <a:ext cx="837129" cy="409241"/>
              </a:xfrm>
              <a:prstGeom prst="rect">
                <a:avLst/>
              </a:prstGeom>
            </p:spPr>
          </p:pic>
          <p:sp>
            <p:nvSpPr>
              <p:cNvPr id="1109" name="Rounded Rectangle 1108">
                <a:extLst>
                  <a:ext uri="{FF2B5EF4-FFF2-40B4-BE49-F238E27FC236}">
                    <a16:creationId xmlns:a16="http://schemas.microsoft.com/office/drawing/2014/main" id="{D3A6B16D-3C77-F316-21C2-B56B3D140AB1}"/>
                  </a:ext>
                </a:extLst>
              </p:cNvPr>
              <p:cNvSpPr/>
              <p:nvPr/>
            </p:nvSpPr>
            <p:spPr>
              <a:xfrm>
                <a:off x="3982894" y="1371675"/>
                <a:ext cx="1650151" cy="2432704"/>
              </a:xfrm>
              <a:prstGeom prst="roundRect">
                <a:avLst>
                  <a:gd name="adj" fmla="val 3245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13" name="TextBox 1112">
                <a:extLst>
                  <a:ext uri="{FF2B5EF4-FFF2-40B4-BE49-F238E27FC236}">
                    <a16:creationId xmlns:a16="http://schemas.microsoft.com/office/drawing/2014/main" id="{02FCF720-FC1F-476C-1D8F-0BA22C3B1793}"/>
                  </a:ext>
                </a:extLst>
              </p:cNvPr>
              <p:cNvSpPr txBox="1"/>
              <p:nvPr/>
            </p:nvSpPr>
            <p:spPr>
              <a:xfrm>
                <a:off x="4301260" y="1876762"/>
                <a:ext cx="1013418" cy="6001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/>
                  <a:t>Custom</a:t>
                </a:r>
              </a:p>
              <a:p>
                <a:pPr algn="ctr"/>
                <a:r>
                  <a:rPr lang="en-US" sz="1100" dirty="0"/>
                  <a:t>Wire Protocol</a:t>
                </a:r>
              </a:p>
              <a:p>
                <a:pPr algn="ctr"/>
                <a:r>
                  <a:rPr lang="en-US" sz="1100" dirty="0"/>
                  <a:t>&amp; Features</a:t>
                </a:r>
              </a:p>
            </p:txBody>
          </p:sp>
        </p:grpSp>
      </p:grpSp>
      <p:grpSp>
        <p:nvGrpSpPr>
          <p:cNvPr id="1134" name="Group 1133">
            <a:extLst>
              <a:ext uri="{FF2B5EF4-FFF2-40B4-BE49-F238E27FC236}">
                <a16:creationId xmlns:a16="http://schemas.microsoft.com/office/drawing/2014/main" id="{90733D57-8A22-465E-2A1E-30E32116A243}"/>
              </a:ext>
            </a:extLst>
          </p:cNvPr>
          <p:cNvGrpSpPr/>
          <p:nvPr/>
        </p:nvGrpSpPr>
        <p:grpSpPr>
          <a:xfrm>
            <a:off x="8530092" y="1495229"/>
            <a:ext cx="1650151" cy="2432704"/>
            <a:chOff x="6875149" y="1441152"/>
            <a:chExt cx="1650151" cy="2432704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0C808AD-9173-62CE-3A69-24F91F1454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t="3588" r="40877"/>
            <a:stretch/>
          </p:blipFill>
          <p:spPr>
            <a:xfrm>
              <a:off x="7333701" y="3215456"/>
              <a:ext cx="841739" cy="400110"/>
            </a:xfrm>
            <a:prstGeom prst="rect">
              <a:avLst/>
            </a:prstGeom>
          </p:spPr>
        </p:pic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228D530B-5655-F771-7B95-BE166F061888}"/>
                </a:ext>
              </a:extLst>
            </p:cNvPr>
            <p:cNvGrpSpPr/>
            <p:nvPr/>
          </p:nvGrpSpPr>
          <p:grpSpPr>
            <a:xfrm>
              <a:off x="6875149" y="1441152"/>
              <a:ext cx="1650151" cy="2432704"/>
              <a:chOff x="5082979" y="1441152"/>
              <a:chExt cx="1650151" cy="2432704"/>
            </a:xfrm>
          </p:grpSpPr>
          <p:sp>
            <p:nvSpPr>
              <p:cNvPr id="1120" name="Rounded Rectangle 1119">
                <a:extLst>
                  <a:ext uri="{FF2B5EF4-FFF2-40B4-BE49-F238E27FC236}">
                    <a16:creationId xmlns:a16="http://schemas.microsoft.com/office/drawing/2014/main" id="{BBFAD13D-A609-A06A-4304-F45C23E96A36}"/>
                  </a:ext>
                </a:extLst>
              </p:cNvPr>
              <p:cNvSpPr/>
              <p:nvPr/>
            </p:nvSpPr>
            <p:spPr>
              <a:xfrm>
                <a:off x="5245118" y="3085645"/>
                <a:ext cx="1316403" cy="686709"/>
              </a:xfrm>
              <a:prstGeom prst="roundRect">
                <a:avLst>
                  <a:gd name="adj" fmla="val 3245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21" name="Rounded Rectangle 1120">
                <a:extLst>
                  <a:ext uri="{FF2B5EF4-FFF2-40B4-BE49-F238E27FC236}">
                    <a16:creationId xmlns:a16="http://schemas.microsoft.com/office/drawing/2014/main" id="{A12EDB52-E5CF-82D3-7308-18CBBAA045C5}"/>
                  </a:ext>
                </a:extLst>
              </p:cNvPr>
              <p:cNvSpPr/>
              <p:nvPr/>
            </p:nvSpPr>
            <p:spPr>
              <a:xfrm>
                <a:off x="5245118" y="1535923"/>
                <a:ext cx="1316403" cy="1464936"/>
              </a:xfrm>
              <a:prstGeom prst="roundRect">
                <a:avLst>
                  <a:gd name="adj" fmla="val 3245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122" name="Group 1121">
                <a:extLst>
                  <a:ext uri="{FF2B5EF4-FFF2-40B4-BE49-F238E27FC236}">
                    <a16:creationId xmlns:a16="http://schemas.microsoft.com/office/drawing/2014/main" id="{498D0E49-2C65-7685-B01E-AF8A3001B982}"/>
                  </a:ext>
                </a:extLst>
              </p:cNvPr>
              <p:cNvGrpSpPr/>
              <p:nvPr/>
            </p:nvGrpSpPr>
            <p:grpSpPr>
              <a:xfrm>
                <a:off x="5082979" y="1441152"/>
                <a:ext cx="1650151" cy="2432704"/>
                <a:chOff x="3982894" y="1371675"/>
                <a:chExt cx="1650151" cy="2432704"/>
              </a:xfrm>
            </p:grpSpPr>
            <p:sp>
              <p:nvSpPr>
                <p:cNvPr id="1124" name="Rounded Rectangle 1123">
                  <a:extLst>
                    <a:ext uri="{FF2B5EF4-FFF2-40B4-BE49-F238E27FC236}">
                      <a16:creationId xmlns:a16="http://schemas.microsoft.com/office/drawing/2014/main" id="{487277C1-F2A6-17BB-705C-CED5A75C38C9}"/>
                    </a:ext>
                  </a:extLst>
                </p:cNvPr>
                <p:cNvSpPr/>
                <p:nvPr/>
              </p:nvSpPr>
              <p:spPr>
                <a:xfrm>
                  <a:off x="3982894" y="1371675"/>
                  <a:ext cx="1650151" cy="2432704"/>
                </a:xfrm>
                <a:prstGeom prst="roundRect">
                  <a:avLst>
                    <a:gd name="adj" fmla="val 3245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25" name="TextBox 1124">
                  <a:extLst>
                    <a:ext uri="{FF2B5EF4-FFF2-40B4-BE49-F238E27FC236}">
                      <a16:creationId xmlns:a16="http://schemas.microsoft.com/office/drawing/2014/main" id="{40A51192-5858-75BB-0B1D-6A05202D1098}"/>
                    </a:ext>
                  </a:extLst>
                </p:cNvPr>
                <p:cNvSpPr txBox="1"/>
                <p:nvPr/>
              </p:nvSpPr>
              <p:spPr>
                <a:xfrm>
                  <a:off x="4301260" y="1876762"/>
                  <a:ext cx="1013418" cy="600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/>
                    <a:t>Custom</a:t>
                  </a:r>
                </a:p>
                <a:p>
                  <a:pPr algn="ctr"/>
                  <a:r>
                    <a:rPr lang="en-US" sz="1100" dirty="0"/>
                    <a:t>Wire Protocol</a:t>
                  </a:r>
                </a:p>
                <a:p>
                  <a:pPr algn="ctr"/>
                  <a:r>
                    <a:rPr lang="en-US" sz="1100" dirty="0"/>
                    <a:t>&amp; Features</a:t>
                  </a:r>
                </a:p>
              </p:txBody>
            </p:sp>
          </p:grpSp>
        </p:grpSp>
      </p:grpSp>
      <p:grpSp>
        <p:nvGrpSpPr>
          <p:cNvPr id="1133" name="Group 1132">
            <a:extLst>
              <a:ext uri="{FF2B5EF4-FFF2-40B4-BE49-F238E27FC236}">
                <a16:creationId xmlns:a16="http://schemas.microsoft.com/office/drawing/2014/main" id="{4187314B-2C40-9426-F87F-B98411E38F21}"/>
              </a:ext>
            </a:extLst>
          </p:cNvPr>
          <p:cNvGrpSpPr/>
          <p:nvPr/>
        </p:nvGrpSpPr>
        <p:grpSpPr>
          <a:xfrm>
            <a:off x="6482971" y="1495229"/>
            <a:ext cx="1650151" cy="2432704"/>
            <a:chOff x="8667319" y="1441152"/>
            <a:chExt cx="1650151" cy="2432704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B4ADCF67-8B53-1B3A-F1FF-CF13A05A0A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r="42126"/>
            <a:stretch/>
          </p:blipFill>
          <p:spPr>
            <a:xfrm>
              <a:off x="9107452" y="3198710"/>
              <a:ext cx="823953" cy="415003"/>
            </a:xfrm>
            <a:prstGeom prst="rect">
              <a:avLst/>
            </a:prstGeom>
          </p:spPr>
        </p:pic>
        <p:grpSp>
          <p:nvGrpSpPr>
            <p:cNvPr id="1126" name="Group 1125">
              <a:extLst>
                <a:ext uri="{FF2B5EF4-FFF2-40B4-BE49-F238E27FC236}">
                  <a16:creationId xmlns:a16="http://schemas.microsoft.com/office/drawing/2014/main" id="{66E46458-1A22-A171-E46A-7143DF5184DD}"/>
                </a:ext>
              </a:extLst>
            </p:cNvPr>
            <p:cNvGrpSpPr/>
            <p:nvPr/>
          </p:nvGrpSpPr>
          <p:grpSpPr>
            <a:xfrm>
              <a:off x="8667319" y="1441152"/>
              <a:ext cx="1650151" cy="2432704"/>
              <a:chOff x="5082979" y="1441152"/>
              <a:chExt cx="1650151" cy="2432704"/>
            </a:xfrm>
          </p:grpSpPr>
          <p:sp>
            <p:nvSpPr>
              <p:cNvPr id="1127" name="Rounded Rectangle 1126">
                <a:extLst>
                  <a:ext uri="{FF2B5EF4-FFF2-40B4-BE49-F238E27FC236}">
                    <a16:creationId xmlns:a16="http://schemas.microsoft.com/office/drawing/2014/main" id="{755B531A-C540-06B5-4ED8-83F3171FB031}"/>
                  </a:ext>
                </a:extLst>
              </p:cNvPr>
              <p:cNvSpPr/>
              <p:nvPr/>
            </p:nvSpPr>
            <p:spPr>
              <a:xfrm>
                <a:off x="5245118" y="3085645"/>
                <a:ext cx="1316403" cy="686709"/>
              </a:xfrm>
              <a:prstGeom prst="roundRect">
                <a:avLst>
                  <a:gd name="adj" fmla="val 3245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28" name="Rounded Rectangle 1127">
                <a:extLst>
                  <a:ext uri="{FF2B5EF4-FFF2-40B4-BE49-F238E27FC236}">
                    <a16:creationId xmlns:a16="http://schemas.microsoft.com/office/drawing/2014/main" id="{C8917959-45CD-8ED3-C7BE-8D2FB3559AD2}"/>
                  </a:ext>
                </a:extLst>
              </p:cNvPr>
              <p:cNvSpPr/>
              <p:nvPr/>
            </p:nvSpPr>
            <p:spPr>
              <a:xfrm>
                <a:off x="5245118" y="1535923"/>
                <a:ext cx="1316403" cy="1464936"/>
              </a:xfrm>
              <a:prstGeom prst="roundRect">
                <a:avLst>
                  <a:gd name="adj" fmla="val 3245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129" name="Group 1128">
                <a:extLst>
                  <a:ext uri="{FF2B5EF4-FFF2-40B4-BE49-F238E27FC236}">
                    <a16:creationId xmlns:a16="http://schemas.microsoft.com/office/drawing/2014/main" id="{78A89FBC-889E-4BBC-37D0-65ABAAC530F6}"/>
                  </a:ext>
                </a:extLst>
              </p:cNvPr>
              <p:cNvGrpSpPr/>
              <p:nvPr/>
            </p:nvGrpSpPr>
            <p:grpSpPr>
              <a:xfrm>
                <a:off x="5082979" y="1441152"/>
                <a:ext cx="1650151" cy="2432704"/>
                <a:chOff x="3982894" y="1371675"/>
                <a:chExt cx="1650151" cy="2432704"/>
              </a:xfrm>
            </p:grpSpPr>
            <p:sp>
              <p:nvSpPr>
                <p:cNvPr id="1131" name="Rounded Rectangle 1130">
                  <a:extLst>
                    <a:ext uri="{FF2B5EF4-FFF2-40B4-BE49-F238E27FC236}">
                      <a16:creationId xmlns:a16="http://schemas.microsoft.com/office/drawing/2014/main" id="{4E0FB938-D9E8-B188-4437-BEBBB3492588}"/>
                    </a:ext>
                  </a:extLst>
                </p:cNvPr>
                <p:cNvSpPr/>
                <p:nvPr/>
              </p:nvSpPr>
              <p:spPr>
                <a:xfrm>
                  <a:off x="3982894" y="1371675"/>
                  <a:ext cx="1650151" cy="2432704"/>
                </a:xfrm>
                <a:prstGeom prst="roundRect">
                  <a:avLst>
                    <a:gd name="adj" fmla="val 3245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32" name="TextBox 1131">
                  <a:extLst>
                    <a:ext uri="{FF2B5EF4-FFF2-40B4-BE49-F238E27FC236}">
                      <a16:creationId xmlns:a16="http://schemas.microsoft.com/office/drawing/2014/main" id="{2F31302C-17BF-B3E5-C0B3-B6CA647D6263}"/>
                    </a:ext>
                  </a:extLst>
                </p:cNvPr>
                <p:cNvSpPr txBox="1"/>
                <p:nvPr/>
              </p:nvSpPr>
              <p:spPr>
                <a:xfrm>
                  <a:off x="4301260" y="1876762"/>
                  <a:ext cx="1013418" cy="600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/>
                    <a:t>Custom</a:t>
                  </a:r>
                </a:p>
                <a:p>
                  <a:pPr algn="ctr"/>
                  <a:r>
                    <a:rPr lang="en-US" sz="1100" dirty="0"/>
                    <a:t>Wire Protocol</a:t>
                  </a:r>
                </a:p>
                <a:p>
                  <a:pPr algn="ctr"/>
                  <a:r>
                    <a:rPr lang="en-US" sz="1100" dirty="0"/>
                    <a:t>&amp; Features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58669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59B38-A4C6-9A72-F1E5-3EFA15ED6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Siglets to Build Data Planes</a:t>
            </a:r>
          </a:p>
        </p:txBody>
      </p:sp>
      <p:sp>
        <p:nvSpPr>
          <p:cNvPr id="1106" name="Rounded Rectangle 1105">
            <a:extLst>
              <a:ext uri="{FF2B5EF4-FFF2-40B4-BE49-F238E27FC236}">
                <a16:creationId xmlns:a16="http://schemas.microsoft.com/office/drawing/2014/main" id="{E5CB1FEA-BE55-6336-4428-8F354C7F4625}"/>
              </a:ext>
            </a:extLst>
          </p:cNvPr>
          <p:cNvSpPr/>
          <p:nvPr/>
        </p:nvSpPr>
        <p:spPr>
          <a:xfrm>
            <a:off x="8655252" y="235403"/>
            <a:ext cx="2690706" cy="1829896"/>
          </a:xfrm>
          <a:prstGeom prst="roundRect">
            <a:avLst>
              <a:gd name="adj" fmla="val 775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tx1"/>
                </a:solidFill>
              </a:rPr>
              <a:t>Siglets</a:t>
            </a:r>
            <a:r>
              <a:rPr lang="en-US" sz="1100" dirty="0">
                <a:solidFill>
                  <a:schemeClr val="tx1"/>
                </a:solidFill>
              </a:rPr>
              <a:t> are agents that provide key data plane functionality. </a:t>
            </a:r>
          </a:p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When deployed with a Siglet, provider data planes only need to </a:t>
            </a:r>
            <a:r>
              <a:rPr lang="en-US" sz="1100" b="1" dirty="0">
                <a:solidFill>
                  <a:schemeClr val="tx1"/>
                </a:solidFill>
              </a:rPr>
              <a:t>validate JWTs </a:t>
            </a:r>
            <a:r>
              <a:rPr lang="en-US" sz="1100" dirty="0">
                <a:solidFill>
                  <a:schemeClr val="tx1"/>
                </a:solidFill>
              </a:rPr>
              <a:t>and use claims for access control</a:t>
            </a:r>
          </a:p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Consumer data planes use the </a:t>
            </a:r>
            <a:r>
              <a:rPr lang="en-US" sz="1100" b="1" dirty="0">
                <a:solidFill>
                  <a:schemeClr val="tx1"/>
                </a:solidFill>
              </a:rPr>
              <a:t>Siglet Token Client API</a:t>
            </a:r>
            <a:r>
              <a:rPr lang="en-US" sz="1100" dirty="0">
                <a:solidFill>
                  <a:schemeClr val="tx1"/>
                </a:solidFill>
              </a:rPr>
              <a:t> to manage access tokens.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2C2C2C8-426C-1DB6-2237-138C6C71ECDB}"/>
              </a:ext>
            </a:extLst>
          </p:cNvPr>
          <p:cNvSpPr/>
          <p:nvPr/>
        </p:nvSpPr>
        <p:spPr>
          <a:xfrm>
            <a:off x="2946065" y="4213539"/>
            <a:ext cx="710869" cy="787330"/>
          </a:xfrm>
          <a:prstGeom prst="roundRect">
            <a:avLst>
              <a:gd name="adj" fmla="val 32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E999741-945B-50D4-0E3D-38CAC3622322}"/>
              </a:ext>
            </a:extLst>
          </p:cNvPr>
          <p:cNvGrpSpPr/>
          <p:nvPr/>
        </p:nvGrpSpPr>
        <p:grpSpPr>
          <a:xfrm>
            <a:off x="2635901" y="5066033"/>
            <a:ext cx="1342219" cy="1269617"/>
            <a:chOff x="1742949" y="2034740"/>
            <a:chExt cx="1104153" cy="1106043"/>
          </a:xfrm>
        </p:grpSpPr>
        <p:pic>
          <p:nvPicPr>
            <p:cNvPr id="5" name="Graphic 4" descr="Connected with solid fill">
              <a:extLst>
                <a:ext uri="{FF2B5EF4-FFF2-40B4-BE49-F238E27FC236}">
                  <a16:creationId xmlns:a16="http://schemas.microsoft.com/office/drawing/2014/main" id="{C56EDCC2-17F7-7FD8-4388-2BC231B68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37473" y="2395252"/>
              <a:ext cx="715104" cy="71510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A6640F-8E5E-DA73-2D7B-FD2264F874BB}"/>
                </a:ext>
              </a:extLst>
            </p:cNvPr>
            <p:cNvSpPr txBox="1"/>
            <p:nvPr/>
          </p:nvSpPr>
          <p:spPr>
            <a:xfrm>
              <a:off x="1872492" y="2044826"/>
              <a:ext cx="845067" cy="283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SME</a:t>
              </a:r>
            </a:p>
            <a:p>
              <a:pPr algn="ctr"/>
              <a:r>
                <a:rPr lang="en-US" sz="1000" dirty="0"/>
                <a:t>Connector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14E3CBB-3D6D-CAD2-9398-DF2C99C6D1D4}"/>
                </a:ext>
              </a:extLst>
            </p:cNvPr>
            <p:cNvSpPr/>
            <p:nvPr/>
          </p:nvSpPr>
          <p:spPr>
            <a:xfrm>
              <a:off x="1742949" y="2034740"/>
              <a:ext cx="1104153" cy="1106043"/>
            </a:xfrm>
            <a:prstGeom prst="roundRect">
              <a:avLst>
                <a:gd name="adj" fmla="val 324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716C83E-4CD4-1253-CB4C-7195B8581F7D}"/>
              </a:ext>
            </a:extLst>
          </p:cNvPr>
          <p:cNvGrpSpPr/>
          <p:nvPr/>
        </p:nvGrpSpPr>
        <p:grpSpPr>
          <a:xfrm>
            <a:off x="2739146" y="3503897"/>
            <a:ext cx="1135733" cy="559457"/>
            <a:chOff x="3058794" y="4151643"/>
            <a:chExt cx="1316403" cy="686709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0E8BD994-1DBF-22AE-7DBB-639740CEFB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1660" r="41072" b="1"/>
            <a:stretch/>
          </p:blipFill>
          <p:spPr>
            <a:xfrm>
              <a:off x="3337374" y="4310331"/>
              <a:ext cx="759242" cy="369333"/>
            </a:xfrm>
            <a:prstGeom prst="rect">
              <a:avLst/>
            </a:prstGeom>
          </p:spPr>
        </p:pic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10C0608-0CC4-0807-E231-F67D70A9BF7F}"/>
                </a:ext>
              </a:extLst>
            </p:cNvPr>
            <p:cNvSpPr/>
            <p:nvPr/>
          </p:nvSpPr>
          <p:spPr>
            <a:xfrm>
              <a:off x="3058794" y="4151643"/>
              <a:ext cx="1316403" cy="686709"/>
            </a:xfrm>
            <a:prstGeom prst="roundRect">
              <a:avLst>
                <a:gd name="adj" fmla="val 324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7D29177-2323-02D9-5691-CCF0231BE4B4}"/>
              </a:ext>
            </a:extLst>
          </p:cNvPr>
          <p:cNvSpPr/>
          <p:nvPr/>
        </p:nvSpPr>
        <p:spPr>
          <a:xfrm>
            <a:off x="2595175" y="2759896"/>
            <a:ext cx="1423676" cy="1390926"/>
          </a:xfrm>
          <a:prstGeom prst="roundRect">
            <a:avLst>
              <a:gd name="adj" fmla="val 32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5D608A2-FD4E-1727-771B-27292E88467F}"/>
              </a:ext>
            </a:extLst>
          </p:cNvPr>
          <p:cNvGrpSpPr/>
          <p:nvPr/>
        </p:nvGrpSpPr>
        <p:grpSpPr>
          <a:xfrm>
            <a:off x="2737432" y="2875364"/>
            <a:ext cx="1153377" cy="559457"/>
            <a:chOff x="3047571" y="3218145"/>
            <a:chExt cx="1336854" cy="686709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9651A8C2-4AE5-BE23-D9BB-B128918BA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68130" y="3401183"/>
              <a:ext cx="895737" cy="320633"/>
            </a:xfrm>
            <a:prstGeom prst="rect">
              <a:avLst/>
            </a:prstGeom>
          </p:spPr>
        </p:pic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BB461B50-3BC7-8AFA-3E0C-621F60C1273C}"/>
                </a:ext>
              </a:extLst>
            </p:cNvPr>
            <p:cNvSpPr/>
            <p:nvPr/>
          </p:nvSpPr>
          <p:spPr>
            <a:xfrm>
              <a:off x="3047571" y="3218145"/>
              <a:ext cx="1336854" cy="686709"/>
            </a:xfrm>
            <a:prstGeom prst="roundRect">
              <a:avLst>
                <a:gd name="adj" fmla="val 324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EE1F8E02-0872-7474-878F-14ADC301B052}"/>
              </a:ext>
            </a:extLst>
          </p:cNvPr>
          <p:cNvSpPr txBox="1"/>
          <p:nvPr/>
        </p:nvSpPr>
        <p:spPr>
          <a:xfrm>
            <a:off x="2619874" y="2382322"/>
            <a:ext cx="13521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Siglet</a:t>
            </a:r>
          </a:p>
        </p:txBody>
      </p:sp>
      <p:pic>
        <p:nvPicPr>
          <p:cNvPr id="40" name="Graphic 39" descr="Key with solid fill">
            <a:extLst>
              <a:ext uri="{FF2B5EF4-FFF2-40B4-BE49-F238E27FC236}">
                <a16:creationId xmlns:a16="http://schemas.microsoft.com/office/drawing/2014/main" id="{BEE5AD05-1F63-4B1B-3EAC-D4E6AAAC93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7247" y="3560000"/>
            <a:ext cx="351611" cy="332023"/>
          </a:xfrm>
          <a:prstGeom prst="rect">
            <a:avLst/>
          </a:prstGeom>
        </p:spPr>
      </p:pic>
      <p:pic>
        <p:nvPicPr>
          <p:cNvPr id="41" name="Graphic 40" descr="Contract outline">
            <a:extLst>
              <a:ext uri="{FF2B5EF4-FFF2-40B4-BE49-F238E27FC236}">
                <a16:creationId xmlns:a16="http://schemas.microsoft.com/office/drawing/2014/main" id="{498806D3-6DF7-3322-05B2-A420340894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5569" y="2631283"/>
            <a:ext cx="1745381" cy="1648150"/>
          </a:xfrm>
          <a:prstGeom prst="rect">
            <a:avLst/>
          </a:prstGeom>
        </p:spPr>
      </p:pic>
      <p:pic>
        <p:nvPicPr>
          <p:cNvPr id="42" name="Graphic 41" descr="Contract outline">
            <a:extLst>
              <a:ext uri="{FF2B5EF4-FFF2-40B4-BE49-F238E27FC236}">
                <a16:creationId xmlns:a16="http://schemas.microsoft.com/office/drawing/2014/main" id="{F5AE0388-2A75-1292-9A83-F9425C8E27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77669" y="2640010"/>
            <a:ext cx="1745381" cy="1648150"/>
          </a:xfrm>
          <a:prstGeom prst="rect">
            <a:avLst/>
          </a:prstGeom>
        </p:spPr>
      </p:pic>
      <p:pic>
        <p:nvPicPr>
          <p:cNvPr id="44" name="Graphic 43" descr="Key with solid fill">
            <a:extLst>
              <a:ext uri="{FF2B5EF4-FFF2-40B4-BE49-F238E27FC236}">
                <a16:creationId xmlns:a16="http://schemas.microsoft.com/office/drawing/2014/main" id="{2E45BA8A-BC89-DA61-907F-E3A35FD5DD6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07553" y="3420529"/>
            <a:ext cx="343244" cy="324122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56FDCDB4-8B62-A852-6FF2-5B2AF096B43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66761" y="5593244"/>
            <a:ext cx="218644" cy="206464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8F1AE2F9-2DC3-C800-7BCC-5949E3616DE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29548" y="3293828"/>
            <a:ext cx="218644" cy="206464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455AAAFA-69ED-7E58-764E-958105CEFAC6}"/>
              </a:ext>
            </a:extLst>
          </p:cNvPr>
          <p:cNvGrpSpPr/>
          <p:nvPr/>
        </p:nvGrpSpPr>
        <p:grpSpPr>
          <a:xfrm>
            <a:off x="9215952" y="5033306"/>
            <a:ext cx="1342219" cy="1269617"/>
            <a:chOff x="1742949" y="2034740"/>
            <a:chExt cx="1104153" cy="1106043"/>
          </a:xfrm>
        </p:grpSpPr>
        <p:pic>
          <p:nvPicPr>
            <p:cNvPr id="52" name="Graphic 51" descr="Connected with solid fill">
              <a:extLst>
                <a:ext uri="{FF2B5EF4-FFF2-40B4-BE49-F238E27FC236}">
                  <a16:creationId xmlns:a16="http://schemas.microsoft.com/office/drawing/2014/main" id="{FFF0FB8C-A29B-57A3-C26D-0A4402F32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37473" y="2395252"/>
              <a:ext cx="715104" cy="715104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7A7443F-C362-3320-E65E-61EE1D23D788}"/>
                </a:ext>
              </a:extLst>
            </p:cNvPr>
            <p:cNvSpPr txBox="1"/>
            <p:nvPr/>
          </p:nvSpPr>
          <p:spPr>
            <a:xfrm>
              <a:off x="1872492" y="2044826"/>
              <a:ext cx="845067" cy="3485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Tier-1/OEM</a:t>
              </a:r>
            </a:p>
            <a:p>
              <a:pPr algn="ctr"/>
              <a:r>
                <a:rPr lang="en-US" sz="1000" dirty="0"/>
                <a:t>Connector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74D17D60-172F-E6A0-4A01-4AD948E8B7D8}"/>
                </a:ext>
              </a:extLst>
            </p:cNvPr>
            <p:cNvSpPr/>
            <p:nvPr/>
          </p:nvSpPr>
          <p:spPr>
            <a:xfrm>
              <a:off x="1742949" y="2034740"/>
              <a:ext cx="1104153" cy="1106043"/>
            </a:xfrm>
            <a:prstGeom prst="roundRect">
              <a:avLst>
                <a:gd name="adj" fmla="val 324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28" name="Picture 4" descr="Download HashiCorp Vault Logo Vector Free | Logowik">
            <a:extLst>
              <a:ext uri="{FF2B5EF4-FFF2-40B4-BE49-F238E27FC236}">
                <a16:creationId xmlns:a16="http://schemas.microsoft.com/office/drawing/2014/main" id="{899452C6-534A-28EB-6138-9DD6600C5C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64" t="31731" r="14735" b="30858"/>
          <a:stretch/>
        </p:blipFill>
        <p:spPr bwMode="auto">
          <a:xfrm>
            <a:off x="734418" y="3222115"/>
            <a:ext cx="932283" cy="349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7CD56B9-5036-540D-72A3-A5B2D4D9F134}"/>
              </a:ext>
            </a:extLst>
          </p:cNvPr>
          <p:cNvCxnSpPr>
            <a:cxnSpLocks/>
          </p:cNvCxnSpPr>
          <p:nvPr/>
        </p:nvCxnSpPr>
        <p:spPr>
          <a:xfrm flipH="1">
            <a:off x="4318582" y="5686461"/>
            <a:ext cx="4832486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0F8BFA7-75C9-9570-8479-475771F45A4F}"/>
              </a:ext>
            </a:extLst>
          </p:cNvPr>
          <p:cNvCxnSpPr>
            <a:cxnSpLocks/>
          </p:cNvCxnSpPr>
          <p:nvPr/>
        </p:nvCxnSpPr>
        <p:spPr>
          <a:xfrm>
            <a:off x="6046816" y="3434821"/>
            <a:ext cx="785764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6522CD91-35BD-D07A-2B68-C69FC7296069}"/>
              </a:ext>
            </a:extLst>
          </p:cNvPr>
          <p:cNvGrpSpPr/>
          <p:nvPr/>
        </p:nvGrpSpPr>
        <p:grpSpPr>
          <a:xfrm>
            <a:off x="3166832" y="4282570"/>
            <a:ext cx="282336" cy="625096"/>
            <a:chOff x="2938688" y="3878969"/>
            <a:chExt cx="327249" cy="767278"/>
          </a:xfrm>
        </p:grpSpPr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1ACC8D27-EA97-CD00-16A7-CE66D445D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012511" y="3878969"/>
              <a:ext cx="253426" cy="253426"/>
            </a:xfrm>
            <a:prstGeom prst="rect">
              <a:avLst/>
            </a:prstGeom>
          </p:spPr>
        </p:pic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FCED8EB2-3B56-C528-FD81-B427710FE52E}"/>
                </a:ext>
              </a:extLst>
            </p:cNvPr>
            <p:cNvCxnSpPr>
              <a:cxnSpLocks/>
            </p:cNvCxnSpPr>
            <p:nvPr/>
          </p:nvCxnSpPr>
          <p:spPr>
            <a:xfrm>
              <a:off x="2938688" y="3926220"/>
              <a:ext cx="0" cy="718855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Straight Arrow Connector 1025">
              <a:extLst>
                <a:ext uri="{FF2B5EF4-FFF2-40B4-BE49-F238E27FC236}">
                  <a16:creationId xmlns:a16="http://schemas.microsoft.com/office/drawing/2014/main" id="{E56DDBF7-83E9-869B-8E4F-0A79574D10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5332" y="4200041"/>
              <a:ext cx="0" cy="446206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1" name="Graphic 1030">
            <a:extLst>
              <a:ext uri="{FF2B5EF4-FFF2-40B4-BE49-F238E27FC236}">
                <a16:creationId xmlns:a16="http://schemas.microsoft.com/office/drawing/2014/main" id="{2F105740-8AEE-25AC-2B2E-1113BFB69C8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53162" y="3403724"/>
            <a:ext cx="218644" cy="206464"/>
          </a:xfrm>
          <a:prstGeom prst="rect">
            <a:avLst/>
          </a:prstGeom>
        </p:spPr>
      </p:pic>
      <p:cxnSp>
        <p:nvCxnSpPr>
          <p:cNvPr id="1032" name="Straight Arrow Connector 1031">
            <a:extLst>
              <a:ext uri="{FF2B5EF4-FFF2-40B4-BE49-F238E27FC236}">
                <a16:creationId xmlns:a16="http://schemas.microsoft.com/office/drawing/2014/main" id="{A7BA7B61-9623-BAC5-3E04-9DDD81650515}"/>
              </a:ext>
            </a:extLst>
          </p:cNvPr>
          <p:cNvCxnSpPr>
            <a:cxnSpLocks/>
          </p:cNvCxnSpPr>
          <p:nvPr/>
        </p:nvCxnSpPr>
        <p:spPr>
          <a:xfrm flipH="1">
            <a:off x="2027698" y="3500643"/>
            <a:ext cx="450872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7004195B-5CBB-CC0A-1C9E-8A2E2D3C4714}"/>
              </a:ext>
            </a:extLst>
          </p:cNvPr>
          <p:cNvCxnSpPr>
            <a:cxnSpLocks/>
          </p:cNvCxnSpPr>
          <p:nvPr/>
        </p:nvCxnSpPr>
        <p:spPr>
          <a:xfrm>
            <a:off x="1767701" y="3340270"/>
            <a:ext cx="710869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C1585BB6-62C6-AC97-7B58-02ED006A7DF7}"/>
              </a:ext>
            </a:extLst>
          </p:cNvPr>
          <p:cNvCxnSpPr>
            <a:cxnSpLocks/>
          </p:cNvCxnSpPr>
          <p:nvPr/>
        </p:nvCxnSpPr>
        <p:spPr>
          <a:xfrm>
            <a:off x="4107553" y="3438882"/>
            <a:ext cx="643414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0498A7A5-3651-5B4B-7488-F5ACA58CC61A}"/>
              </a:ext>
            </a:extLst>
          </p:cNvPr>
          <p:cNvCxnSpPr>
            <a:cxnSpLocks/>
          </p:cNvCxnSpPr>
          <p:nvPr/>
        </p:nvCxnSpPr>
        <p:spPr>
          <a:xfrm flipH="1">
            <a:off x="4462987" y="3578528"/>
            <a:ext cx="293185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0" name="TextBox 1039">
            <a:extLst>
              <a:ext uri="{FF2B5EF4-FFF2-40B4-BE49-F238E27FC236}">
                <a16:creationId xmlns:a16="http://schemas.microsoft.com/office/drawing/2014/main" id="{9510D7AE-73BF-94D0-EF64-A1D86B87E6F2}"/>
              </a:ext>
            </a:extLst>
          </p:cNvPr>
          <p:cNvSpPr txBox="1"/>
          <p:nvPr/>
        </p:nvSpPr>
        <p:spPr>
          <a:xfrm>
            <a:off x="6131128" y="3733148"/>
            <a:ext cx="9364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Wire Protocol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EFFA2AA-0EE8-E227-60C2-6EFEB2BD32C4}"/>
              </a:ext>
            </a:extLst>
          </p:cNvPr>
          <p:cNvSpPr txBox="1"/>
          <p:nvPr/>
        </p:nvSpPr>
        <p:spPr>
          <a:xfrm>
            <a:off x="3677111" y="4449192"/>
            <a:ext cx="683479" cy="325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Data Plane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Signaling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527C589F-7ECD-7D64-6939-A3B0B25C58EC}"/>
              </a:ext>
            </a:extLst>
          </p:cNvPr>
          <p:cNvSpPr txBox="1"/>
          <p:nvPr/>
        </p:nvSpPr>
        <p:spPr>
          <a:xfrm>
            <a:off x="6320951" y="5753151"/>
            <a:ext cx="361239" cy="200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DSP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710D547D-FD9A-E9F9-7F93-9F92985D3A65}"/>
              </a:ext>
            </a:extLst>
          </p:cNvPr>
          <p:cNvSpPr txBox="1"/>
          <p:nvPr/>
        </p:nvSpPr>
        <p:spPr>
          <a:xfrm>
            <a:off x="4066761" y="3045027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>
                <a:solidFill>
                  <a:srgbClr val="006EF9"/>
                </a:solidFill>
              </a:rPr>
              <a:t>3. Validate</a:t>
            </a:r>
          </a:p>
          <a:p>
            <a:r>
              <a:rPr lang="en-US" sz="900" b="1" i="1" dirty="0">
                <a:solidFill>
                  <a:srgbClr val="006EF9"/>
                </a:solidFill>
              </a:rPr>
              <a:t>JWT</a:t>
            </a: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E2FDE79E-C193-AA07-63B2-EB26ACC0A29E}"/>
              </a:ext>
            </a:extLst>
          </p:cNvPr>
          <p:cNvSpPr/>
          <p:nvPr/>
        </p:nvSpPr>
        <p:spPr>
          <a:xfrm>
            <a:off x="4852377" y="3013623"/>
            <a:ext cx="138487" cy="2212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4" name="Graphic 1043">
            <a:extLst>
              <a:ext uri="{FF2B5EF4-FFF2-40B4-BE49-F238E27FC236}">
                <a16:creationId xmlns:a16="http://schemas.microsoft.com/office/drawing/2014/main" id="{6922FC53-6627-745E-4F3F-F6525FE7F58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12298" y="3401004"/>
            <a:ext cx="218644" cy="206464"/>
          </a:xfrm>
          <a:prstGeom prst="rect">
            <a:avLst/>
          </a:prstGeom>
        </p:spPr>
      </p:pic>
      <p:sp>
        <p:nvSpPr>
          <p:cNvPr id="1050" name="TextBox 1049">
            <a:extLst>
              <a:ext uri="{FF2B5EF4-FFF2-40B4-BE49-F238E27FC236}">
                <a16:creationId xmlns:a16="http://schemas.microsoft.com/office/drawing/2014/main" id="{D83D1086-AE06-7BA1-2D93-4F61E013124F}"/>
              </a:ext>
            </a:extLst>
          </p:cNvPr>
          <p:cNvSpPr txBox="1"/>
          <p:nvPr/>
        </p:nvSpPr>
        <p:spPr>
          <a:xfrm>
            <a:off x="1654813" y="3709299"/>
            <a:ext cx="87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1" dirty="0"/>
              <a:t>3. Create and sign JWT</a:t>
            </a:r>
          </a:p>
        </p:txBody>
      </p:sp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1FCB9F3A-2E08-E3ED-F51C-BCC251E496B7}"/>
              </a:ext>
            </a:extLst>
          </p:cNvPr>
          <p:cNvCxnSpPr>
            <a:cxnSpLocks/>
          </p:cNvCxnSpPr>
          <p:nvPr/>
        </p:nvCxnSpPr>
        <p:spPr>
          <a:xfrm flipH="1">
            <a:off x="6046816" y="3571312"/>
            <a:ext cx="1098260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5" name="Group 1064">
            <a:extLst>
              <a:ext uri="{FF2B5EF4-FFF2-40B4-BE49-F238E27FC236}">
                <a16:creationId xmlns:a16="http://schemas.microsoft.com/office/drawing/2014/main" id="{EBDA31BF-03BD-7AA0-D13A-C33436667348}"/>
              </a:ext>
            </a:extLst>
          </p:cNvPr>
          <p:cNvGrpSpPr/>
          <p:nvPr/>
        </p:nvGrpSpPr>
        <p:grpSpPr>
          <a:xfrm>
            <a:off x="9259285" y="3469970"/>
            <a:ext cx="1135733" cy="559457"/>
            <a:chOff x="3058794" y="4151643"/>
            <a:chExt cx="1316403" cy="686709"/>
          </a:xfrm>
        </p:grpSpPr>
        <p:pic>
          <p:nvPicPr>
            <p:cNvPr id="1066" name="Graphic 1065">
              <a:extLst>
                <a:ext uri="{FF2B5EF4-FFF2-40B4-BE49-F238E27FC236}">
                  <a16:creationId xmlns:a16="http://schemas.microsoft.com/office/drawing/2014/main" id="{F337191E-036A-4CD2-B069-217E18BD1A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1660" r="41072" b="1"/>
            <a:stretch/>
          </p:blipFill>
          <p:spPr>
            <a:xfrm>
              <a:off x="3337374" y="4310331"/>
              <a:ext cx="759242" cy="369333"/>
            </a:xfrm>
            <a:prstGeom prst="rect">
              <a:avLst/>
            </a:prstGeom>
          </p:spPr>
        </p:pic>
        <p:sp>
          <p:nvSpPr>
            <p:cNvPr id="1067" name="Rounded Rectangle 1066">
              <a:extLst>
                <a:ext uri="{FF2B5EF4-FFF2-40B4-BE49-F238E27FC236}">
                  <a16:creationId xmlns:a16="http://schemas.microsoft.com/office/drawing/2014/main" id="{B5AF9795-A6CD-9072-0CAF-F9E74BFD9FEB}"/>
                </a:ext>
              </a:extLst>
            </p:cNvPr>
            <p:cNvSpPr/>
            <p:nvPr/>
          </p:nvSpPr>
          <p:spPr>
            <a:xfrm>
              <a:off x="3058794" y="4151643"/>
              <a:ext cx="1316403" cy="686709"/>
            </a:xfrm>
            <a:prstGeom prst="roundRect">
              <a:avLst>
                <a:gd name="adj" fmla="val 324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68" name="Rounded Rectangle 1067">
            <a:extLst>
              <a:ext uri="{FF2B5EF4-FFF2-40B4-BE49-F238E27FC236}">
                <a16:creationId xmlns:a16="http://schemas.microsoft.com/office/drawing/2014/main" id="{92D33631-1EBF-FFA6-1734-331B68F8D3C3}"/>
              </a:ext>
            </a:extLst>
          </p:cNvPr>
          <p:cNvSpPr/>
          <p:nvPr/>
        </p:nvSpPr>
        <p:spPr>
          <a:xfrm>
            <a:off x="9115314" y="2725970"/>
            <a:ext cx="1423676" cy="1390926"/>
          </a:xfrm>
          <a:prstGeom prst="roundRect">
            <a:avLst>
              <a:gd name="adj" fmla="val 32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623B1F9C-F4CE-C367-4E9C-DAA1D2774BB2}"/>
              </a:ext>
            </a:extLst>
          </p:cNvPr>
          <p:cNvGrpSpPr/>
          <p:nvPr/>
        </p:nvGrpSpPr>
        <p:grpSpPr>
          <a:xfrm>
            <a:off x="9257570" y="2841438"/>
            <a:ext cx="1153377" cy="559457"/>
            <a:chOff x="3047571" y="3218145"/>
            <a:chExt cx="1336854" cy="686709"/>
          </a:xfrm>
        </p:grpSpPr>
        <p:pic>
          <p:nvPicPr>
            <p:cNvPr id="1070" name="Graphic 1069">
              <a:extLst>
                <a:ext uri="{FF2B5EF4-FFF2-40B4-BE49-F238E27FC236}">
                  <a16:creationId xmlns:a16="http://schemas.microsoft.com/office/drawing/2014/main" id="{DC12A215-B345-8C27-FE2D-69067A6BE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68130" y="3401183"/>
              <a:ext cx="895737" cy="320633"/>
            </a:xfrm>
            <a:prstGeom prst="rect">
              <a:avLst/>
            </a:prstGeom>
          </p:spPr>
        </p:pic>
        <p:sp>
          <p:nvSpPr>
            <p:cNvPr id="1071" name="Rounded Rectangle 1070">
              <a:extLst>
                <a:ext uri="{FF2B5EF4-FFF2-40B4-BE49-F238E27FC236}">
                  <a16:creationId xmlns:a16="http://schemas.microsoft.com/office/drawing/2014/main" id="{9366D064-2F10-BE75-7F42-27F16E926EE6}"/>
                </a:ext>
              </a:extLst>
            </p:cNvPr>
            <p:cNvSpPr/>
            <p:nvPr/>
          </p:nvSpPr>
          <p:spPr>
            <a:xfrm>
              <a:off x="3047571" y="3218145"/>
              <a:ext cx="1336854" cy="686709"/>
            </a:xfrm>
            <a:prstGeom prst="roundRect">
              <a:avLst>
                <a:gd name="adj" fmla="val 324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2" name="TextBox 1071">
            <a:extLst>
              <a:ext uri="{FF2B5EF4-FFF2-40B4-BE49-F238E27FC236}">
                <a16:creationId xmlns:a16="http://schemas.microsoft.com/office/drawing/2014/main" id="{E32ACDF5-570E-962C-9713-E1EB072D81BE}"/>
              </a:ext>
            </a:extLst>
          </p:cNvPr>
          <p:cNvSpPr txBox="1"/>
          <p:nvPr/>
        </p:nvSpPr>
        <p:spPr>
          <a:xfrm>
            <a:off x="9140013" y="2348396"/>
            <a:ext cx="13521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Siglet</a:t>
            </a:r>
          </a:p>
        </p:txBody>
      </p:sp>
      <p:cxnSp>
        <p:nvCxnSpPr>
          <p:cNvPr id="1073" name="Straight Arrow Connector 1072">
            <a:extLst>
              <a:ext uri="{FF2B5EF4-FFF2-40B4-BE49-F238E27FC236}">
                <a16:creationId xmlns:a16="http://schemas.microsoft.com/office/drawing/2014/main" id="{192BCE0F-6C07-AE11-E7FF-AEEBB72F497D}"/>
              </a:ext>
            </a:extLst>
          </p:cNvPr>
          <p:cNvCxnSpPr>
            <a:cxnSpLocks/>
          </p:cNvCxnSpPr>
          <p:nvPr/>
        </p:nvCxnSpPr>
        <p:spPr>
          <a:xfrm>
            <a:off x="8340298" y="3567585"/>
            <a:ext cx="406628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6" name="Rounded Rectangle 1075">
            <a:extLst>
              <a:ext uri="{FF2B5EF4-FFF2-40B4-BE49-F238E27FC236}">
                <a16:creationId xmlns:a16="http://schemas.microsoft.com/office/drawing/2014/main" id="{5545C8CF-59A1-6F9C-F515-8F79461B4DDF}"/>
              </a:ext>
            </a:extLst>
          </p:cNvPr>
          <p:cNvSpPr/>
          <p:nvPr/>
        </p:nvSpPr>
        <p:spPr>
          <a:xfrm>
            <a:off x="9502601" y="4172793"/>
            <a:ext cx="710869" cy="787330"/>
          </a:xfrm>
          <a:prstGeom prst="roundRect">
            <a:avLst>
              <a:gd name="adj" fmla="val 32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078" name="Graphic 1077">
            <a:extLst>
              <a:ext uri="{FF2B5EF4-FFF2-40B4-BE49-F238E27FC236}">
                <a16:creationId xmlns:a16="http://schemas.microsoft.com/office/drawing/2014/main" id="{400B45AC-BBE9-9226-5D26-CD7A2CFB8A8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748713" y="4676771"/>
            <a:ext cx="218644" cy="206464"/>
          </a:xfrm>
          <a:prstGeom prst="rect">
            <a:avLst/>
          </a:prstGeom>
        </p:spPr>
      </p:pic>
      <p:cxnSp>
        <p:nvCxnSpPr>
          <p:cNvPr id="1080" name="Straight Arrow Connector 1079">
            <a:extLst>
              <a:ext uri="{FF2B5EF4-FFF2-40B4-BE49-F238E27FC236}">
                <a16:creationId xmlns:a16="http://schemas.microsoft.com/office/drawing/2014/main" id="{82E923BA-3C2D-1F5A-9EC9-666EA71E1758}"/>
              </a:ext>
            </a:extLst>
          </p:cNvPr>
          <p:cNvCxnSpPr>
            <a:cxnSpLocks/>
          </p:cNvCxnSpPr>
          <p:nvPr/>
        </p:nvCxnSpPr>
        <p:spPr>
          <a:xfrm flipH="1">
            <a:off x="9858678" y="4263322"/>
            <a:ext cx="0" cy="36352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1" name="TextBox 1080">
            <a:extLst>
              <a:ext uri="{FF2B5EF4-FFF2-40B4-BE49-F238E27FC236}">
                <a16:creationId xmlns:a16="http://schemas.microsoft.com/office/drawing/2014/main" id="{A5CE0C35-F78B-DA74-9B69-882A0948F98C}"/>
              </a:ext>
            </a:extLst>
          </p:cNvPr>
          <p:cNvSpPr txBox="1"/>
          <p:nvPr/>
        </p:nvSpPr>
        <p:spPr>
          <a:xfrm>
            <a:off x="8708738" y="4461344"/>
            <a:ext cx="683479" cy="325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Data Plane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Signaling</a:t>
            </a:r>
          </a:p>
        </p:txBody>
      </p:sp>
      <p:pic>
        <p:nvPicPr>
          <p:cNvPr id="1083" name="Graphic 1082">
            <a:extLst>
              <a:ext uri="{FF2B5EF4-FFF2-40B4-BE49-F238E27FC236}">
                <a16:creationId xmlns:a16="http://schemas.microsoft.com/office/drawing/2014/main" id="{C12D0935-78A9-2ECD-E62F-5A2FCAEF545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40697" y="3456540"/>
            <a:ext cx="218644" cy="206464"/>
          </a:xfrm>
          <a:prstGeom prst="rect">
            <a:avLst/>
          </a:prstGeom>
        </p:spPr>
      </p:pic>
      <p:cxnSp>
        <p:nvCxnSpPr>
          <p:cNvPr id="1091" name="Straight Arrow Connector 1090">
            <a:extLst>
              <a:ext uri="{FF2B5EF4-FFF2-40B4-BE49-F238E27FC236}">
                <a16:creationId xmlns:a16="http://schemas.microsoft.com/office/drawing/2014/main" id="{C2045A23-BA02-677E-E61A-9CE4DCC7AEF1}"/>
              </a:ext>
            </a:extLst>
          </p:cNvPr>
          <p:cNvCxnSpPr>
            <a:cxnSpLocks/>
          </p:cNvCxnSpPr>
          <p:nvPr/>
        </p:nvCxnSpPr>
        <p:spPr>
          <a:xfrm flipH="1">
            <a:off x="8357827" y="3393941"/>
            <a:ext cx="701515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5" name="TextBox 1094">
            <a:extLst>
              <a:ext uri="{FF2B5EF4-FFF2-40B4-BE49-F238E27FC236}">
                <a16:creationId xmlns:a16="http://schemas.microsoft.com/office/drawing/2014/main" id="{23737831-BDBF-6E43-2C9F-6F788A917ACC}"/>
              </a:ext>
            </a:extLst>
          </p:cNvPr>
          <p:cNvSpPr txBox="1"/>
          <p:nvPr/>
        </p:nvSpPr>
        <p:spPr>
          <a:xfrm>
            <a:off x="3972040" y="5259770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/>
              <a:t>1. Start Transfer</a:t>
            </a:r>
          </a:p>
        </p:txBody>
      </p:sp>
      <p:cxnSp>
        <p:nvCxnSpPr>
          <p:cNvPr id="1096" name="Straight Arrow Connector 1095">
            <a:extLst>
              <a:ext uri="{FF2B5EF4-FFF2-40B4-BE49-F238E27FC236}">
                <a16:creationId xmlns:a16="http://schemas.microsoft.com/office/drawing/2014/main" id="{97A69BEA-6FCB-F632-B96B-1F1E525FC789}"/>
              </a:ext>
            </a:extLst>
          </p:cNvPr>
          <p:cNvCxnSpPr>
            <a:cxnSpLocks/>
          </p:cNvCxnSpPr>
          <p:nvPr/>
        </p:nvCxnSpPr>
        <p:spPr>
          <a:xfrm>
            <a:off x="4059018" y="5511224"/>
            <a:ext cx="5056296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0" name="TextBox 1099">
            <a:extLst>
              <a:ext uri="{FF2B5EF4-FFF2-40B4-BE49-F238E27FC236}">
                <a16:creationId xmlns:a16="http://schemas.microsoft.com/office/drawing/2014/main" id="{0DBA40EB-32A2-EE20-8D0A-FC3105293AE0}"/>
              </a:ext>
            </a:extLst>
          </p:cNvPr>
          <p:cNvSpPr txBox="1"/>
          <p:nvPr/>
        </p:nvSpPr>
        <p:spPr>
          <a:xfrm>
            <a:off x="4082882" y="5801740"/>
            <a:ext cx="87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1" dirty="0"/>
              <a:t>4. Return JWT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DE4C1222-6F2A-2A8C-424D-2DFF1C1BF1F5}"/>
              </a:ext>
            </a:extLst>
          </p:cNvPr>
          <p:cNvSpPr txBox="1"/>
          <p:nvPr/>
        </p:nvSpPr>
        <p:spPr>
          <a:xfrm>
            <a:off x="10221630" y="4723155"/>
            <a:ext cx="8779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1" dirty="0"/>
              <a:t>5. Start</a:t>
            </a: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4CBF9B9F-6B9F-93C7-3C86-E37DED454D66}"/>
              </a:ext>
            </a:extLst>
          </p:cNvPr>
          <p:cNvSpPr txBox="1"/>
          <p:nvPr/>
        </p:nvSpPr>
        <p:spPr>
          <a:xfrm>
            <a:off x="2309802" y="4725566"/>
            <a:ext cx="8779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1" dirty="0"/>
              <a:t>2. Start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80049411-75DD-C6A0-19BF-A3B4EE8240FD}"/>
              </a:ext>
            </a:extLst>
          </p:cNvPr>
          <p:cNvSpPr txBox="1"/>
          <p:nvPr/>
        </p:nvSpPr>
        <p:spPr>
          <a:xfrm>
            <a:off x="8277665" y="3070728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>
                <a:solidFill>
                  <a:srgbClr val="006EF9"/>
                </a:solidFill>
              </a:rPr>
              <a:t>1. Get token</a:t>
            </a: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0F031A75-7930-3AF6-44FD-BBF87BFA28C6}"/>
              </a:ext>
            </a:extLst>
          </p:cNvPr>
          <p:cNvSpPr txBox="1"/>
          <p:nvPr/>
        </p:nvSpPr>
        <p:spPr>
          <a:xfrm>
            <a:off x="6116439" y="3059522"/>
            <a:ext cx="8306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>
                <a:solidFill>
                  <a:srgbClr val="006EF9"/>
                </a:solidFill>
              </a:rPr>
              <a:t>2. Operation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1EF2EA-F07A-5388-1E3F-D7219E8080F4}"/>
              </a:ext>
            </a:extLst>
          </p:cNvPr>
          <p:cNvSpPr txBox="1"/>
          <p:nvPr/>
        </p:nvSpPr>
        <p:spPr>
          <a:xfrm>
            <a:off x="4500838" y="2089874"/>
            <a:ext cx="17787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CSP App/</a:t>
            </a:r>
          </a:p>
          <a:p>
            <a:pPr algn="ctr"/>
            <a:r>
              <a:rPr lang="en-US" sz="1100" dirty="0"/>
              <a:t>Transport Component</a:t>
            </a:r>
          </a:p>
          <a:p>
            <a:pPr algn="ctr"/>
            <a:r>
              <a:rPr lang="en-US" sz="1100" dirty="0"/>
              <a:t>(Data Plane Specific)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462678-391A-844C-9676-179093EABBF3}"/>
              </a:ext>
            </a:extLst>
          </p:cNvPr>
          <p:cNvSpPr txBox="1"/>
          <p:nvPr/>
        </p:nvSpPr>
        <p:spPr>
          <a:xfrm>
            <a:off x="6797341" y="2066792"/>
            <a:ext cx="17787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Tier-1 App/</a:t>
            </a:r>
          </a:p>
          <a:p>
            <a:pPr algn="ctr"/>
            <a:r>
              <a:rPr lang="en-US" sz="1100" dirty="0"/>
              <a:t>Transport Component</a:t>
            </a:r>
          </a:p>
          <a:p>
            <a:pPr algn="ctr"/>
            <a:r>
              <a:rPr lang="en-US" sz="1100" dirty="0"/>
              <a:t>(Data Plane Specific)</a:t>
            </a:r>
          </a:p>
        </p:txBody>
      </p:sp>
    </p:spTree>
    <p:extLst>
      <p:ext uri="{BB962C8B-B14F-4D97-AF65-F5344CB8AC3E}">
        <p14:creationId xmlns:p14="http://schemas.microsoft.com/office/powerpoint/2010/main" val="261250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D9596-6538-FBFB-8FB6-1EE8A1357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Dataspace Technology Foundation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010BC5-53A8-29DC-203D-9D5653EDAE64}"/>
              </a:ext>
            </a:extLst>
          </p:cNvPr>
          <p:cNvGrpSpPr/>
          <p:nvPr/>
        </p:nvGrpSpPr>
        <p:grpSpPr>
          <a:xfrm>
            <a:off x="3689285" y="4044142"/>
            <a:ext cx="2406715" cy="732992"/>
            <a:chOff x="2935414" y="3343545"/>
            <a:chExt cx="6868887" cy="839531"/>
          </a:xfrm>
          <a:solidFill>
            <a:schemeClr val="bg1">
              <a:lumMod val="95000"/>
            </a:schemeClr>
          </a:solidFill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8CEC277-F598-1481-1867-3265C0E23169}"/>
                </a:ext>
              </a:extLst>
            </p:cNvPr>
            <p:cNvSpPr/>
            <p:nvPr/>
          </p:nvSpPr>
          <p:spPr>
            <a:xfrm>
              <a:off x="2935416" y="3343545"/>
              <a:ext cx="6868885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E825C9-E024-C93E-DDCF-0392E8416FE2}"/>
                </a:ext>
              </a:extLst>
            </p:cNvPr>
            <p:cNvSpPr txBox="1"/>
            <p:nvPr/>
          </p:nvSpPr>
          <p:spPr>
            <a:xfrm>
              <a:off x="2935414" y="3587073"/>
              <a:ext cx="6868884" cy="317260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EDC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C393A30-8A60-8337-FD85-C7F0ACD5C44D}"/>
              </a:ext>
            </a:extLst>
          </p:cNvPr>
          <p:cNvGrpSpPr/>
          <p:nvPr/>
        </p:nvGrpSpPr>
        <p:grpSpPr>
          <a:xfrm>
            <a:off x="3689285" y="3230133"/>
            <a:ext cx="4833501" cy="732991"/>
            <a:chOff x="3830685" y="3903965"/>
            <a:chExt cx="4833501" cy="73299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E93A363-5C3A-9ABA-AEE9-71B509A0F81C}"/>
                </a:ext>
              </a:extLst>
            </p:cNvPr>
            <p:cNvGrpSpPr/>
            <p:nvPr/>
          </p:nvGrpSpPr>
          <p:grpSpPr>
            <a:xfrm>
              <a:off x="3830686" y="3903965"/>
              <a:ext cx="4833499" cy="732991"/>
              <a:chOff x="2935416" y="3343545"/>
              <a:chExt cx="6868885" cy="839531"/>
            </a:xfrm>
            <a:solidFill>
              <a:srgbClr val="002060"/>
            </a:solidFill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982CF4-31D2-FDB8-E97D-423878CB1599}"/>
                  </a:ext>
                </a:extLst>
              </p:cNvPr>
              <p:cNvSpPr txBox="1"/>
              <p:nvPr/>
            </p:nvSpPr>
            <p:spPr>
              <a:xfrm>
                <a:off x="2935416" y="3487660"/>
                <a:ext cx="6868885" cy="550579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AE1AD289-D518-AE67-ADAE-6AEBD9C9E525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AF0F4B1-03B3-F9B5-A2F7-05CA6D8DC124}"/>
                </a:ext>
              </a:extLst>
            </p:cNvPr>
            <p:cNvSpPr txBox="1"/>
            <p:nvPr/>
          </p:nvSpPr>
          <p:spPr>
            <a:xfrm>
              <a:off x="3830685" y="4139655"/>
              <a:ext cx="48335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Connector Fabric Manager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CD1A4F-776D-38AC-58AB-752646353401}"/>
              </a:ext>
            </a:extLst>
          </p:cNvPr>
          <p:cNvGrpSpPr/>
          <p:nvPr/>
        </p:nvGrpSpPr>
        <p:grpSpPr>
          <a:xfrm>
            <a:off x="6122141" y="4040331"/>
            <a:ext cx="2400644" cy="749826"/>
            <a:chOff x="2918045" y="3260793"/>
            <a:chExt cx="6868885" cy="815501"/>
          </a:xfrm>
          <a:solidFill>
            <a:schemeClr val="bg1">
              <a:lumMod val="95000"/>
            </a:schemeClr>
          </a:solidFill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85603DD9-4AE7-49BC-59B7-EE985C5C4242}"/>
                </a:ext>
              </a:extLst>
            </p:cNvPr>
            <p:cNvSpPr/>
            <p:nvPr/>
          </p:nvSpPr>
          <p:spPr>
            <a:xfrm>
              <a:off x="2918045" y="3260793"/>
              <a:ext cx="6868885" cy="815501"/>
            </a:xfrm>
            <a:prstGeom prst="roundRect">
              <a:avLst>
                <a:gd name="adj" fmla="val 1009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C2AA54-19B6-9F63-8EFE-106CD4E33DBD}"/>
                </a:ext>
              </a:extLst>
            </p:cNvPr>
            <p:cNvSpPr txBox="1"/>
            <p:nvPr/>
          </p:nvSpPr>
          <p:spPr>
            <a:xfrm>
              <a:off x="2918045" y="3514316"/>
              <a:ext cx="6868885" cy="301261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Data Plans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EE33ECA-ED38-DBC3-C37B-4CBEC23E2DA3}"/>
              </a:ext>
            </a:extLst>
          </p:cNvPr>
          <p:cNvGrpSpPr/>
          <p:nvPr/>
        </p:nvGrpSpPr>
        <p:grpSpPr>
          <a:xfrm>
            <a:off x="3689285" y="2394311"/>
            <a:ext cx="4833501" cy="732991"/>
            <a:chOff x="3705390" y="1811613"/>
            <a:chExt cx="4833501" cy="73299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07361A6-36CD-6041-5499-699E270C5C7B}"/>
                </a:ext>
              </a:extLst>
            </p:cNvPr>
            <p:cNvGrpSpPr/>
            <p:nvPr/>
          </p:nvGrpSpPr>
          <p:grpSpPr>
            <a:xfrm>
              <a:off x="3705391" y="1811613"/>
              <a:ext cx="4833499" cy="732991"/>
              <a:chOff x="2935416" y="3343545"/>
              <a:chExt cx="6868885" cy="839531"/>
            </a:xfrm>
            <a:solidFill>
              <a:schemeClr val="bg1">
                <a:lumMod val="95000"/>
              </a:schemeClr>
            </a:solidFill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0C0D60E-8174-C5C6-7D45-7D0D135362AE}"/>
                  </a:ext>
                </a:extLst>
              </p:cNvPr>
              <p:cNvSpPr txBox="1"/>
              <p:nvPr/>
            </p:nvSpPr>
            <p:spPr>
              <a:xfrm>
                <a:off x="2935416" y="3487660"/>
                <a:ext cx="6868885" cy="550579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32382A39-E940-910A-C974-242B2056A6F7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06E0EC-4D96-31F2-84B4-92775E763F08}"/>
                </a:ext>
              </a:extLst>
            </p:cNvPr>
            <p:cNvSpPr txBox="1"/>
            <p:nvPr/>
          </p:nvSpPr>
          <p:spPr>
            <a:xfrm>
              <a:off x="3705390" y="2047303"/>
              <a:ext cx="48335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Onboarding Platforms</a:t>
              </a: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991B26E9-63D4-9A0C-0D72-D73F75AFA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3471" y="3362992"/>
            <a:ext cx="486210" cy="48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10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93127AD-3BD9-6921-9AFF-28422A0A02E9}"/>
              </a:ext>
            </a:extLst>
          </p:cNvPr>
          <p:cNvSpPr/>
          <p:nvPr/>
        </p:nvSpPr>
        <p:spPr>
          <a:xfrm>
            <a:off x="8843348" y="2081951"/>
            <a:ext cx="2510452" cy="2280392"/>
          </a:xfrm>
          <a:prstGeom prst="roundRect">
            <a:avLst>
              <a:gd name="adj" fmla="val 10092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580972-D2AC-9542-264C-EC630CED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CFM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7764F-FFDA-6140-30B9-6C6EAE90C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418"/>
            <a:ext cx="7168563" cy="4597545"/>
          </a:xfrm>
        </p:spPr>
        <p:txBody>
          <a:bodyPr>
            <a:normAutofit/>
          </a:bodyPr>
          <a:lstStyle/>
          <a:p>
            <a:r>
              <a:rPr lang="en-US" dirty="0"/>
              <a:t>New Eclipse Foundation Project</a:t>
            </a:r>
          </a:p>
          <a:p>
            <a:r>
              <a:rPr lang="en-US" dirty="0"/>
              <a:t>Extensible DevOps platform </a:t>
            </a:r>
          </a:p>
          <a:p>
            <a:pPr lvl="1"/>
            <a:r>
              <a:rPr lang="en-US" dirty="0"/>
              <a:t>Standardized automation to remove operational complexity</a:t>
            </a:r>
          </a:p>
          <a:p>
            <a:r>
              <a:rPr lang="en-US" dirty="0"/>
              <a:t>Tenant and resource management</a:t>
            </a:r>
          </a:p>
          <a:p>
            <a:pPr lvl="1"/>
            <a:r>
              <a:rPr lang="en-US" dirty="0"/>
              <a:t>Simple resource management API</a:t>
            </a:r>
          </a:p>
          <a:p>
            <a:pPr lvl="1"/>
            <a:r>
              <a:rPr lang="en-US" dirty="0"/>
              <a:t>Workflow-based provisioning</a:t>
            </a:r>
          </a:p>
          <a:p>
            <a:r>
              <a:rPr lang="en-US" dirty="0"/>
              <a:t>Agent-based messaging architecture</a:t>
            </a:r>
          </a:p>
          <a:p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1974091-9F9B-FCFF-F623-DD60DD2AD695}"/>
              </a:ext>
            </a:extLst>
          </p:cNvPr>
          <p:cNvGrpSpPr/>
          <p:nvPr/>
        </p:nvGrpSpPr>
        <p:grpSpPr>
          <a:xfrm>
            <a:off x="9215248" y="4044710"/>
            <a:ext cx="488418" cy="827531"/>
            <a:chOff x="9230899" y="4931678"/>
            <a:chExt cx="488418" cy="827531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8059DB2C-2270-9EE4-8483-84544E4F219C}"/>
                </a:ext>
              </a:extLst>
            </p:cNvPr>
            <p:cNvSpPr/>
            <p:nvPr/>
          </p:nvSpPr>
          <p:spPr>
            <a:xfrm>
              <a:off x="9230899" y="5304028"/>
              <a:ext cx="488418" cy="455181"/>
            </a:xfrm>
            <a:prstGeom prst="roundRect">
              <a:avLst>
                <a:gd name="adj" fmla="val 10092"/>
              </a:avLst>
            </a:prstGeom>
            <a:solidFill>
              <a:srgbClr val="002060">
                <a:alpha val="5596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FF419AE-B9FA-A07F-71C1-6780263CF91D}"/>
                </a:ext>
              </a:extLst>
            </p:cNvPr>
            <p:cNvGrpSpPr/>
            <p:nvPr/>
          </p:nvGrpSpPr>
          <p:grpSpPr>
            <a:xfrm>
              <a:off x="9358050" y="4931678"/>
              <a:ext cx="240099" cy="553374"/>
              <a:chOff x="8838229" y="5898364"/>
              <a:chExt cx="240099" cy="553374"/>
            </a:xfrm>
            <a:solidFill>
              <a:srgbClr val="006EF9"/>
            </a:solidFill>
          </p:grpSpPr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32EA0E18-455E-C060-A6DB-8D56C8C0BEFF}"/>
                  </a:ext>
                </a:extLst>
              </p:cNvPr>
              <p:cNvSpPr/>
              <p:nvPr/>
            </p:nvSpPr>
            <p:spPr>
              <a:xfrm>
                <a:off x="8838229" y="5898364"/>
                <a:ext cx="234117" cy="553374"/>
              </a:xfrm>
              <a:prstGeom prst="roundRect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9C87A806-33DE-1B06-63FD-1F8120C9B8F8}"/>
                  </a:ext>
                </a:extLst>
              </p:cNvPr>
              <p:cNvCxnSpPr/>
              <p:nvPr/>
            </p:nvCxnSpPr>
            <p:spPr>
              <a:xfrm>
                <a:off x="8838229" y="6039650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8185F23-821E-9E7D-7067-CE01A43C6787}"/>
                  </a:ext>
                </a:extLst>
              </p:cNvPr>
              <p:cNvCxnSpPr/>
              <p:nvPr/>
            </p:nvCxnSpPr>
            <p:spPr>
              <a:xfrm>
                <a:off x="8844211" y="6175682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06FD8F3-A304-F9B6-CE8F-B1A660C01B58}"/>
                  </a:ext>
                </a:extLst>
              </p:cNvPr>
              <p:cNvCxnSpPr/>
              <p:nvPr/>
            </p:nvCxnSpPr>
            <p:spPr>
              <a:xfrm>
                <a:off x="8838229" y="6311714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C696D42-5E82-162B-427D-F9DF4F4385A1}"/>
              </a:ext>
            </a:extLst>
          </p:cNvPr>
          <p:cNvGrpSpPr/>
          <p:nvPr/>
        </p:nvGrpSpPr>
        <p:grpSpPr>
          <a:xfrm>
            <a:off x="9854365" y="4043433"/>
            <a:ext cx="488418" cy="827531"/>
            <a:chOff x="9230899" y="4931678"/>
            <a:chExt cx="488418" cy="827531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493ECC07-6217-D55C-0298-51FE48B3360B}"/>
                </a:ext>
              </a:extLst>
            </p:cNvPr>
            <p:cNvSpPr/>
            <p:nvPr/>
          </p:nvSpPr>
          <p:spPr>
            <a:xfrm>
              <a:off x="9230899" y="5304028"/>
              <a:ext cx="488418" cy="455181"/>
            </a:xfrm>
            <a:prstGeom prst="roundRect">
              <a:avLst>
                <a:gd name="adj" fmla="val 10092"/>
              </a:avLst>
            </a:prstGeom>
            <a:solidFill>
              <a:srgbClr val="002060">
                <a:alpha val="5596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FA4D027-995E-9610-481A-72FFE6ACA56A}"/>
                </a:ext>
              </a:extLst>
            </p:cNvPr>
            <p:cNvGrpSpPr/>
            <p:nvPr/>
          </p:nvGrpSpPr>
          <p:grpSpPr>
            <a:xfrm>
              <a:off x="9358050" y="4931678"/>
              <a:ext cx="240099" cy="553374"/>
              <a:chOff x="8838229" y="5898364"/>
              <a:chExt cx="240099" cy="553374"/>
            </a:xfrm>
            <a:solidFill>
              <a:srgbClr val="006EF9"/>
            </a:solidFill>
          </p:grpSpPr>
          <p:sp>
            <p:nvSpPr>
              <p:cNvPr id="46" name="Rounded Rectangle 45">
                <a:extLst>
                  <a:ext uri="{FF2B5EF4-FFF2-40B4-BE49-F238E27FC236}">
                    <a16:creationId xmlns:a16="http://schemas.microsoft.com/office/drawing/2014/main" id="{380D00E7-53FE-5A11-C56C-5E8ACBD72529}"/>
                  </a:ext>
                </a:extLst>
              </p:cNvPr>
              <p:cNvSpPr/>
              <p:nvPr/>
            </p:nvSpPr>
            <p:spPr>
              <a:xfrm>
                <a:off x="8838229" y="5898364"/>
                <a:ext cx="234117" cy="553374"/>
              </a:xfrm>
              <a:prstGeom prst="roundRect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B8BDFF0-6E8A-2E23-0FAC-3CB6D7A6C5A7}"/>
                  </a:ext>
                </a:extLst>
              </p:cNvPr>
              <p:cNvCxnSpPr/>
              <p:nvPr/>
            </p:nvCxnSpPr>
            <p:spPr>
              <a:xfrm>
                <a:off x="8838229" y="6039650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9A1CF1C5-1874-846E-CB1D-9D893164EF7C}"/>
                  </a:ext>
                </a:extLst>
              </p:cNvPr>
              <p:cNvCxnSpPr/>
              <p:nvPr/>
            </p:nvCxnSpPr>
            <p:spPr>
              <a:xfrm>
                <a:off x="8844211" y="6175682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493985E-A876-2ACF-6C94-A37BA714F417}"/>
                  </a:ext>
                </a:extLst>
              </p:cNvPr>
              <p:cNvCxnSpPr/>
              <p:nvPr/>
            </p:nvCxnSpPr>
            <p:spPr>
              <a:xfrm>
                <a:off x="8838229" y="6311714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DD3C918-AAB9-100F-B8CC-E0B8BDFC4F9C}"/>
              </a:ext>
            </a:extLst>
          </p:cNvPr>
          <p:cNvGrpSpPr/>
          <p:nvPr/>
        </p:nvGrpSpPr>
        <p:grpSpPr>
          <a:xfrm>
            <a:off x="10528974" y="4042156"/>
            <a:ext cx="488418" cy="827531"/>
            <a:chOff x="9230899" y="4931678"/>
            <a:chExt cx="488418" cy="827531"/>
          </a:xfrm>
        </p:grpSpPr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7A2EE8FA-07C7-5D10-3F0C-807FE967CF9A}"/>
                </a:ext>
              </a:extLst>
            </p:cNvPr>
            <p:cNvSpPr/>
            <p:nvPr/>
          </p:nvSpPr>
          <p:spPr>
            <a:xfrm>
              <a:off x="9230899" y="5304028"/>
              <a:ext cx="488418" cy="455181"/>
            </a:xfrm>
            <a:prstGeom prst="roundRect">
              <a:avLst>
                <a:gd name="adj" fmla="val 10092"/>
              </a:avLst>
            </a:prstGeom>
            <a:solidFill>
              <a:srgbClr val="002060">
                <a:alpha val="5596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E282869-40B8-CB33-1733-97EC46BF4ABE}"/>
                </a:ext>
              </a:extLst>
            </p:cNvPr>
            <p:cNvGrpSpPr/>
            <p:nvPr/>
          </p:nvGrpSpPr>
          <p:grpSpPr>
            <a:xfrm>
              <a:off x="9358050" y="4931678"/>
              <a:ext cx="240099" cy="553374"/>
              <a:chOff x="8838229" y="5898364"/>
              <a:chExt cx="240099" cy="553374"/>
            </a:xfrm>
            <a:solidFill>
              <a:srgbClr val="006EF9"/>
            </a:solidFill>
          </p:grpSpPr>
          <p:sp>
            <p:nvSpPr>
              <p:cNvPr id="53" name="Rounded Rectangle 52">
                <a:extLst>
                  <a:ext uri="{FF2B5EF4-FFF2-40B4-BE49-F238E27FC236}">
                    <a16:creationId xmlns:a16="http://schemas.microsoft.com/office/drawing/2014/main" id="{E0C5D484-F582-319F-0CE5-0D0429D24A4E}"/>
                  </a:ext>
                </a:extLst>
              </p:cNvPr>
              <p:cNvSpPr/>
              <p:nvPr/>
            </p:nvSpPr>
            <p:spPr>
              <a:xfrm>
                <a:off x="8838229" y="5898364"/>
                <a:ext cx="234117" cy="553374"/>
              </a:xfrm>
              <a:prstGeom prst="roundRect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92F1410-B465-A37C-3937-47364092A228}"/>
                  </a:ext>
                </a:extLst>
              </p:cNvPr>
              <p:cNvCxnSpPr/>
              <p:nvPr/>
            </p:nvCxnSpPr>
            <p:spPr>
              <a:xfrm>
                <a:off x="8838229" y="6039650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021844A4-50E2-0CFA-9928-876BAD05A0AC}"/>
                  </a:ext>
                </a:extLst>
              </p:cNvPr>
              <p:cNvCxnSpPr/>
              <p:nvPr/>
            </p:nvCxnSpPr>
            <p:spPr>
              <a:xfrm>
                <a:off x="8844211" y="6175682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1EC6C60F-3B9F-60A6-9E6B-015DDB77850D}"/>
                  </a:ext>
                </a:extLst>
              </p:cNvPr>
              <p:cNvCxnSpPr/>
              <p:nvPr/>
            </p:nvCxnSpPr>
            <p:spPr>
              <a:xfrm>
                <a:off x="8838229" y="6311714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ABCA0A2-CAC0-9688-C753-511E3E21E048}"/>
              </a:ext>
            </a:extLst>
          </p:cNvPr>
          <p:cNvCxnSpPr>
            <a:cxnSpLocks/>
          </p:cNvCxnSpPr>
          <p:nvPr/>
        </p:nvCxnSpPr>
        <p:spPr>
          <a:xfrm>
            <a:off x="8843348" y="2406710"/>
            <a:ext cx="25942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15F2F45-CA1E-C886-B45B-370915395250}"/>
              </a:ext>
            </a:extLst>
          </p:cNvPr>
          <p:cNvGrpSpPr/>
          <p:nvPr/>
        </p:nvGrpSpPr>
        <p:grpSpPr>
          <a:xfrm>
            <a:off x="9281799" y="3444106"/>
            <a:ext cx="281583" cy="450399"/>
            <a:chOff x="9027458" y="2389409"/>
            <a:chExt cx="353460" cy="56536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891BA96-1A58-542F-9E06-2E0B37A54962}"/>
                </a:ext>
              </a:extLst>
            </p:cNvPr>
            <p:cNvSpPr/>
            <p:nvPr/>
          </p:nvSpPr>
          <p:spPr>
            <a:xfrm>
              <a:off x="9144933" y="2389409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3B05B34-8C78-F5D3-A371-F009279135A8}"/>
                </a:ext>
              </a:extLst>
            </p:cNvPr>
            <p:cNvCxnSpPr>
              <a:cxnSpLocks/>
            </p:cNvCxnSpPr>
            <p:nvPr/>
          </p:nvCxnSpPr>
          <p:spPr>
            <a:xfrm>
              <a:off x="9223104" y="2484725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86A248B9-4DF9-6E91-FE60-A5DD3DCCA5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82506" y="2490928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CBDA7E8-EB9B-B0A8-8B77-B4298D2D586A}"/>
                </a:ext>
              </a:extLst>
            </p:cNvPr>
            <p:cNvSpPr/>
            <p:nvPr/>
          </p:nvSpPr>
          <p:spPr>
            <a:xfrm>
              <a:off x="9275108" y="2621184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B4F76DD8-BC27-FD00-C04C-DF7601468AE5}"/>
                </a:ext>
              </a:extLst>
            </p:cNvPr>
            <p:cNvSpPr/>
            <p:nvPr/>
          </p:nvSpPr>
          <p:spPr>
            <a:xfrm>
              <a:off x="9027458" y="2621184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347663CA-3E11-16B7-233C-3DA7235B5136}"/>
                </a:ext>
              </a:extLst>
            </p:cNvPr>
            <p:cNvCxnSpPr>
              <a:cxnSpLocks/>
            </p:cNvCxnSpPr>
            <p:nvPr/>
          </p:nvCxnSpPr>
          <p:spPr>
            <a:xfrm>
              <a:off x="9082506" y="2722703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C3A2723A-B993-612E-2D5B-AE6FE0A0F7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2422" y="2722703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2CEBF85-91E5-7145-6245-2FA70F8A1308}"/>
                </a:ext>
              </a:extLst>
            </p:cNvPr>
            <p:cNvSpPr/>
            <p:nvPr/>
          </p:nvSpPr>
          <p:spPr>
            <a:xfrm>
              <a:off x="9144933" y="2848968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BB2EE90-70AB-AD6D-0405-B3088F5B35CE}"/>
              </a:ext>
            </a:extLst>
          </p:cNvPr>
          <p:cNvGrpSpPr/>
          <p:nvPr/>
        </p:nvGrpSpPr>
        <p:grpSpPr>
          <a:xfrm>
            <a:off x="9957783" y="3445695"/>
            <a:ext cx="281583" cy="450399"/>
            <a:chOff x="9027458" y="2389409"/>
            <a:chExt cx="353460" cy="565369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B8E4CF81-F7BF-416A-A2FF-3F241CB828A9}"/>
                </a:ext>
              </a:extLst>
            </p:cNvPr>
            <p:cNvSpPr/>
            <p:nvPr/>
          </p:nvSpPr>
          <p:spPr>
            <a:xfrm>
              <a:off x="9144933" y="2389409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31CC8ADC-EF16-AF72-EF39-3E74B026FE5D}"/>
                </a:ext>
              </a:extLst>
            </p:cNvPr>
            <p:cNvCxnSpPr>
              <a:cxnSpLocks/>
            </p:cNvCxnSpPr>
            <p:nvPr/>
          </p:nvCxnSpPr>
          <p:spPr>
            <a:xfrm>
              <a:off x="9223104" y="2484725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E9632EF-32EA-0E35-065C-9CD3D9E47F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82506" y="2490928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102946A5-6766-2BB6-79A0-78EA6B9C86C8}"/>
                </a:ext>
              </a:extLst>
            </p:cNvPr>
            <p:cNvSpPr/>
            <p:nvPr/>
          </p:nvSpPr>
          <p:spPr>
            <a:xfrm>
              <a:off x="9275108" y="2621184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6735C1E2-7B84-EB70-1148-392C49F1E6BA}"/>
                </a:ext>
              </a:extLst>
            </p:cNvPr>
            <p:cNvSpPr/>
            <p:nvPr/>
          </p:nvSpPr>
          <p:spPr>
            <a:xfrm>
              <a:off x="9027458" y="2621184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F6B767CA-7DCE-B147-E93F-D6D71193D1FA}"/>
                </a:ext>
              </a:extLst>
            </p:cNvPr>
            <p:cNvCxnSpPr>
              <a:cxnSpLocks/>
            </p:cNvCxnSpPr>
            <p:nvPr/>
          </p:nvCxnSpPr>
          <p:spPr>
            <a:xfrm>
              <a:off x="9082506" y="2722703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AC17191C-BA3F-3277-A0E2-9D58622F39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2422" y="2722703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71841F21-3007-BD76-F6FA-9335627D0DFF}"/>
                </a:ext>
              </a:extLst>
            </p:cNvPr>
            <p:cNvSpPr/>
            <p:nvPr/>
          </p:nvSpPr>
          <p:spPr>
            <a:xfrm>
              <a:off x="9144933" y="2848968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116E5F2-1C27-FF7E-7003-A79BA70D3A83}"/>
              </a:ext>
            </a:extLst>
          </p:cNvPr>
          <p:cNvGrpSpPr/>
          <p:nvPr/>
        </p:nvGrpSpPr>
        <p:grpSpPr>
          <a:xfrm>
            <a:off x="10646903" y="3466173"/>
            <a:ext cx="281583" cy="450399"/>
            <a:chOff x="9027458" y="2389409"/>
            <a:chExt cx="353460" cy="565369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4D006273-98B7-CDE4-BCFC-B8004E1F5AD2}"/>
                </a:ext>
              </a:extLst>
            </p:cNvPr>
            <p:cNvSpPr/>
            <p:nvPr/>
          </p:nvSpPr>
          <p:spPr>
            <a:xfrm>
              <a:off x="9144933" y="2389409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D13CBC9D-7F98-3DBE-9224-4C52698BB3E3}"/>
                </a:ext>
              </a:extLst>
            </p:cNvPr>
            <p:cNvCxnSpPr>
              <a:cxnSpLocks/>
            </p:cNvCxnSpPr>
            <p:nvPr/>
          </p:nvCxnSpPr>
          <p:spPr>
            <a:xfrm>
              <a:off x="9223104" y="2484725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F23B53C9-BDE9-D303-732B-A00F70700F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82506" y="2490928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F1107354-64C3-23D2-B072-08FB4DCABD6E}"/>
                </a:ext>
              </a:extLst>
            </p:cNvPr>
            <p:cNvSpPr/>
            <p:nvPr/>
          </p:nvSpPr>
          <p:spPr>
            <a:xfrm>
              <a:off x="9275108" y="2621184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C34898FE-F2D6-41D4-C008-C7B011BA602F}"/>
                </a:ext>
              </a:extLst>
            </p:cNvPr>
            <p:cNvSpPr/>
            <p:nvPr/>
          </p:nvSpPr>
          <p:spPr>
            <a:xfrm>
              <a:off x="9027458" y="2621184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7B25E871-C189-3F70-2E80-13E57FBEA1E2}"/>
                </a:ext>
              </a:extLst>
            </p:cNvPr>
            <p:cNvCxnSpPr>
              <a:cxnSpLocks/>
            </p:cNvCxnSpPr>
            <p:nvPr/>
          </p:nvCxnSpPr>
          <p:spPr>
            <a:xfrm>
              <a:off x="9082506" y="2722703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73CA58FA-A6E0-F428-F887-0841197AB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2422" y="2722703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0587E9E0-D6E2-3807-C20D-4777A608C83A}"/>
                </a:ext>
              </a:extLst>
            </p:cNvPr>
            <p:cNvSpPr/>
            <p:nvPr/>
          </p:nvSpPr>
          <p:spPr>
            <a:xfrm>
              <a:off x="9144933" y="2848968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6E6A774-B882-1F06-C1D0-D9CA18953E4A}"/>
              </a:ext>
            </a:extLst>
          </p:cNvPr>
          <p:cNvCxnSpPr>
            <a:cxnSpLocks/>
          </p:cNvCxnSpPr>
          <p:nvPr/>
        </p:nvCxnSpPr>
        <p:spPr>
          <a:xfrm>
            <a:off x="8843348" y="3132547"/>
            <a:ext cx="25942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92815500-BB41-5D20-3B35-2581B24271CC}"/>
              </a:ext>
            </a:extLst>
          </p:cNvPr>
          <p:cNvSpPr txBox="1"/>
          <p:nvPr/>
        </p:nvSpPr>
        <p:spPr>
          <a:xfrm>
            <a:off x="8843349" y="2427546"/>
            <a:ext cx="2510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Tenant and Resource Manager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CE0C46E-43CD-C6D2-36A4-2CD527B0C629}"/>
              </a:ext>
            </a:extLst>
          </p:cNvPr>
          <p:cNvSpPr txBox="1"/>
          <p:nvPr/>
        </p:nvSpPr>
        <p:spPr>
          <a:xfrm>
            <a:off x="9914870" y="2121099"/>
            <a:ext cx="3674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API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9A82A61-803E-73DA-A6B1-6830640A8B14}"/>
              </a:ext>
            </a:extLst>
          </p:cNvPr>
          <p:cNvSpPr txBox="1"/>
          <p:nvPr/>
        </p:nvSpPr>
        <p:spPr>
          <a:xfrm>
            <a:off x="8843348" y="3145349"/>
            <a:ext cx="25104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Provision Manager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68AD82-6168-1A7A-B142-24CD5E11752B}"/>
              </a:ext>
            </a:extLst>
          </p:cNvPr>
          <p:cNvGrpSpPr/>
          <p:nvPr/>
        </p:nvGrpSpPr>
        <p:grpSpPr>
          <a:xfrm>
            <a:off x="9472005" y="2695426"/>
            <a:ext cx="1253139" cy="277409"/>
            <a:chOff x="9472005" y="2695426"/>
            <a:chExt cx="1253139" cy="277409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99E046C4-34D2-D123-F20D-B74D5BCEE022}"/>
                </a:ext>
              </a:extLst>
            </p:cNvPr>
            <p:cNvSpPr/>
            <p:nvPr/>
          </p:nvSpPr>
          <p:spPr>
            <a:xfrm>
              <a:off x="9472005" y="2695426"/>
              <a:ext cx="277409" cy="277409"/>
            </a:xfrm>
            <a:prstGeom prst="ellipse">
              <a:avLst/>
            </a:prstGeom>
            <a:solidFill>
              <a:srgbClr val="006EF9">
                <a:alpha val="3014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6" name="Graphic 145" descr="Building outline">
              <a:extLst>
                <a:ext uri="{FF2B5EF4-FFF2-40B4-BE49-F238E27FC236}">
                  <a16:creationId xmlns:a16="http://schemas.microsoft.com/office/drawing/2014/main" id="{28638AC3-E131-48B3-954B-0FFE10571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26041" y="2745211"/>
              <a:ext cx="169338" cy="169338"/>
            </a:xfrm>
            <a:prstGeom prst="rect">
              <a:avLst/>
            </a:prstGeom>
          </p:spPr>
        </p:pic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DB330391-A39A-69DA-CDE8-53FBA26522FB}"/>
                </a:ext>
              </a:extLst>
            </p:cNvPr>
            <p:cNvSpPr/>
            <p:nvPr/>
          </p:nvSpPr>
          <p:spPr>
            <a:xfrm>
              <a:off x="9959870" y="2695426"/>
              <a:ext cx="277409" cy="277409"/>
            </a:xfrm>
            <a:prstGeom prst="ellipse">
              <a:avLst/>
            </a:prstGeom>
            <a:solidFill>
              <a:srgbClr val="006EF9">
                <a:alpha val="3014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0" name="Graphic 59" descr="Database outline">
              <a:extLst>
                <a:ext uri="{FF2B5EF4-FFF2-40B4-BE49-F238E27FC236}">
                  <a16:creationId xmlns:a16="http://schemas.microsoft.com/office/drawing/2014/main" id="{5518B743-EBAA-D142-B559-2301B9A26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005726" y="2734761"/>
              <a:ext cx="185699" cy="185699"/>
            </a:xfrm>
            <a:prstGeom prst="rect">
              <a:avLst/>
            </a:prstGeom>
          </p:spPr>
        </p:pic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42206D2-09C2-6115-D082-373E163CD7C6}"/>
                </a:ext>
              </a:extLst>
            </p:cNvPr>
            <p:cNvSpPr/>
            <p:nvPr/>
          </p:nvSpPr>
          <p:spPr>
            <a:xfrm>
              <a:off x="10447735" y="2695426"/>
              <a:ext cx="277409" cy="277409"/>
            </a:xfrm>
            <a:prstGeom prst="ellipse">
              <a:avLst/>
            </a:prstGeom>
            <a:solidFill>
              <a:srgbClr val="006EF9">
                <a:alpha val="3014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0" name="Graphic 149" descr="Checklist with solid fill">
              <a:extLst>
                <a:ext uri="{FF2B5EF4-FFF2-40B4-BE49-F238E27FC236}">
                  <a16:creationId xmlns:a16="http://schemas.microsoft.com/office/drawing/2014/main" id="{49E8E440-75AF-AD28-3043-D64E44F90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89936" y="2739322"/>
              <a:ext cx="193006" cy="193006"/>
            </a:xfrm>
            <a:prstGeom prst="rect">
              <a:avLst/>
            </a:prstGeom>
          </p:spPr>
        </p:pic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6ACDC6E3-1AEB-0FEB-63F1-18950ADC66D0}"/>
              </a:ext>
            </a:extLst>
          </p:cNvPr>
          <p:cNvSpPr txBox="1"/>
          <p:nvPr/>
        </p:nvSpPr>
        <p:spPr>
          <a:xfrm>
            <a:off x="8817476" y="4941016"/>
            <a:ext cx="25104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Pluggable Agents</a:t>
            </a:r>
          </a:p>
        </p:txBody>
      </p:sp>
    </p:spTree>
    <p:extLst>
      <p:ext uri="{BB962C8B-B14F-4D97-AF65-F5344CB8AC3E}">
        <p14:creationId xmlns:p14="http://schemas.microsoft.com/office/powerpoint/2010/main" val="812959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8FC4EF0-8723-4F2B-47C4-F9226203EDAF}"/>
              </a:ext>
            </a:extLst>
          </p:cNvPr>
          <p:cNvSpPr/>
          <p:nvPr/>
        </p:nvSpPr>
        <p:spPr>
          <a:xfrm>
            <a:off x="6881467" y="4948201"/>
            <a:ext cx="5126636" cy="1735075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  <a:alpha val="4402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D428776-8C80-01D3-55B6-13556790BD64}"/>
              </a:ext>
            </a:extLst>
          </p:cNvPr>
          <p:cNvSpPr/>
          <p:nvPr/>
        </p:nvSpPr>
        <p:spPr>
          <a:xfrm>
            <a:off x="6895475" y="2488330"/>
            <a:ext cx="5126636" cy="2393217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  <a:alpha val="4402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1A79F5-16F1-B284-4348-48CA55CBF6E4}"/>
              </a:ext>
            </a:extLst>
          </p:cNvPr>
          <p:cNvSpPr/>
          <p:nvPr/>
        </p:nvSpPr>
        <p:spPr>
          <a:xfrm>
            <a:off x="6895475" y="761728"/>
            <a:ext cx="5126636" cy="1677543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  <a:alpha val="4402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72" name="Rounded Rectangle 671">
            <a:extLst>
              <a:ext uri="{FF2B5EF4-FFF2-40B4-BE49-F238E27FC236}">
                <a16:creationId xmlns:a16="http://schemas.microsoft.com/office/drawing/2014/main" id="{ECCB74DF-D032-4892-8E3F-1E3ECD966351}"/>
              </a:ext>
            </a:extLst>
          </p:cNvPr>
          <p:cNvSpPr/>
          <p:nvPr/>
        </p:nvSpPr>
        <p:spPr>
          <a:xfrm>
            <a:off x="10190495" y="5186266"/>
            <a:ext cx="1721740" cy="178809"/>
          </a:xfrm>
          <a:prstGeom prst="roundRect">
            <a:avLst>
              <a:gd name="adj" fmla="val 2929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4BC7C0-F149-373C-DBAF-FF400D79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Architecture</a:t>
            </a:r>
          </a:p>
        </p:txBody>
      </p:sp>
      <p:sp>
        <p:nvSpPr>
          <p:cNvPr id="352" name="Content Placeholder 351">
            <a:extLst>
              <a:ext uri="{FF2B5EF4-FFF2-40B4-BE49-F238E27FC236}">
                <a16:creationId xmlns:a16="http://schemas.microsoft.com/office/drawing/2014/main" id="{40FB6C85-1621-BF4D-4B66-3D64E7179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418"/>
            <a:ext cx="5444850" cy="4597545"/>
          </a:xfrm>
        </p:spPr>
        <p:txBody>
          <a:bodyPr/>
          <a:lstStyle/>
          <a:p>
            <a:r>
              <a:rPr lang="en-US" dirty="0"/>
              <a:t>Connect diverse onboarding and management front-ends</a:t>
            </a:r>
          </a:p>
          <a:p>
            <a:r>
              <a:rPr lang="en-US" dirty="0"/>
              <a:t>JAD demonstrator</a:t>
            </a:r>
          </a:p>
          <a:p>
            <a:pPr lvl="1"/>
            <a:r>
              <a:rPr lang="en-US" dirty="0"/>
              <a:t>Ready-to-use reference implementation</a:t>
            </a:r>
          </a:p>
          <a:p>
            <a:pPr lvl="2"/>
            <a:r>
              <a:rPr lang="en-US" dirty="0"/>
              <a:t>Onboarding Frontend</a:t>
            </a:r>
          </a:p>
          <a:p>
            <a:pPr lvl="2"/>
            <a:r>
              <a:rPr lang="en-US" dirty="0"/>
              <a:t>CFM</a:t>
            </a:r>
          </a:p>
          <a:p>
            <a:pPr lvl="2"/>
            <a:r>
              <a:rPr lang="en-US" dirty="0"/>
              <a:t>EDC</a:t>
            </a:r>
          </a:p>
          <a:p>
            <a:pPr lvl="1"/>
            <a:endParaRPr lang="en-US" dirty="0"/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7B8B7ACF-EA74-3F09-657B-05B154A7E4B1}"/>
              </a:ext>
            </a:extLst>
          </p:cNvPr>
          <p:cNvSpPr/>
          <p:nvPr/>
        </p:nvSpPr>
        <p:spPr>
          <a:xfrm>
            <a:off x="8120953" y="2629220"/>
            <a:ext cx="2098437" cy="1700825"/>
          </a:xfrm>
          <a:prstGeom prst="roundRect">
            <a:avLst>
              <a:gd name="adj" fmla="val 6825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29FF084-1CAE-CDA2-0AED-F092E2ABAFD0}"/>
              </a:ext>
            </a:extLst>
          </p:cNvPr>
          <p:cNvGrpSpPr/>
          <p:nvPr/>
        </p:nvGrpSpPr>
        <p:grpSpPr>
          <a:xfrm>
            <a:off x="8431817" y="4064543"/>
            <a:ext cx="408259" cy="691717"/>
            <a:chOff x="9230899" y="4931678"/>
            <a:chExt cx="488418" cy="827531"/>
          </a:xfrm>
        </p:grpSpPr>
        <p:sp>
          <p:nvSpPr>
            <p:cNvPr id="175" name="Rounded Rectangle 174">
              <a:extLst>
                <a:ext uri="{FF2B5EF4-FFF2-40B4-BE49-F238E27FC236}">
                  <a16:creationId xmlns:a16="http://schemas.microsoft.com/office/drawing/2014/main" id="{70639EC7-F015-5B98-E19C-C0E05EAFA9B8}"/>
                </a:ext>
              </a:extLst>
            </p:cNvPr>
            <p:cNvSpPr/>
            <p:nvPr/>
          </p:nvSpPr>
          <p:spPr>
            <a:xfrm>
              <a:off x="9230899" y="5304028"/>
              <a:ext cx="488418" cy="455181"/>
            </a:xfrm>
            <a:prstGeom prst="roundRect">
              <a:avLst>
                <a:gd name="adj" fmla="val 10092"/>
              </a:avLst>
            </a:prstGeom>
            <a:solidFill>
              <a:srgbClr val="002060">
                <a:alpha val="5596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44BB95F4-6965-0CB5-89D0-FC25155401AF}"/>
                </a:ext>
              </a:extLst>
            </p:cNvPr>
            <p:cNvGrpSpPr/>
            <p:nvPr/>
          </p:nvGrpSpPr>
          <p:grpSpPr>
            <a:xfrm>
              <a:off x="9358050" y="4931678"/>
              <a:ext cx="240099" cy="553374"/>
              <a:chOff x="8838229" y="5898364"/>
              <a:chExt cx="240099" cy="553374"/>
            </a:xfrm>
            <a:solidFill>
              <a:srgbClr val="006EF9"/>
            </a:solidFill>
          </p:grpSpPr>
          <p:sp>
            <p:nvSpPr>
              <p:cNvPr id="177" name="Rounded Rectangle 176">
                <a:extLst>
                  <a:ext uri="{FF2B5EF4-FFF2-40B4-BE49-F238E27FC236}">
                    <a16:creationId xmlns:a16="http://schemas.microsoft.com/office/drawing/2014/main" id="{F1CC38DF-9F3F-C03B-1FBB-995CF9E720D9}"/>
                  </a:ext>
                </a:extLst>
              </p:cNvPr>
              <p:cNvSpPr/>
              <p:nvPr/>
            </p:nvSpPr>
            <p:spPr>
              <a:xfrm>
                <a:off x="8838229" y="5898364"/>
                <a:ext cx="234117" cy="553374"/>
              </a:xfrm>
              <a:prstGeom prst="roundRect">
                <a:avLst/>
              </a:prstGeom>
              <a:grpFill/>
              <a:ln w="12700">
                <a:solidFill>
                  <a:srgbClr val="EFF9F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C2A2E050-45EC-2510-0A67-BB49D8241515}"/>
                  </a:ext>
                </a:extLst>
              </p:cNvPr>
              <p:cNvCxnSpPr/>
              <p:nvPr/>
            </p:nvCxnSpPr>
            <p:spPr>
              <a:xfrm>
                <a:off x="8838229" y="6039650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2B05EA83-BBE4-F811-1522-827A0C52FD71}"/>
                  </a:ext>
                </a:extLst>
              </p:cNvPr>
              <p:cNvCxnSpPr/>
              <p:nvPr/>
            </p:nvCxnSpPr>
            <p:spPr>
              <a:xfrm>
                <a:off x="8844211" y="6175682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2C666E2B-7364-3DA6-4221-45CD14FEA8C1}"/>
                  </a:ext>
                </a:extLst>
              </p:cNvPr>
              <p:cNvCxnSpPr/>
              <p:nvPr/>
            </p:nvCxnSpPr>
            <p:spPr>
              <a:xfrm>
                <a:off x="8838229" y="6311714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C20A6C4-2C94-DFD3-8D9D-CD6BCA3700D8}"/>
              </a:ext>
            </a:extLst>
          </p:cNvPr>
          <p:cNvGrpSpPr/>
          <p:nvPr/>
        </p:nvGrpSpPr>
        <p:grpSpPr>
          <a:xfrm>
            <a:off x="8966042" y="4063476"/>
            <a:ext cx="408259" cy="691717"/>
            <a:chOff x="9230899" y="4931678"/>
            <a:chExt cx="488418" cy="827531"/>
          </a:xfrm>
        </p:grpSpPr>
        <p:sp>
          <p:nvSpPr>
            <p:cNvPr id="182" name="Rounded Rectangle 181">
              <a:extLst>
                <a:ext uri="{FF2B5EF4-FFF2-40B4-BE49-F238E27FC236}">
                  <a16:creationId xmlns:a16="http://schemas.microsoft.com/office/drawing/2014/main" id="{2CF541F4-EDBB-C359-DF14-E76C5CBFDDD1}"/>
                </a:ext>
              </a:extLst>
            </p:cNvPr>
            <p:cNvSpPr/>
            <p:nvPr/>
          </p:nvSpPr>
          <p:spPr>
            <a:xfrm>
              <a:off x="9230899" y="5304028"/>
              <a:ext cx="488418" cy="455181"/>
            </a:xfrm>
            <a:prstGeom prst="roundRect">
              <a:avLst>
                <a:gd name="adj" fmla="val 10092"/>
              </a:avLst>
            </a:prstGeom>
            <a:solidFill>
              <a:srgbClr val="002060">
                <a:alpha val="5596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FB8077CF-9B58-8762-AF0A-F5BEC5C8F48E}"/>
                </a:ext>
              </a:extLst>
            </p:cNvPr>
            <p:cNvGrpSpPr/>
            <p:nvPr/>
          </p:nvGrpSpPr>
          <p:grpSpPr>
            <a:xfrm>
              <a:off x="9358050" y="4931678"/>
              <a:ext cx="240099" cy="553374"/>
              <a:chOff x="8838229" y="5898364"/>
              <a:chExt cx="240099" cy="553374"/>
            </a:xfrm>
            <a:solidFill>
              <a:srgbClr val="006EF9"/>
            </a:solidFill>
          </p:grpSpPr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C2EEB95B-BF90-6DA9-56A9-5F1E077AB1B3}"/>
                  </a:ext>
                </a:extLst>
              </p:cNvPr>
              <p:cNvSpPr/>
              <p:nvPr/>
            </p:nvSpPr>
            <p:spPr>
              <a:xfrm>
                <a:off x="8838229" y="5898364"/>
                <a:ext cx="234117" cy="553374"/>
              </a:xfrm>
              <a:prstGeom prst="roundRect">
                <a:avLst/>
              </a:prstGeom>
              <a:grpFill/>
              <a:ln w="12700">
                <a:solidFill>
                  <a:srgbClr val="EFF9F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15F8B75A-C115-EC7B-0E47-CFC8DA5EE0AB}"/>
                  </a:ext>
                </a:extLst>
              </p:cNvPr>
              <p:cNvCxnSpPr/>
              <p:nvPr/>
            </p:nvCxnSpPr>
            <p:spPr>
              <a:xfrm>
                <a:off x="8838229" y="6039650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8D4E48DC-7260-D357-8F27-92384D95605B}"/>
                  </a:ext>
                </a:extLst>
              </p:cNvPr>
              <p:cNvCxnSpPr/>
              <p:nvPr/>
            </p:nvCxnSpPr>
            <p:spPr>
              <a:xfrm>
                <a:off x="8844211" y="6175682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9AEFBCFA-AEF4-FF93-0F6A-B1596DA4A20C}"/>
                  </a:ext>
                </a:extLst>
              </p:cNvPr>
              <p:cNvCxnSpPr/>
              <p:nvPr/>
            </p:nvCxnSpPr>
            <p:spPr>
              <a:xfrm>
                <a:off x="8838229" y="6311714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E895D5F-6907-35D4-7A14-7976A70BA278}"/>
              </a:ext>
            </a:extLst>
          </p:cNvPr>
          <p:cNvGrpSpPr/>
          <p:nvPr/>
        </p:nvGrpSpPr>
        <p:grpSpPr>
          <a:xfrm>
            <a:off x="9529934" y="4062408"/>
            <a:ext cx="408259" cy="691717"/>
            <a:chOff x="9230899" y="4931678"/>
            <a:chExt cx="488418" cy="827531"/>
          </a:xfrm>
        </p:grpSpPr>
        <p:sp>
          <p:nvSpPr>
            <p:cNvPr id="189" name="Rounded Rectangle 188">
              <a:extLst>
                <a:ext uri="{FF2B5EF4-FFF2-40B4-BE49-F238E27FC236}">
                  <a16:creationId xmlns:a16="http://schemas.microsoft.com/office/drawing/2014/main" id="{9F2380BB-2BCB-B75A-D451-85770D931959}"/>
                </a:ext>
              </a:extLst>
            </p:cNvPr>
            <p:cNvSpPr/>
            <p:nvPr/>
          </p:nvSpPr>
          <p:spPr>
            <a:xfrm>
              <a:off x="9230899" y="5304028"/>
              <a:ext cx="488418" cy="455181"/>
            </a:xfrm>
            <a:prstGeom prst="roundRect">
              <a:avLst>
                <a:gd name="adj" fmla="val 10092"/>
              </a:avLst>
            </a:prstGeom>
            <a:solidFill>
              <a:srgbClr val="002060">
                <a:alpha val="5596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AAB81FC9-9DFF-36C3-0AEC-A7E1857630F7}"/>
                </a:ext>
              </a:extLst>
            </p:cNvPr>
            <p:cNvGrpSpPr/>
            <p:nvPr/>
          </p:nvGrpSpPr>
          <p:grpSpPr>
            <a:xfrm>
              <a:off x="9358050" y="4931678"/>
              <a:ext cx="240099" cy="553374"/>
              <a:chOff x="8838229" y="5898364"/>
              <a:chExt cx="240099" cy="553374"/>
            </a:xfrm>
            <a:solidFill>
              <a:srgbClr val="006EF9"/>
            </a:solidFill>
          </p:grpSpPr>
          <p:sp>
            <p:nvSpPr>
              <p:cNvPr id="191" name="Rounded Rectangle 190">
                <a:extLst>
                  <a:ext uri="{FF2B5EF4-FFF2-40B4-BE49-F238E27FC236}">
                    <a16:creationId xmlns:a16="http://schemas.microsoft.com/office/drawing/2014/main" id="{A35A73E7-9EF3-600A-99B9-540705FD9725}"/>
                  </a:ext>
                </a:extLst>
              </p:cNvPr>
              <p:cNvSpPr/>
              <p:nvPr/>
            </p:nvSpPr>
            <p:spPr>
              <a:xfrm>
                <a:off x="8838229" y="5898364"/>
                <a:ext cx="234117" cy="553374"/>
              </a:xfrm>
              <a:prstGeom prst="roundRect">
                <a:avLst/>
              </a:prstGeom>
              <a:grpFill/>
              <a:ln w="12700">
                <a:solidFill>
                  <a:srgbClr val="EFF9F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F84936D6-094A-27DE-28E3-98A29D2C9EBE}"/>
                  </a:ext>
                </a:extLst>
              </p:cNvPr>
              <p:cNvCxnSpPr/>
              <p:nvPr/>
            </p:nvCxnSpPr>
            <p:spPr>
              <a:xfrm>
                <a:off x="8838229" y="6039650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EE79F981-F4E2-A304-A501-06FC8E5E9308}"/>
                  </a:ext>
                </a:extLst>
              </p:cNvPr>
              <p:cNvCxnSpPr/>
              <p:nvPr/>
            </p:nvCxnSpPr>
            <p:spPr>
              <a:xfrm>
                <a:off x="8844211" y="6175682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DE664FA3-9B0E-6887-BBBE-2C8E2DCFB41F}"/>
                  </a:ext>
                </a:extLst>
              </p:cNvPr>
              <p:cNvCxnSpPr/>
              <p:nvPr/>
            </p:nvCxnSpPr>
            <p:spPr>
              <a:xfrm>
                <a:off x="8838229" y="6311714"/>
                <a:ext cx="234117" cy="0"/>
              </a:xfrm>
              <a:prstGeom prst="line">
                <a:avLst/>
              </a:prstGeom>
              <a:grpFill/>
              <a:ln>
                <a:solidFill>
                  <a:srgbClr val="EFF9F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9645BD9-F955-FA5C-42A9-93A1BD3CAD20}"/>
              </a:ext>
            </a:extLst>
          </p:cNvPr>
          <p:cNvCxnSpPr>
            <a:cxnSpLocks/>
          </p:cNvCxnSpPr>
          <p:nvPr/>
        </p:nvCxnSpPr>
        <p:spPr>
          <a:xfrm>
            <a:off x="8120953" y="3028803"/>
            <a:ext cx="21684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D1F91FFA-4C07-1AAA-2009-45E80A4AB18A}"/>
              </a:ext>
            </a:extLst>
          </p:cNvPr>
          <p:cNvGrpSpPr/>
          <p:nvPr/>
        </p:nvGrpSpPr>
        <p:grpSpPr>
          <a:xfrm>
            <a:off x="8487445" y="3562510"/>
            <a:ext cx="235370" cy="376480"/>
            <a:chOff x="9027458" y="2389409"/>
            <a:chExt cx="353460" cy="565369"/>
          </a:xfrm>
        </p:grpSpPr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825166FB-F75C-4BF2-5991-944DF48A62A5}"/>
                </a:ext>
              </a:extLst>
            </p:cNvPr>
            <p:cNvSpPr/>
            <p:nvPr/>
          </p:nvSpPr>
          <p:spPr>
            <a:xfrm>
              <a:off x="9144933" y="2389409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15A30939-6269-FFC8-A5B7-784FB4D9D09A}"/>
                </a:ext>
              </a:extLst>
            </p:cNvPr>
            <p:cNvCxnSpPr>
              <a:cxnSpLocks/>
            </p:cNvCxnSpPr>
            <p:nvPr/>
          </p:nvCxnSpPr>
          <p:spPr>
            <a:xfrm>
              <a:off x="9223104" y="2484725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EFEFAB20-6E6B-586D-D1CC-097AC84C17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82506" y="2490928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34BD2319-0227-634A-9B92-446BD022D5A7}"/>
                </a:ext>
              </a:extLst>
            </p:cNvPr>
            <p:cNvSpPr/>
            <p:nvPr/>
          </p:nvSpPr>
          <p:spPr>
            <a:xfrm>
              <a:off x="9275108" y="2621184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35F18E99-3F99-AB38-0398-B3A707879CBF}"/>
                </a:ext>
              </a:extLst>
            </p:cNvPr>
            <p:cNvSpPr/>
            <p:nvPr/>
          </p:nvSpPr>
          <p:spPr>
            <a:xfrm>
              <a:off x="9027458" y="2621184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D596FE55-6F27-7886-8398-FE25D6EA53F3}"/>
                </a:ext>
              </a:extLst>
            </p:cNvPr>
            <p:cNvCxnSpPr>
              <a:cxnSpLocks/>
            </p:cNvCxnSpPr>
            <p:nvPr/>
          </p:nvCxnSpPr>
          <p:spPr>
            <a:xfrm>
              <a:off x="9082506" y="2722703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18AEB09D-04A7-3573-1C2A-136317BB5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2422" y="2722703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91D97C41-F714-5322-4B4F-09966952E366}"/>
                </a:ext>
              </a:extLst>
            </p:cNvPr>
            <p:cNvSpPr/>
            <p:nvPr/>
          </p:nvSpPr>
          <p:spPr>
            <a:xfrm>
              <a:off x="9144933" y="2848968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401CF249-96CD-E8EA-7639-A333CB67109D}"/>
              </a:ext>
            </a:extLst>
          </p:cNvPr>
          <p:cNvGrpSpPr/>
          <p:nvPr/>
        </p:nvGrpSpPr>
        <p:grpSpPr>
          <a:xfrm>
            <a:off x="9052487" y="3563839"/>
            <a:ext cx="235370" cy="376480"/>
            <a:chOff x="9027458" y="2389409"/>
            <a:chExt cx="353460" cy="565369"/>
          </a:xfrm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4002A6A5-B3DA-551C-A0A3-A768915C8429}"/>
                </a:ext>
              </a:extLst>
            </p:cNvPr>
            <p:cNvSpPr/>
            <p:nvPr/>
          </p:nvSpPr>
          <p:spPr>
            <a:xfrm>
              <a:off x="9144933" y="2389409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A731BE73-3626-32BD-40C6-372C0E616352}"/>
                </a:ext>
              </a:extLst>
            </p:cNvPr>
            <p:cNvCxnSpPr>
              <a:cxnSpLocks/>
            </p:cNvCxnSpPr>
            <p:nvPr/>
          </p:nvCxnSpPr>
          <p:spPr>
            <a:xfrm>
              <a:off x="9223104" y="2484725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5A3D0F0A-E3BA-2126-B022-B6DF27538D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82506" y="2490928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451FA4F6-B78E-0D51-F44D-155196CC6AF2}"/>
                </a:ext>
              </a:extLst>
            </p:cNvPr>
            <p:cNvSpPr/>
            <p:nvPr/>
          </p:nvSpPr>
          <p:spPr>
            <a:xfrm>
              <a:off x="9275108" y="2621184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A7A50DB6-194F-ABAF-2980-61216AB9C656}"/>
                </a:ext>
              </a:extLst>
            </p:cNvPr>
            <p:cNvSpPr/>
            <p:nvPr/>
          </p:nvSpPr>
          <p:spPr>
            <a:xfrm>
              <a:off x="9027458" y="2621184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343DF437-041C-6962-EB87-DD6AE551AF6C}"/>
                </a:ext>
              </a:extLst>
            </p:cNvPr>
            <p:cNvCxnSpPr>
              <a:cxnSpLocks/>
            </p:cNvCxnSpPr>
            <p:nvPr/>
          </p:nvCxnSpPr>
          <p:spPr>
            <a:xfrm>
              <a:off x="9082506" y="2722703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C4C8F3DF-ABC2-1E62-5EE5-97F146EEB6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2422" y="2722703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4DD740B4-E68C-8714-00ED-3104768F026A}"/>
                </a:ext>
              </a:extLst>
            </p:cNvPr>
            <p:cNvSpPr/>
            <p:nvPr/>
          </p:nvSpPr>
          <p:spPr>
            <a:xfrm>
              <a:off x="9144933" y="2848968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962147C-21DE-6CEC-520C-5D9697AEFD4A}"/>
              </a:ext>
            </a:extLst>
          </p:cNvPr>
          <p:cNvGrpSpPr/>
          <p:nvPr/>
        </p:nvGrpSpPr>
        <p:grpSpPr>
          <a:xfrm>
            <a:off x="9628509" y="3580956"/>
            <a:ext cx="235370" cy="376480"/>
            <a:chOff x="9027458" y="2389409"/>
            <a:chExt cx="353460" cy="565369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768437F6-C467-D0AD-76A7-B2ACA5C3CF5F}"/>
                </a:ext>
              </a:extLst>
            </p:cNvPr>
            <p:cNvSpPr/>
            <p:nvPr/>
          </p:nvSpPr>
          <p:spPr>
            <a:xfrm>
              <a:off x="9144933" y="2389409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45D795EA-131B-DCBA-0238-D4ADBDF2CE0C}"/>
                </a:ext>
              </a:extLst>
            </p:cNvPr>
            <p:cNvCxnSpPr>
              <a:cxnSpLocks/>
            </p:cNvCxnSpPr>
            <p:nvPr/>
          </p:nvCxnSpPr>
          <p:spPr>
            <a:xfrm>
              <a:off x="9223104" y="2484725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Arrow Connector 216">
              <a:extLst>
                <a:ext uri="{FF2B5EF4-FFF2-40B4-BE49-F238E27FC236}">
                  <a16:creationId xmlns:a16="http://schemas.microsoft.com/office/drawing/2014/main" id="{24111DC2-8845-CCF0-D5C8-8CBFEE48AD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82506" y="2490928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54B04464-6470-BCBA-A34E-16C5CD140957}"/>
                </a:ext>
              </a:extLst>
            </p:cNvPr>
            <p:cNvSpPr/>
            <p:nvPr/>
          </p:nvSpPr>
          <p:spPr>
            <a:xfrm>
              <a:off x="9275108" y="2621184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66C1697A-06F0-2F3C-B27D-FA20E0B78732}"/>
                </a:ext>
              </a:extLst>
            </p:cNvPr>
            <p:cNvSpPr/>
            <p:nvPr/>
          </p:nvSpPr>
          <p:spPr>
            <a:xfrm>
              <a:off x="9027458" y="2621184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1F8A5556-D262-78D2-009F-C55351924EB9}"/>
                </a:ext>
              </a:extLst>
            </p:cNvPr>
            <p:cNvCxnSpPr>
              <a:cxnSpLocks/>
            </p:cNvCxnSpPr>
            <p:nvPr/>
          </p:nvCxnSpPr>
          <p:spPr>
            <a:xfrm>
              <a:off x="9082506" y="2722703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15D5132B-8D0A-D190-F7F2-03A9165445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2422" y="2722703"/>
              <a:ext cx="99969" cy="110480"/>
            </a:xfrm>
            <a:prstGeom prst="straightConnector1">
              <a:avLst/>
            </a:prstGeom>
            <a:ln w="12700">
              <a:solidFill>
                <a:srgbClr val="8DEBF9"/>
              </a:solidFill>
              <a:headEnd w="med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D61C26D1-6327-8CB1-871F-4135579CCAE6}"/>
                </a:ext>
              </a:extLst>
            </p:cNvPr>
            <p:cNvSpPr/>
            <p:nvPr/>
          </p:nvSpPr>
          <p:spPr>
            <a:xfrm>
              <a:off x="9144933" y="2848968"/>
              <a:ext cx="105810" cy="105810"/>
            </a:xfrm>
            <a:prstGeom prst="ellipse">
              <a:avLst/>
            </a:prstGeom>
            <a:noFill/>
            <a:ln w="12700">
              <a:solidFill>
                <a:srgbClr val="8DE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9E6EC056-C885-7E63-A7F9-730674F6A7CC}"/>
              </a:ext>
            </a:extLst>
          </p:cNvPr>
          <p:cNvCxnSpPr>
            <a:cxnSpLocks/>
          </p:cNvCxnSpPr>
          <p:nvPr/>
        </p:nvCxnSpPr>
        <p:spPr>
          <a:xfrm>
            <a:off x="8120953" y="3458696"/>
            <a:ext cx="21684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454268A4-BBA5-8A73-82A1-15CC1724392A}"/>
              </a:ext>
            </a:extLst>
          </p:cNvPr>
          <p:cNvSpPr txBox="1"/>
          <p:nvPr/>
        </p:nvSpPr>
        <p:spPr>
          <a:xfrm>
            <a:off x="8986467" y="2709748"/>
            <a:ext cx="3674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API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63E62D65-2C29-6784-5392-1F77F3414145}"/>
              </a:ext>
            </a:extLst>
          </p:cNvPr>
          <p:cNvSpPr txBox="1"/>
          <p:nvPr/>
        </p:nvSpPr>
        <p:spPr>
          <a:xfrm>
            <a:off x="8120953" y="3312785"/>
            <a:ext cx="20984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" dirty="0">
              <a:solidFill>
                <a:schemeClr val="bg1"/>
              </a:solidFill>
            </a:endParaRP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6D3DD91D-87F3-F25C-72E9-9E94B14EEEDD}"/>
              </a:ext>
            </a:extLst>
          </p:cNvPr>
          <p:cNvGrpSpPr/>
          <p:nvPr/>
        </p:nvGrpSpPr>
        <p:grpSpPr>
          <a:xfrm>
            <a:off x="8646435" y="3141903"/>
            <a:ext cx="231881" cy="231879"/>
            <a:chOff x="9074076" y="3568653"/>
            <a:chExt cx="277409" cy="277407"/>
          </a:xfrm>
        </p:grpSpPr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C74F5580-B727-37A3-E176-B2530AD78C51}"/>
                </a:ext>
              </a:extLst>
            </p:cNvPr>
            <p:cNvSpPr/>
            <p:nvPr/>
          </p:nvSpPr>
          <p:spPr>
            <a:xfrm>
              <a:off x="9074076" y="3568653"/>
              <a:ext cx="277409" cy="277407"/>
            </a:xfrm>
            <a:prstGeom prst="ellipse">
              <a:avLst/>
            </a:prstGeom>
            <a:solidFill>
              <a:srgbClr val="006EF9">
                <a:alpha val="3014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6" name="Graphic 235" descr="Building outline">
              <a:extLst>
                <a:ext uri="{FF2B5EF4-FFF2-40B4-BE49-F238E27FC236}">
                  <a16:creationId xmlns:a16="http://schemas.microsoft.com/office/drawing/2014/main" id="{D9AB0263-A4F8-4BF1-D77B-98A8616F1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28112" y="3618438"/>
              <a:ext cx="169338" cy="169338"/>
            </a:xfrm>
            <a:prstGeom prst="rect">
              <a:avLst/>
            </a:prstGeom>
          </p:spPr>
        </p:pic>
      </p:grpSp>
      <p:sp>
        <p:nvSpPr>
          <p:cNvPr id="233" name="Oval 232">
            <a:extLst>
              <a:ext uri="{FF2B5EF4-FFF2-40B4-BE49-F238E27FC236}">
                <a16:creationId xmlns:a16="http://schemas.microsoft.com/office/drawing/2014/main" id="{4F12F3B5-2635-2875-5D7E-9CA6891A3B4D}"/>
              </a:ext>
            </a:extLst>
          </p:cNvPr>
          <p:cNvSpPr/>
          <p:nvPr/>
        </p:nvSpPr>
        <p:spPr>
          <a:xfrm>
            <a:off x="9054232" y="3141903"/>
            <a:ext cx="231881" cy="231881"/>
          </a:xfrm>
          <a:prstGeom prst="ellipse">
            <a:avLst/>
          </a:prstGeom>
          <a:solidFill>
            <a:srgbClr val="006EF9">
              <a:alpha val="3014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4" name="Graphic 233" descr="Database outline">
            <a:extLst>
              <a:ext uri="{FF2B5EF4-FFF2-40B4-BE49-F238E27FC236}">
                <a16:creationId xmlns:a16="http://schemas.microsoft.com/office/drawing/2014/main" id="{08489779-AFC8-AA75-4B6F-1CB573C4D4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92562" y="3174782"/>
            <a:ext cx="155222" cy="155222"/>
          </a:xfrm>
          <a:prstGeom prst="rect">
            <a:avLst/>
          </a:prstGeom>
        </p:spPr>
      </p:pic>
      <p:sp>
        <p:nvSpPr>
          <p:cNvPr id="231" name="Oval 230">
            <a:extLst>
              <a:ext uri="{FF2B5EF4-FFF2-40B4-BE49-F238E27FC236}">
                <a16:creationId xmlns:a16="http://schemas.microsoft.com/office/drawing/2014/main" id="{BD7675CF-641F-56F1-A6B6-A682B5B901BC}"/>
              </a:ext>
            </a:extLst>
          </p:cNvPr>
          <p:cNvSpPr/>
          <p:nvPr/>
        </p:nvSpPr>
        <p:spPr>
          <a:xfrm>
            <a:off x="9462028" y="3141903"/>
            <a:ext cx="231881" cy="231881"/>
          </a:xfrm>
          <a:prstGeom prst="ellipse">
            <a:avLst/>
          </a:prstGeom>
          <a:solidFill>
            <a:srgbClr val="006EF9">
              <a:alpha val="3014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2" name="Graphic 231" descr="Checklist with solid fill">
            <a:extLst>
              <a:ext uri="{FF2B5EF4-FFF2-40B4-BE49-F238E27FC236}">
                <a16:creationId xmlns:a16="http://schemas.microsoft.com/office/drawing/2014/main" id="{0B4EEE63-296F-7D51-3637-FCC7F74C0C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7303" y="3178595"/>
            <a:ext cx="161330" cy="161330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2CC46EF1-E6EA-9ED0-16FB-7189A9F00B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1414" y="1480144"/>
            <a:ext cx="1066008" cy="447460"/>
          </a:xfrm>
          <a:prstGeom prst="rect">
            <a:avLst/>
          </a:prstGeom>
        </p:spPr>
      </p:pic>
      <p:grpSp>
        <p:nvGrpSpPr>
          <p:cNvPr id="342" name="Group 341">
            <a:extLst>
              <a:ext uri="{FF2B5EF4-FFF2-40B4-BE49-F238E27FC236}">
                <a16:creationId xmlns:a16="http://schemas.microsoft.com/office/drawing/2014/main" id="{AE9E07FA-4B9C-B90F-B0C5-584884EBF838}"/>
              </a:ext>
            </a:extLst>
          </p:cNvPr>
          <p:cNvGrpSpPr/>
          <p:nvPr/>
        </p:nvGrpSpPr>
        <p:grpSpPr>
          <a:xfrm>
            <a:off x="8326263" y="1144105"/>
            <a:ext cx="992186" cy="992184"/>
            <a:chOff x="7783873" y="527503"/>
            <a:chExt cx="1474969" cy="1474966"/>
          </a:xfrm>
        </p:grpSpPr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BDB87701-702A-4756-4600-26495F283D59}"/>
                </a:ext>
              </a:extLst>
            </p:cNvPr>
            <p:cNvSpPr/>
            <p:nvPr/>
          </p:nvSpPr>
          <p:spPr>
            <a:xfrm>
              <a:off x="7783873" y="527503"/>
              <a:ext cx="1474969" cy="1474966"/>
            </a:xfrm>
            <a:prstGeom prst="ellipse">
              <a:avLst/>
            </a:prstGeom>
            <a:solidFill>
              <a:schemeClr val="bg1">
                <a:alpha val="80027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42" name="Graphic 241">
              <a:extLst>
                <a:ext uri="{FF2B5EF4-FFF2-40B4-BE49-F238E27FC236}">
                  <a16:creationId xmlns:a16="http://schemas.microsoft.com/office/drawing/2014/main" id="{8EB811C8-0A42-1914-D844-EC13D3EC8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184910" y="1401545"/>
              <a:ext cx="648864" cy="352240"/>
            </a:xfrm>
            <a:prstGeom prst="rect">
              <a:avLst/>
            </a:prstGeom>
          </p:spPr>
        </p:pic>
        <p:pic>
          <p:nvPicPr>
            <p:cNvPr id="244" name="Graphic 243">
              <a:extLst>
                <a:ext uri="{FF2B5EF4-FFF2-40B4-BE49-F238E27FC236}">
                  <a16:creationId xmlns:a16="http://schemas.microsoft.com/office/drawing/2014/main" id="{FDAA4DF9-9B42-841B-84C4-FDF06465B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014213" y="949298"/>
              <a:ext cx="1100557" cy="308156"/>
            </a:xfrm>
            <a:prstGeom prst="rect">
              <a:avLst/>
            </a:prstGeom>
          </p:spPr>
        </p:pic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A07AFB94-66E1-23E6-D393-5195561B15C1}"/>
              </a:ext>
            </a:extLst>
          </p:cNvPr>
          <p:cNvGrpSpPr/>
          <p:nvPr/>
        </p:nvGrpSpPr>
        <p:grpSpPr>
          <a:xfrm>
            <a:off x="10190494" y="4177836"/>
            <a:ext cx="1721741" cy="2138860"/>
            <a:chOff x="3287925" y="3979159"/>
            <a:chExt cx="2819082" cy="3502049"/>
          </a:xfrm>
        </p:grpSpPr>
        <p:grpSp>
          <p:nvGrpSpPr>
            <p:cNvPr id="417" name="Group 416">
              <a:extLst>
                <a:ext uri="{FF2B5EF4-FFF2-40B4-BE49-F238E27FC236}">
                  <a16:creationId xmlns:a16="http://schemas.microsoft.com/office/drawing/2014/main" id="{B1297BC2-407C-6011-55B2-2E9684CCAF7F}"/>
                </a:ext>
              </a:extLst>
            </p:cNvPr>
            <p:cNvGrpSpPr/>
            <p:nvPr/>
          </p:nvGrpSpPr>
          <p:grpSpPr>
            <a:xfrm>
              <a:off x="3598002" y="4407308"/>
              <a:ext cx="833943" cy="833943"/>
              <a:chOff x="6137723" y="4998297"/>
              <a:chExt cx="1658462" cy="1658462"/>
            </a:xfrm>
          </p:grpSpPr>
          <p:sp>
            <p:nvSpPr>
              <p:cNvPr id="418" name="Oval 417">
                <a:extLst>
                  <a:ext uri="{FF2B5EF4-FFF2-40B4-BE49-F238E27FC236}">
                    <a16:creationId xmlns:a16="http://schemas.microsoft.com/office/drawing/2014/main" id="{B2ABDC68-4307-3BFE-848A-5F8C518C7DD1}"/>
                  </a:ext>
                </a:extLst>
              </p:cNvPr>
              <p:cNvSpPr/>
              <p:nvPr/>
            </p:nvSpPr>
            <p:spPr>
              <a:xfrm>
                <a:off x="6137723" y="4998297"/>
                <a:ext cx="1658462" cy="1658462"/>
              </a:xfrm>
              <a:prstGeom prst="ellipse">
                <a:avLst/>
              </a:prstGeom>
              <a:solidFill>
                <a:srgbClr val="006EF9">
                  <a:alpha val="32597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9" name="Straight Connector 418">
                <a:extLst>
                  <a:ext uri="{FF2B5EF4-FFF2-40B4-BE49-F238E27FC236}">
                    <a16:creationId xmlns:a16="http://schemas.microsoft.com/office/drawing/2014/main" id="{498CA693-1312-8894-A1D6-5755F7D526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25329" y="5796568"/>
                <a:ext cx="869531" cy="467910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Straight Connector 419">
                <a:extLst>
                  <a:ext uri="{FF2B5EF4-FFF2-40B4-BE49-F238E27FC236}">
                    <a16:creationId xmlns:a16="http://schemas.microsoft.com/office/drawing/2014/main" id="{2DBDF217-FC52-8458-1D69-0C7052B89F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07757" y="5390310"/>
                <a:ext cx="216041" cy="640213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>
                <a:extLst>
                  <a:ext uri="{FF2B5EF4-FFF2-40B4-BE49-F238E27FC236}">
                    <a16:creationId xmlns:a16="http://schemas.microsoft.com/office/drawing/2014/main" id="{D6029851-2136-0D1F-14E9-3DE5B2CD9B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771013" y="5460496"/>
                <a:ext cx="236744" cy="490696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id="{F6010998-7B8D-6CE4-DEA9-571C4908B2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73061" y="5364569"/>
                <a:ext cx="457658" cy="108692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Straight Connector 422">
                <a:extLst>
                  <a:ext uri="{FF2B5EF4-FFF2-40B4-BE49-F238E27FC236}">
                    <a16:creationId xmlns:a16="http://schemas.microsoft.com/office/drawing/2014/main" id="{F6705EEE-3FBA-ADF9-6429-5275D5675A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61350" y="5472242"/>
                <a:ext cx="267327" cy="371987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C521646A-2041-EF20-22D7-A152496E92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272935" y="5464146"/>
                <a:ext cx="221925" cy="349302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881BFF2F-7AA5-6B8A-6A13-FD08863386E0}"/>
                  </a:ext>
                </a:extLst>
              </p:cNvPr>
              <p:cNvCxnSpPr>
                <a:cxnSpLocks/>
                <a:endCxn id="439" idx="2"/>
              </p:cNvCxnSpPr>
              <p:nvPr/>
            </p:nvCxnSpPr>
            <p:spPr>
              <a:xfrm flipH="1" flipV="1">
                <a:off x="6465979" y="5951192"/>
                <a:ext cx="176803" cy="310440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26" name="Group 425">
                <a:extLst>
                  <a:ext uri="{FF2B5EF4-FFF2-40B4-BE49-F238E27FC236}">
                    <a16:creationId xmlns:a16="http://schemas.microsoft.com/office/drawing/2014/main" id="{A01CB0DA-1EA5-4711-359A-4261C346FC82}"/>
                  </a:ext>
                </a:extLst>
              </p:cNvPr>
              <p:cNvGrpSpPr/>
              <p:nvPr/>
            </p:nvGrpSpPr>
            <p:grpSpPr>
              <a:xfrm>
                <a:off x="7022643" y="5209498"/>
                <a:ext cx="402311" cy="402311"/>
                <a:chOff x="7569200" y="4053840"/>
                <a:chExt cx="609600" cy="609600"/>
              </a:xfrm>
            </p:grpSpPr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8FADE672-09C8-A2FE-E1A6-F930F1B3A0F6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43" name="Graphic 442" descr="Building outline">
                  <a:extLst>
                    <a:ext uri="{FF2B5EF4-FFF2-40B4-BE49-F238E27FC236}">
                      <a16:creationId xmlns:a16="http://schemas.microsoft.com/office/drawing/2014/main" id="{2015C4B6-714F-1D31-0551-5EA9F7FA90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  <p:grpSp>
            <p:nvGrpSpPr>
              <p:cNvPr id="427" name="Group 426">
                <a:extLst>
                  <a:ext uri="{FF2B5EF4-FFF2-40B4-BE49-F238E27FC236}">
                    <a16:creationId xmlns:a16="http://schemas.microsoft.com/office/drawing/2014/main" id="{3BAA253A-3B7B-3AE5-2D91-FA52FF2440A7}"/>
                  </a:ext>
                </a:extLst>
              </p:cNvPr>
              <p:cNvGrpSpPr/>
              <p:nvPr/>
            </p:nvGrpSpPr>
            <p:grpSpPr>
              <a:xfrm>
                <a:off x="6606384" y="5310904"/>
                <a:ext cx="284025" cy="284025"/>
                <a:chOff x="7569200" y="4053840"/>
                <a:chExt cx="609600" cy="609600"/>
              </a:xfrm>
            </p:grpSpPr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E65D015A-D7DC-58D2-D43D-D9C8D4DC7C0A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41" name="Graphic 440" descr="Building outline">
                  <a:extLst>
                    <a:ext uri="{FF2B5EF4-FFF2-40B4-BE49-F238E27FC236}">
                      <a16:creationId xmlns:a16="http://schemas.microsoft.com/office/drawing/2014/main" id="{903EF28B-B7F2-2475-36F7-DD7FB08825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  <p:grpSp>
            <p:nvGrpSpPr>
              <p:cNvPr id="428" name="Group 427">
                <a:extLst>
                  <a:ext uri="{FF2B5EF4-FFF2-40B4-BE49-F238E27FC236}">
                    <a16:creationId xmlns:a16="http://schemas.microsoft.com/office/drawing/2014/main" id="{6CCDF840-767C-35D5-4868-E3CADBC1B442}"/>
                  </a:ext>
                </a:extLst>
              </p:cNvPr>
              <p:cNvGrpSpPr/>
              <p:nvPr/>
            </p:nvGrpSpPr>
            <p:grpSpPr>
              <a:xfrm>
                <a:off x="6263088" y="5631987"/>
                <a:ext cx="402311" cy="402311"/>
                <a:chOff x="7569200" y="4053840"/>
                <a:chExt cx="609600" cy="609600"/>
              </a:xfrm>
            </p:grpSpPr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CFA50537-DF12-FCE5-0EBD-5E59D10B56C7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39" name="Graphic 438" descr="Building outline">
                  <a:extLst>
                    <a:ext uri="{FF2B5EF4-FFF2-40B4-BE49-F238E27FC236}">
                      <a16:creationId xmlns:a16="http://schemas.microsoft.com/office/drawing/2014/main" id="{52962109-9C3F-F556-8EE7-DDFBA605A3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  <p:grpSp>
            <p:nvGrpSpPr>
              <p:cNvPr id="429" name="Group 428">
                <a:extLst>
                  <a:ext uri="{FF2B5EF4-FFF2-40B4-BE49-F238E27FC236}">
                    <a16:creationId xmlns:a16="http://schemas.microsoft.com/office/drawing/2014/main" id="{E047F394-C8ED-8931-1F51-F8F220110CFB}"/>
                  </a:ext>
                </a:extLst>
              </p:cNvPr>
              <p:cNvGrpSpPr/>
              <p:nvPr/>
            </p:nvGrpSpPr>
            <p:grpSpPr>
              <a:xfrm>
                <a:off x="6784795" y="5726518"/>
                <a:ext cx="512169" cy="512169"/>
                <a:chOff x="7569200" y="4053840"/>
                <a:chExt cx="609600" cy="609600"/>
              </a:xfrm>
            </p:grpSpPr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3A9B386F-379B-C92E-BCCD-6E3226F239B5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437" name="Graphic 436" descr="Building outline">
                  <a:extLst>
                    <a:ext uri="{FF2B5EF4-FFF2-40B4-BE49-F238E27FC236}">
                      <a16:creationId xmlns:a16="http://schemas.microsoft.com/office/drawing/2014/main" id="{24F0492F-939D-90A1-BC7D-AA22D2704F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  <p:grpSp>
            <p:nvGrpSpPr>
              <p:cNvPr id="430" name="Group 429">
                <a:extLst>
                  <a:ext uri="{FF2B5EF4-FFF2-40B4-BE49-F238E27FC236}">
                    <a16:creationId xmlns:a16="http://schemas.microsoft.com/office/drawing/2014/main" id="{20EAE8C4-1622-8565-1618-3A311E6199E9}"/>
                  </a:ext>
                </a:extLst>
              </p:cNvPr>
              <p:cNvGrpSpPr/>
              <p:nvPr/>
            </p:nvGrpSpPr>
            <p:grpSpPr>
              <a:xfrm>
                <a:off x="7336384" y="5655884"/>
                <a:ext cx="284025" cy="284025"/>
                <a:chOff x="7569200" y="4053840"/>
                <a:chExt cx="609600" cy="609600"/>
              </a:xfrm>
            </p:grpSpPr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C6C18D53-F8CD-4FE5-8F41-3995B0766970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35" name="Graphic 434" descr="Building outline">
                  <a:extLst>
                    <a:ext uri="{FF2B5EF4-FFF2-40B4-BE49-F238E27FC236}">
                      <a16:creationId xmlns:a16="http://schemas.microsoft.com/office/drawing/2014/main" id="{DD2EF1FF-11A2-4501-BF33-1DD2AF8716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  <p:grpSp>
            <p:nvGrpSpPr>
              <p:cNvPr id="431" name="Group 430">
                <a:extLst>
                  <a:ext uri="{FF2B5EF4-FFF2-40B4-BE49-F238E27FC236}">
                    <a16:creationId xmlns:a16="http://schemas.microsoft.com/office/drawing/2014/main" id="{B3FF1AD8-4D0F-52B3-40FB-E5C63CE1ED7E}"/>
                  </a:ext>
                </a:extLst>
              </p:cNvPr>
              <p:cNvGrpSpPr/>
              <p:nvPr/>
            </p:nvGrpSpPr>
            <p:grpSpPr>
              <a:xfrm>
                <a:off x="6500770" y="6098561"/>
                <a:ext cx="284025" cy="284025"/>
                <a:chOff x="7569200" y="4053840"/>
                <a:chExt cx="609600" cy="609600"/>
              </a:xfrm>
            </p:grpSpPr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4B72B0F7-77B3-C733-088D-DAD74E0A037B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33" name="Graphic 432" descr="Building outline">
                  <a:extLst>
                    <a:ext uri="{FF2B5EF4-FFF2-40B4-BE49-F238E27FC236}">
                      <a16:creationId xmlns:a16="http://schemas.microsoft.com/office/drawing/2014/main" id="{BCD80B81-12D6-8CA1-A129-B722DC8107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444" name="Group 443">
              <a:extLst>
                <a:ext uri="{FF2B5EF4-FFF2-40B4-BE49-F238E27FC236}">
                  <a16:creationId xmlns:a16="http://schemas.microsoft.com/office/drawing/2014/main" id="{6C17747F-C67B-229E-65F2-02E5D6B99F95}"/>
                </a:ext>
              </a:extLst>
            </p:cNvPr>
            <p:cNvGrpSpPr/>
            <p:nvPr/>
          </p:nvGrpSpPr>
          <p:grpSpPr>
            <a:xfrm>
              <a:off x="4890124" y="3979159"/>
              <a:ext cx="833943" cy="833943"/>
              <a:chOff x="6137723" y="4998297"/>
              <a:chExt cx="1658462" cy="1658462"/>
            </a:xfrm>
          </p:grpSpPr>
          <p:sp>
            <p:nvSpPr>
              <p:cNvPr id="445" name="Oval 444">
                <a:extLst>
                  <a:ext uri="{FF2B5EF4-FFF2-40B4-BE49-F238E27FC236}">
                    <a16:creationId xmlns:a16="http://schemas.microsoft.com/office/drawing/2014/main" id="{745F48C0-9A4B-28D0-67D2-4C59748776A7}"/>
                  </a:ext>
                </a:extLst>
              </p:cNvPr>
              <p:cNvSpPr/>
              <p:nvPr/>
            </p:nvSpPr>
            <p:spPr>
              <a:xfrm>
                <a:off x="6137723" y="4998297"/>
                <a:ext cx="1658462" cy="1658462"/>
              </a:xfrm>
              <a:prstGeom prst="ellipse">
                <a:avLst/>
              </a:prstGeom>
              <a:solidFill>
                <a:srgbClr val="006EF9">
                  <a:alpha val="32597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6" name="Straight Connector 445">
                <a:extLst>
                  <a:ext uri="{FF2B5EF4-FFF2-40B4-BE49-F238E27FC236}">
                    <a16:creationId xmlns:a16="http://schemas.microsoft.com/office/drawing/2014/main" id="{40FD63BE-2D08-8E52-67D7-4613034A45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25329" y="5796568"/>
                <a:ext cx="869531" cy="467910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Straight Connector 446">
                <a:extLst>
                  <a:ext uri="{FF2B5EF4-FFF2-40B4-BE49-F238E27FC236}">
                    <a16:creationId xmlns:a16="http://schemas.microsoft.com/office/drawing/2014/main" id="{0B246873-D0C4-CC36-F88B-211CE96E6E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07757" y="5390310"/>
                <a:ext cx="216041" cy="640213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Straight Connector 447">
                <a:extLst>
                  <a:ext uri="{FF2B5EF4-FFF2-40B4-BE49-F238E27FC236}">
                    <a16:creationId xmlns:a16="http://schemas.microsoft.com/office/drawing/2014/main" id="{5087BEC7-38C7-CEAC-1F9D-310BFC04B5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771013" y="5460496"/>
                <a:ext cx="236744" cy="490696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F01825A3-32A2-60A5-F549-FCA4AD132D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73061" y="5364569"/>
                <a:ext cx="457658" cy="108692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Straight Connector 449">
                <a:extLst>
                  <a:ext uri="{FF2B5EF4-FFF2-40B4-BE49-F238E27FC236}">
                    <a16:creationId xmlns:a16="http://schemas.microsoft.com/office/drawing/2014/main" id="{7CBCF2F7-8343-0893-E9A1-12944F5425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61350" y="5472242"/>
                <a:ext cx="267327" cy="371987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128E3221-F3BE-AB29-C6A3-90BA0668B9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272935" y="5464146"/>
                <a:ext cx="221925" cy="349302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87EFEC6E-1E8A-F190-01C1-C0D153F8ED0E}"/>
                  </a:ext>
                </a:extLst>
              </p:cNvPr>
              <p:cNvCxnSpPr>
                <a:cxnSpLocks/>
                <a:endCxn id="466" idx="2"/>
              </p:cNvCxnSpPr>
              <p:nvPr/>
            </p:nvCxnSpPr>
            <p:spPr>
              <a:xfrm flipH="1" flipV="1">
                <a:off x="6465979" y="5951192"/>
                <a:ext cx="176803" cy="310440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53" name="Group 452">
                <a:extLst>
                  <a:ext uri="{FF2B5EF4-FFF2-40B4-BE49-F238E27FC236}">
                    <a16:creationId xmlns:a16="http://schemas.microsoft.com/office/drawing/2014/main" id="{30D9E283-3301-BABD-E396-BF0D60811278}"/>
                  </a:ext>
                </a:extLst>
              </p:cNvPr>
              <p:cNvGrpSpPr/>
              <p:nvPr/>
            </p:nvGrpSpPr>
            <p:grpSpPr>
              <a:xfrm>
                <a:off x="7022643" y="5209498"/>
                <a:ext cx="402311" cy="402311"/>
                <a:chOff x="7569200" y="4053840"/>
                <a:chExt cx="609600" cy="609600"/>
              </a:xfrm>
            </p:grpSpPr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F52E089E-A7A1-8FB9-5F2C-AE5251337383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70" name="Graphic 469" descr="Building outline">
                  <a:extLst>
                    <a:ext uri="{FF2B5EF4-FFF2-40B4-BE49-F238E27FC236}">
                      <a16:creationId xmlns:a16="http://schemas.microsoft.com/office/drawing/2014/main" id="{7F8F8A25-1484-1807-26AA-0EC3870869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  <p:grpSp>
            <p:nvGrpSpPr>
              <p:cNvPr id="454" name="Group 453">
                <a:extLst>
                  <a:ext uri="{FF2B5EF4-FFF2-40B4-BE49-F238E27FC236}">
                    <a16:creationId xmlns:a16="http://schemas.microsoft.com/office/drawing/2014/main" id="{1E780DFF-5E31-FB8B-9DA8-78859876BDAE}"/>
                  </a:ext>
                </a:extLst>
              </p:cNvPr>
              <p:cNvGrpSpPr/>
              <p:nvPr/>
            </p:nvGrpSpPr>
            <p:grpSpPr>
              <a:xfrm>
                <a:off x="6606384" y="5310904"/>
                <a:ext cx="284025" cy="284025"/>
                <a:chOff x="7569200" y="4053840"/>
                <a:chExt cx="609600" cy="609600"/>
              </a:xfrm>
            </p:grpSpPr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E13A554D-D66E-B934-108C-F963C3A02290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68" name="Graphic 467" descr="Building outline">
                  <a:extLst>
                    <a:ext uri="{FF2B5EF4-FFF2-40B4-BE49-F238E27FC236}">
                      <a16:creationId xmlns:a16="http://schemas.microsoft.com/office/drawing/2014/main" id="{408476A2-23FC-AC3B-81DA-D36A5644C0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  <p:grpSp>
            <p:nvGrpSpPr>
              <p:cNvPr id="455" name="Group 454">
                <a:extLst>
                  <a:ext uri="{FF2B5EF4-FFF2-40B4-BE49-F238E27FC236}">
                    <a16:creationId xmlns:a16="http://schemas.microsoft.com/office/drawing/2014/main" id="{499D17AF-BE0A-EAD0-1759-6F638BAF7C36}"/>
                  </a:ext>
                </a:extLst>
              </p:cNvPr>
              <p:cNvGrpSpPr/>
              <p:nvPr/>
            </p:nvGrpSpPr>
            <p:grpSpPr>
              <a:xfrm>
                <a:off x="6263088" y="5631987"/>
                <a:ext cx="402311" cy="402311"/>
                <a:chOff x="7569200" y="4053840"/>
                <a:chExt cx="609600" cy="609600"/>
              </a:xfrm>
            </p:grpSpPr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20A5C840-203E-919D-8E6E-7084DE10D6A3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66" name="Graphic 465" descr="Building outline">
                  <a:extLst>
                    <a:ext uri="{FF2B5EF4-FFF2-40B4-BE49-F238E27FC236}">
                      <a16:creationId xmlns:a16="http://schemas.microsoft.com/office/drawing/2014/main" id="{DEF27D83-9C04-A3F3-8E7E-7F02BF22D8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  <p:grpSp>
            <p:nvGrpSpPr>
              <p:cNvPr id="456" name="Group 455">
                <a:extLst>
                  <a:ext uri="{FF2B5EF4-FFF2-40B4-BE49-F238E27FC236}">
                    <a16:creationId xmlns:a16="http://schemas.microsoft.com/office/drawing/2014/main" id="{924C2850-4CDA-5A58-B050-CCF613839A21}"/>
                  </a:ext>
                </a:extLst>
              </p:cNvPr>
              <p:cNvGrpSpPr/>
              <p:nvPr/>
            </p:nvGrpSpPr>
            <p:grpSpPr>
              <a:xfrm>
                <a:off x="6784795" y="5726518"/>
                <a:ext cx="512169" cy="512169"/>
                <a:chOff x="7569200" y="4053840"/>
                <a:chExt cx="609600" cy="609600"/>
              </a:xfrm>
            </p:grpSpPr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32202280-3431-09A8-B4EC-E3B8E27C9DCE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464" name="Graphic 463" descr="Building outline">
                  <a:extLst>
                    <a:ext uri="{FF2B5EF4-FFF2-40B4-BE49-F238E27FC236}">
                      <a16:creationId xmlns:a16="http://schemas.microsoft.com/office/drawing/2014/main" id="{8DCFD430-308C-D99A-BE2C-CDC6A12181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  <p:grpSp>
            <p:nvGrpSpPr>
              <p:cNvPr id="457" name="Group 456">
                <a:extLst>
                  <a:ext uri="{FF2B5EF4-FFF2-40B4-BE49-F238E27FC236}">
                    <a16:creationId xmlns:a16="http://schemas.microsoft.com/office/drawing/2014/main" id="{DFE3F68D-931D-1F9E-C8F8-650EB930BAC2}"/>
                  </a:ext>
                </a:extLst>
              </p:cNvPr>
              <p:cNvGrpSpPr/>
              <p:nvPr/>
            </p:nvGrpSpPr>
            <p:grpSpPr>
              <a:xfrm>
                <a:off x="7336384" y="5655884"/>
                <a:ext cx="284025" cy="284025"/>
                <a:chOff x="7569200" y="4053840"/>
                <a:chExt cx="609600" cy="609600"/>
              </a:xfrm>
            </p:grpSpPr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433ACA52-8088-9A2D-B209-844E25DBD1CB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62" name="Graphic 461" descr="Building outline">
                  <a:extLst>
                    <a:ext uri="{FF2B5EF4-FFF2-40B4-BE49-F238E27FC236}">
                      <a16:creationId xmlns:a16="http://schemas.microsoft.com/office/drawing/2014/main" id="{F264FE89-56F5-E1D3-AD08-A62812A751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  <p:grpSp>
            <p:nvGrpSpPr>
              <p:cNvPr id="458" name="Group 457">
                <a:extLst>
                  <a:ext uri="{FF2B5EF4-FFF2-40B4-BE49-F238E27FC236}">
                    <a16:creationId xmlns:a16="http://schemas.microsoft.com/office/drawing/2014/main" id="{FE5858E3-1874-0E4C-AA56-2938DFC0410D}"/>
                  </a:ext>
                </a:extLst>
              </p:cNvPr>
              <p:cNvGrpSpPr/>
              <p:nvPr/>
            </p:nvGrpSpPr>
            <p:grpSpPr>
              <a:xfrm>
                <a:off x="6500770" y="6098561"/>
                <a:ext cx="284025" cy="284025"/>
                <a:chOff x="7569200" y="4053840"/>
                <a:chExt cx="609600" cy="609600"/>
              </a:xfrm>
            </p:grpSpPr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B3045E4B-D0AA-1C7D-906A-8D866C9F5E3C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60" name="Graphic 459" descr="Building outline">
                  <a:extLst>
                    <a:ext uri="{FF2B5EF4-FFF2-40B4-BE49-F238E27FC236}">
                      <a16:creationId xmlns:a16="http://schemas.microsoft.com/office/drawing/2014/main" id="{A73EFE80-29B7-3098-906F-313E0C0943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</p:grpSp>
        <p:sp>
          <p:nvSpPr>
            <p:cNvPr id="471" name="Rounded Rectangle 470">
              <a:extLst>
                <a:ext uri="{FF2B5EF4-FFF2-40B4-BE49-F238E27FC236}">
                  <a16:creationId xmlns:a16="http://schemas.microsoft.com/office/drawing/2014/main" id="{F372D2DD-6B15-C608-DF36-B38E167801D3}"/>
                </a:ext>
              </a:extLst>
            </p:cNvPr>
            <p:cNvSpPr/>
            <p:nvPr/>
          </p:nvSpPr>
          <p:spPr>
            <a:xfrm>
              <a:off x="3287925" y="5947850"/>
              <a:ext cx="2819082" cy="1533358"/>
            </a:xfrm>
            <a:prstGeom prst="roundRect">
              <a:avLst>
                <a:gd name="adj" fmla="val 7877"/>
              </a:avLst>
            </a:prstGeom>
            <a:solidFill>
              <a:srgbClr val="006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  <p:pic>
          <p:nvPicPr>
            <p:cNvPr id="472" name="Graphic 471">
              <a:extLst>
                <a:ext uri="{FF2B5EF4-FFF2-40B4-BE49-F238E27FC236}">
                  <a16:creationId xmlns:a16="http://schemas.microsoft.com/office/drawing/2014/main" id="{A0D78B2A-8CFE-E641-BABF-F3DA66B189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 r="65914" b="-21625"/>
            <a:stretch/>
          </p:blipFill>
          <p:spPr>
            <a:xfrm>
              <a:off x="4428964" y="6806445"/>
              <a:ext cx="537006" cy="572157"/>
            </a:xfrm>
            <a:prstGeom prst="rect">
              <a:avLst/>
            </a:prstGeom>
          </p:spPr>
        </p:pic>
        <p:cxnSp>
          <p:nvCxnSpPr>
            <p:cNvPr id="473" name="Straight Arrow Connector 472">
              <a:extLst>
                <a:ext uri="{FF2B5EF4-FFF2-40B4-BE49-F238E27FC236}">
                  <a16:creationId xmlns:a16="http://schemas.microsoft.com/office/drawing/2014/main" id="{853BB1F3-AED4-1779-F9F3-DFE36FCA196F}"/>
                </a:ext>
              </a:extLst>
            </p:cNvPr>
            <p:cNvCxnSpPr>
              <a:cxnSpLocks/>
              <a:stCxn id="418" idx="4"/>
            </p:cNvCxnSpPr>
            <p:nvPr/>
          </p:nvCxnSpPr>
          <p:spPr>
            <a:xfrm>
              <a:off x="4014974" y="5241251"/>
              <a:ext cx="0" cy="1022665"/>
            </a:xfrm>
            <a:prstGeom prst="straightConnector1">
              <a:avLst/>
            </a:prstGeom>
            <a:ln>
              <a:solidFill>
                <a:srgbClr val="B6D1F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Arrow Connector 473">
              <a:extLst>
                <a:ext uri="{FF2B5EF4-FFF2-40B4-BE49-F238E27FC236}">
                  <a16:creationId xmlns:a16="http://schemas.microsoft.com/office/drawing/2014/main" id="{8C0CE05F-4467-1285-61AA-67EE179F3699}"/>
                </a:ext>
              </a:extLst>
            </p:cNvPr>
            <p:cNvCxnSpPr>
              <a:cxnSpLocks/>
              <a:stCxn id="445" idx="4"/>
            </p:cNvCxnSpPr>
            <p:nvPr/>
          </p:nvCxnSpPr>
          <p:spPr>
            <a:xfrm>
              <a:off x="5307096" y="4813102"/>
              <a:ext cx="0" cy="1450814"/>
            </a:xfrm>
            <a:prstGeom prst="straightConnector1">
              <a:avLst/>
            </a:prstGeom>
            <a:ln>
              <a:solidFill>
                <a:srgbClr val="B6D1F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75" name="Graphic 474" descr="Checklist with solid fill">
              <a:extLst>
                <a:ext uri="{FF2B5EF4-FFF2-40B4-BE49-F238E27FC236}">
                  <a16:creationId xmlns:a16="http://schemas.microsoft.com/office/drawing/2014/main" id="{761BFCF1-E076-03DE-DBB9-8580887F6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794721" y="6288689"/>
              <a:ext cx="457200" cy="457200"/>
            </a:xfrm>
            <a:prstGeom prst="rect">
              <a:avLst/>
            </a:prstGeom>
          </p:spPr>
        </p:pic>
        <p:pic>
          <p:nvPicPr>
            <p:cNvPr id="476" name="Graphic 475" descr="Checklist with solid fill">
              <a:extLst>
                <a:ext uri="{FF2B5EF4-FFF2-40B4-BE49-F238E27FC236}">
                  <a16:creationId xmlns:a16="http://schemas.microsoft.com/office/drawing/2014/main" id="{DFE58AF3-222D-455E-A062-7B20FE74D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93003" y="6281490"/>
              <a:ext cx="457200" cy="457200"/>
            </a:xfrm>
            <a:prstGeom prst="rect">
              <a:avLst/>
            </a:prstGeom>
          </p:spPr>
        </p:pic>
        <p:cxnSp>
          <p:nvCxnSpPr>
            <p:cNvPr id="477" name="Straight Arrow Connector 476">
              <a:extLst>
                <a:ext uri="{FF2B5EF4-FFF2-40B4-BE49-F238E27FC236}">
                  <a16:creationId xmlns:a16="http://schemas.microsoft.com/office/drawing/2014/main" id="{16340909-5EFD-3BC3-B6DC-0C674EEC2EC4}"/>
                </a:ext>
              </a:extLst>
            </p:cNvPr>
            <p:cNvCxnSpPr>
              <a:cxnSpLocks/>
            </p:cNvCxnSpPr>
            <p:nvPr/>
          </p:nvCxnSpPr>
          <p:spPr>
            <a:xfrm>
              <a:off x="4014933" y="6745479"/>
              <a:ext cx="300405" cy="272461"/>
            </a:xfrm>
            <a:prstGeom prst="straightConnector1">
              <a:avLst/>
            </a:prstGeom>
            <a:ln>
              <a:solidFill>
                <a:srgbClr val="B6D1F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Arrow Connector 477">
              <a:extLst>
                <a:ext uri="{FF2B5EF4-FFF2-40B4-BE49-F238E27FC236}">
                  <a16:creationId xmlns:a16="http://schemas.microsoft.com/office/drawing/2014/main" id="{CE19A7C4-BC34-D36D-8A84-7D44C68012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6691" y="6752095"/>
              <a:ext cx="300405" cy="272461"/>
            </a:xfrm>
            <a:prstGeom prst="straightConnector1">
              <a:avLst/>
            </a:prstGeom>
            <a:ln>
              <a:solidFill>
                <a:srgbClr val="B6D1F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1" name="Elbow Connector 500">
            <a:extLst>
              <a:ext uri="{FF2B5EF4-FFF2-40B4-BE49-F238E27FC236}">
                <a16:creationId xmlns:a16="http://schemas.microsoft.com/office/drawing/2014/main" id="{75629918-1E59-5B45-16F5-04F8FEC83D96}"/>
              </a:ext>
            </a:extLst>
          </p:cNvPr>
          <p:cNvCxnSpPr>
            <a:cxnSpLocks/>
            <a:stCxn id="189" idx="2"/>
            <a:endCxn id="672" idx="1"/>
          </p:cNvCxnSpPr>
          <p:nvPr/>
        </p:nvCxnSpPr>
        <p:spPr>
          <a:xfrm rot="16200000" flipH="1">
            <a:off x="9701506" y="4786682"/>
            <a:ext cx="521546" cy="456431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Elbow Connector 501">
            <a:extLst>
              <a:ext uri="{FF2B5EF4-FFF2-40B4-BE49-F238E27FC236}">
                <a16:creationId xmlns:a16="http://schemas.microsoft.com/office/drawing/2014/main" id="{4F30DBEB-2243-9636-CCA6-2B95A2CE574C}"/>
              </a:ext>
            </a:extLst>
          </p:cNvPr>
          <p:cNvCxnSpPr>
            <a:cxnSpLocks/>
            <a:stCxn id="182" idx="2"/>
            <a:endCxn id="471" idx="1"/>
          </p:cNvCxnSpPr>
          <p:nvPr/>
        </p:nvCxnSpPr>
        <p:spPr>
          <a:xfrm rot="16200000" flipH="1">
            <a:off x="9133704" y="4791661"/>
            <a:ext cx="1093258" cy="1020322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Elbow Connector 504">
            <a:extLst>
              <a:ext uri="{FF2B5EF4-FFF2-40B4-BE49-F238E27FC236}">
                <a16:creationId xmlns:a16="http://schemas.microsoft.com/office/drawing/2014/main" id="{0AB1BE8F-482C-D0C3-96E3-988721C9B713}"/>
              </a:ext>
            </a:extLst>
          </p:cNvPr>
          <p:cNvCxnSpPr>
            <a:cxnSpLocks/>
            <a:stCxn id="175" idx="2"/>
          </p:cNvCxnSpPr>
          <p:nvPr/>
        </p:nvCxnSpPr>
        <p:spPr>
          <a:xfrm rot="16200000" flipH="1">
            <a:off x="8687281" y="4704925"/>
            <a:ext cx="1438396" cy="1541065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0" name="TextBox 679">
            <a:extLst>
              <a:ext uri="{FF2B5EF4-FFF2-40B4-BE49-F238E27FC236}">
                <a16:creationId xmlns:a16="http://schemas.microsoft.com/office/drawing/2014/main" id="{5B1EB42B-EAE8-F548-72F6-E031FB172A98}"/>
              </a:ext>
            </a:extLst>
          </p:cNvPr>
          <p:cNvSpPr txBox="1"/>
          <p:nvPr/>
        </p:nvSpPr>
        <p:spPr>
          <a:xfrm>
            <a:off x="8670576" y="6226425"/>
            <a:ext cx="957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Participant Provisioning</a:t>
            </a:r>
          </a:p>
        </p:txBody>
      </p:sp>
      <p:sp>
        <p:nvSpPr>
          <p:cNvPr id="681" name="TextBox 680">
            <a:extLst>
              <a:ext uri="{FF2B5EF4-FFF2-40B4-BE49-F238E27FC236}">
                <a16:creationId xmlns:a16="http://schemas.microsoft.com/office/drawing/2014/main" id="{C880F54A-B5FA-E5D8-0466-83BBB2CD0A11}"/>
              </a:ext>
            </a:extLst>
          </p:cNvPr>
          <p:cNvSpPr txBox="1"/>
          <p:nvPr/>
        </p:nvSpPr>
        <p:spPr>
          <a:xfrm>
            <a:off x="9201173" y="5388316"/>
            <a:ext cx="957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Dataspace</a:t>
            </a:r>
          </a:p>
          <a:p>
            <a:r>
              <a:rPr lang="en-US" sz="800" dirty="0"/>
              <a:t>Profiles</a:t>
            </a:r>
          </a:p>
        </p:txBody>
      </p:sp>
      <p:sp>
        <p:nvSpPr>
          <p:cNvPr id="682" name="TextBox 681">
            <a:extLst>
              <a:ext uri="{FF2B5EF4-FFF2-40B4-BE49-F238E27FC236}">
                <a16:creationId xmlns:a16="http://schemas.microsoft.com/office/drawing/2014/main" id="{C4D24FBF-4E50-3BA0-82A7-1B41DD19D82E}"/>
              </a:ext>
            </a:extLst>
          </p:cNvPr>
          <p:cNvSpPr txBox="1"/>
          <p:nvPr/>
        </p:nvSpPr>
        <p:spPr>
          <a:xfrm>
            <a:off x="9736844" y="4835598"/>
            <a:ext cx="957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Routing</a:t>
            </a:r>
          </a:p>
          <a:p>
            <a:r>
              <a:rPr lang="en-US" sz="800" dirty="0"/>
              <a:t>Config</a:t>
            </a:r>
          </a:p>
        </p:txBody>
      </p:sp>
      <p:sp>
        <p:nvSpPr>
          <p:cNvPr id="683" name="TextBox 682">
            <a:extLst>
              <a:ext uri="{FF2B5EF4-FFF2-40B4-BE49-F238E27FC236}">
                <a16:creationId xmlns:a16="http://schemas.microsoft.com/office/drawing/2014/main" id="{817C8911-7B95-3E78-E6FA-4FF981930AE1}"/>
              </a:ext>
            </a:extLst>
          </p:cNvPr>
          <p:cNvSpPr txBox="1"/>
          <p:nvPr/>
        </p:nvSpPr>
        <p:spPr>
          <a:xfrm rot="16200000">
            <a:off x="6470592" y="1338889"/>
            <a:ext cx="1677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Onboarding </a:t>
            </a:r>
          </a:p>
          <a:p>
            <a:pPr algn="ctr"/>
            <a:r>
              <a:rPr lang="en-US" sz="1400" b="1" dirty="0"/>
              <a:t>Platforms</a:t>
            </a:r>
          </a:p>
        </p:txBody>
      </p:sp>
      <p:sp>
        <p:nvSpPr>
          <p:cNvPr id="684" name="TextBox 683">
            <a:extLst>
              <a:ext uri="{FF2B5EF4-FFF2-40B4-BE49-F238E27FC236}">
                <a16:creationId xmlns:a16="http://schemas.microsoft.com/office/drawing/2014/main" id="{15BC41F0-4ACB-C2CC-1C1B-419E8C901373}"/>
              </a:ext>
            </a:extLst>
          </p:cNvPr>
          <p:cNvSpPr txBox="1"/>
          <p:nvPr/>
        </p:nvSpPr>
        <p:spPr>
          <a:xfrm>
            <a:off x="10366891" y="6339842"/>
            <a:ext cx="1358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EDC</a:t>
            </a:r>
          </a:p>
        </p:txBody>
      </p:sp>
      <p:sp>
        <p:nvSpPr>
          <p:cNvPr id="685" name="TextBox 684">
            <a:extLst>
              <a:ext uri="{FF2B5EF4-FFF2-40B4-BE49-F238E27FC236}">
                <a16:creationId xmlns:a16="http://schemas.microsoft.com/office/drawing/2014/main" id="{377B7840-DCB8-F41B-A97C-303A6483AB43}"/>
              </a:ext>
            </a:extLst>
          </p:cNvPr>
          <p:cNvSpPr txBox="1"/>
          <p:nvPr/>
        </p:nvSpPr>
        <p:spPr>
          <a:xfrm rot="16200000">
            <a:off x="6096542" y="3414781"/>
            <a:ext cx="2376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CFM</a:t>
            </a:r>
          </a:p>
          <a:p>
            <a:pPr algn="ctr"/>
            <a:r>
              <a:rPr lang="en-US" sz="1400" b="1" dirty="0"/>
              <a:t>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E6557-990C-8F1A-EC9E-566974DBBD71}"/>
              </a:ext>
            </a:extLst>
          </p:cNvPr>
          <p:cNvSpPr txBox="1"/>
          <p:nvPr/>
        </p:nvSpPr>
        <p:spPr>
          <a:xfrm rot="16200000">
            <a:off x="6367949" y="5554128"/>
            <a:ext cx="1735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EDC &amp; Data Plane</a:t>
            </a:r>
          </a:p>
          <a:p>
            <a:pPr algn="ctr"/>
            <a:r>
              <a:rPr lang="en-US" sz="1400" b="1" dirty="0"/>
              <a:t>Runtimes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53FFD49-C63D-749D-001A-2A4633C7D7D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72864" y="3275281"/>
            <a:ext cx="802219" cy="80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69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F581E8-CC4E-E0FD-51C6-DFF8503F8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Tractus-X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F9BE45-91DF-526E-8D76-3236AEF97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Planning a Path Forward</a:t>
            </a:r>
          </a:p>
        </p:txBody>
      </p:sp>
    </p:spTree>
    <p:extLst>
      <p:ext uri="{BB962C8B-B14F-4D97-AF65-F5344CB8AC3E}">
        <p14:creationId xmlns:p14="http://schemas.microsoft.com/office/powerpoint/2010/main" val="4169047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A38898-5343-2FCA-4038-B655FB629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EDC-V and Tractus-X EDC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F570A0C-4AAD-086A-57A0-D9D43BE0AF14}"/>
              </a:ext>
            </a:extLst>
          </p:cNvPr>
          <p:cNvSpPr/>
          <p:nvPr/>
        </p:nvSpPr>
        <p:spPr>
          <a:xfrm>
            <a:off x="2827065" y="3209544"/>
            <a:ext cx="6959882" cy="3211882"/>
          </a:xfrm>
          <a:prstGeom prst="roundRect">
            <a:avLst>
              <a:gd name="adj" fmla="val 775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Tractus-X EDC is a reference implementation, EDC-V is for running EDC as a service</a:t>
            </a:r>
          </a:p>
          <a:p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Tractus-X does not need an EDC-V distribution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Tractus-X EDC should continue to use the “classic” EDC deployment mode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270EB2-B609-DE49-0DFB-6C4F117913C4}"/>
              </a:ext>
            </a:extLst>
          </p:cNvPr>
          <p:cNvGrpSpPr/>
          <p:nvPr/>
        </p:nvGrpSpPr>
        <p:grpSpPr>
          <a:xfrm>
            <a:off x="2869918" y="1836034"/>
            <a:ext cx="6959882" cy="1012413"/>
            <a:chOff x="2869918" y="1525138"/>
            <a:chExt cx="6959882" cy="101241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EF2F145-842B-EEA4-C365-18774607D167}"/>
                </a:ext>
              </a:extLst>
            </p:cNvPr>
            <p:cNvSpPr/>
            <p:nvPr/>
          </p:nvSpPr>
          <p:spPr>
            <a:xfrm>
              <a:off x="2869918" y="1525138"/>
              <a:ext cx="6959882" cy="1012413"/>
            </a:xfrm>
            <a:prstGeom prst="roundRect">
              <a:avLst>
                <a:gd name="adj" fmla="val 11434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AB6AC3-48B6-2087-2AE1-29849462EB4A}"/>
                </a:ext>
              </a:extLst>
            </p:cNvPr>
            <p:cNvSpPr txBox="1"/>
            <p:nvPr/>
          </p:nvSpPr>
          <p:spPr>
            <a:xfrm>
              <a:off x="3041333" y="1846678"/>
              <a:ext cx="28045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$ echo "EDC-V" &gt; /dev/null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0795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CBB105-178E-388C-025D-93FA02E1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EDC Impact on Tractus-X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AAFF3-1810-6482-C921-7BDFB15CE388}"/>
              </a:ext>
            </a:extLst>
          </p:cNvPr>
          <p:cNvSpPr txBox="1"/>
          <p:nvPr/>
        </p:nvSpPr>
        <p:spPr>
          <a:xfrm>
            <a:off x="8937790" y="1890630"/>
            <a:ext cx="26030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 indent="-174625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1200" dirty="0"/>
              <a:t>Use Data Plane Core project, Siglets</a:t>
            </a:r>
          </a:p>
          <a:p>
            <a:pPr marL="174625" indent="-174625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1200" dirty="0"/>
              <a:t>Build use-case-specific data planes and incorporate directly into apps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1CD90-F6A8-674A-6B34-C99CE4248CBE}"/>
              </a:ext>
            </a:extLst>
          </p:cNvPr>
          <p:cNvSpPr txBox="1"/>
          <p:nvPr/>
        </p:nvSpPr>
        <p:spPr>
          <a:xfrm>
            <a:off x="838200" y="2259962"/>
            <a:ext cx="26030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EDC will be a control plane only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C4F348-0662-3716-5A3E-02ACD8585EA2}"/>
              </a:ext>
            </a:extLst>
          </p:cNvPr>
          <p:cNvSpPr txBox="1"/>
          <p:nvPr/>
        </p:nvSpPr>
        <p:spPr>
          <a:xfrm>
            <a:off x="4282952" y="2059907"/>
            <a:ext cx="260301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Data Plane Deprecation</a:t>
            </a:r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EDC data plane framework is deprecated and will be removed</a:t>
            </a:r>
          </a:p>
        </p:txBody>
      </p:sp>
      <p:pic>
        <p:nvPicPr>
          <p:cNvPr id="12" name="Picture 11" descr="A cartoon of a skeleton drinking from a cup&#10;&#10;Description automatically generated">
            <a:extLst>
              <a:ext uri="{FF2B5EF4-FFF2-40B4-BE49-F238E27FC236}">
                <a16:creationId xmlns:a16="http://schemas.microsoft.com/office/drawing/2014/main" id="{B824F7B0-8E3D-3997-AD8E-CFDDE5E197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746" r="26638"/>
          <a:stretch/>
        </p:blipFill>
        <p:spPr>
          <a:xfrm>
            <a:off x="7668205" y="1966149"/>
            <a:ext cx="403047" cy="86462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5CC740D-26AC-A4E9-8A0A-0831C825F07B}"/>
              </a:ext>
            </a:extLst>
          </p:cNvPr>
          <p:cNvSpPr txBox="1"/>
          <p:nvPr/>
        </p:nvSpPr>
        <p:spPr>
          <a:xfrm>
            <a:off x="4282952" y="3552353"/>
            <a:ext cx="289734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Dynamic Runtime</a:t>
            </a:r>
            <a:endParaRPr lang="en-US" sz="1200" dirty="0"/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CEL-based policy functions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Schema-based validation framework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Configurable scope mappings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Offers the possibility of “in-place” upgrades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1519DF-C7F6-F966-FBA7-09FFC132088D}"/>
              </a:ext>
            </a:extLst>
          </p:cNvPr>
          <p:cNvSpPr txBox="1"/>
          <p:nvPr/>
        </p:nvSpPr>
        <p:spPr>
          <a:xfrm>
            <a:off x="8937790" y="3290743"/>
            <a:ext cx="26030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 indent="-174625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1200" dirty="0"/>
              <a:t>Phase out many Tractus-X EDC extensions (see Andrea’s analysis) </a:t>
            </a:r>
          </a:p>
          <a:p>
            <a:pPr marL="174625" indent="-174625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1200" dirty="0"/>
              <a:t>Create new policy functions using CEL</a:t>
            </a:r>
          </a:p>
          <a:p>
            <a:pPr marL="174625" indent="-174625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1200" dirty="0"/>
              <a:t>Replace code validation with JSON-Schema-based validation</a:t>
            </a:r>
          </a:p>
          <a:p>
            <a:pPr marL="174625" indent="-174625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1200" dirty="0"/>
              <a:t>Some extensions may be required (e.g., contract retirement)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124690A-72F9-5958-63C2-08CF36564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391" y="3874569"/>
            <a:ext cx="586674" cy="58667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918BC09-7AE5-31CA-6791-E62CDB11FE1A}"/>
              </a:ext>
            </a:extLst>
          </p:cNvPr>
          <p:cNvSpPr txBox="1"/>
          <p:nvPr/>
        </p:nvSpPr>
        <p:spPr>
          <a:xfrm>
            <a:off x="4282952" y="5343909"/>
            <a:ext cx="289734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Management API v4/5</a:t>
            </a:r>
            <a:endParaRPr lang="en-US" sz="1200" dirty="0"/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CEL-based policy functions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Schema-based validation framework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Configurable scope mappings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Offers the possibility of “in-place” upgrades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E01FFD-F748-A3D5-22BB-0EC43DC909D9}"/>
              </a:ext>
            </a:extLst>
          </p:cNvPr>
          <p:cNvSpPr txBox="1"/>
          <p:nvPr/>
        </p:nvSpPr>
        <p:spPr>
          <a:xfrm>
            <a:off x="8937790" y="5728630"/>
            <a:ext cx="2603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 indent="-174625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1200" dirty="0"/>
              <a:t>Upgrade relevant applications now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1E6BDE84-8EDD-C823-3AB1-8C953912A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2656" y="5702390"/>
            <a:ext cx="514144" cy="514144"/>
          </a:xfrm>
          <a:prstGeom prst="rect">
            <a:avLst/>
          </a:prstGeom>
        </p:spPr>
      </p:pic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89C11A14-8E50-0A5A-1B39-B257BCB8ECBA}"/>
              </a:ext>
            </a:extLst>
          </p:cNvPr>
          <p:cNvSpPr/>
          <p:nvPr/>
        </p:nvSpPr>
        <p:spPr>
          <a:xfrm>
            <a:off x="640080" y="1311479"/>
            <a:ext cx="11163357" cy="407125"/>
          </a:xfrm>
          <a:prstGeom prst="roundRect">
            <a:avLst>
              <a:gd name="adj" fmla="val 2318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645EA-AE9F-CAC0-0C18-E61C0F1AA91F}"/>
              </a:ext>
            </a:extLst>
          </p:cNvPr>
          <p:cNvSpPr txBox="1"/>
          <p:nvPr/>
        </p:nvSpPr>
        <p:spPr>
          <a:xfrm>
            <a:off x="4282952" y="1345764"/>
            <a:ext cx="2603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Plan</a:t>
            </a:r>
            <a:endParaRPr lang="en-US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05A9F8-79F5-B399-1A1A-35E129476617}"/>
              </a:ext>
            </a:extLst>
          </p:cNvPr>
          <p:cNvSpPr txBox="1"/>
          <p:nvPr/>
        </p:nvSpPr>
        <p:spPr>
          <a:xfrm>
            <a:off x="8937790" y="1345764"/>
            <a:ext cx="2603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Recommendations</a:t>
            </a:r>
            <a:endParaRPr 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ED971B-E51D-800C-6CBF-30F6291360EB}"/>
              </a:ext>
            </a:extLst>
          </p:cNvPr>
          <p:cNvSpPr txBox="1"/>
          <p:nvPr/>
        </p:nvSpPr>
        <p:spPr>
          <a:xfrm>
            <a:off x="838200" y="1345764"/>
            <a:ext cx="2603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Key EDC Project Goals</a:t>
            </a:r>
            <a:endParaRPr 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110BC6-F3B7-2F5D-6175-5DF0F3B25454}"/>
              </a:ext>
            </a:extLst>
          </p:cNvPr>
          <p:cNvSpPr txBox="1"/>
          <p:nvPr/>
        </p:nvSpPr>
        <p:spPr>
          <a:xfrm>
            <a:off x="838200" y="3844741"/>
            <a:ext cx="2603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~80% uses cases are supported out-of-the-box without custom extensions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D2DAA4-D068-899D-98BE-B061A000551E}"/>
              </a:ext>
            </a:extLst>
          </p:cNvPr>
          <p:cNvSpPr txBox="1"/>
          <p:nvPr/>
        </p:nvSpPr>
        <p:spPr>
          <a:xfrm>
            <a:off x="838200" y="5728630"/>
            <a:ext cx="2603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Simplify the Management API by limiting </a:t>
            </a:r>
            <a:r>
              <a:rPr lang="en-US" sz="1200" dirty="0" err="1"/>
              <a:t>Json</a:t>
            </a:r>
            <a:r>
              <a:rPr lang="en-US" sz="1200" dirty="0"/>
              <a:t>-LD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9E7931B-376B-A5FD-FC50-EB378035FA7D}"/>
              </a:ext>
            </a:extLst>
          </p:cNvPr>
          <p:cNvCxnSpPr/>
          <p:nvPr/>
        </p:nvCxnSpPr>
        <p:spPr>
          <a:xfrm>
            <a:off x="838200" y="3112362"/>
            <a:ext cx="10965238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2E5E69A-6F36-ABFA-0187-5597692E4A4A}"/>
              </a:ext>
            </a:extLst>
          </p:cNvPr>
          <p:cNvCxnSpPr/>
          <p:nvPr/>
        </p:nvCxnSpPr>
        <p:spPr>
          <a:xfrm>
            <a:off x="877934" y="5230024"/>
            <a:ext cx="10965238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043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F581E8-CC4E-E0FD-51C6-DFF8503F8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F9BE45-91DF-526E-8D76-3236AEF97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Sessions: Onboarding, Use Case Protocols, and Product Plan</a:t>
            </a:r>
          </a:p>
        </p:txBody>
      </p:sp>
    </p:spTree>
    <p:extLst>
      <p:ext uri="{BB962C8B-B14F-4D97-AF65-F5344CB8AC3E}">
        <p14:creationId xmlns:p14="http://schemas.microsoft.com/office/powerpoint/2010/main" val="997544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927C-6209-6F49-8084-00B448B89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dirty="0"/>
              <a:t>Deliverables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B83F31-0A47-1795-EB0C-5D38C658EECF}"/>
              </a:ext>
            </a:extLst>
          </p:cNvPr>
          <p:cNvSpPr txBox="1"/>
          <p:nvPr/>
        </p:nvSpPr>
        <p:spPr>
          <a:xfrm>
            <a:off x="821984" y="2111939"/>
            <a:ext cx="206129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Onboarding API</a:t>
            </a:r>
          </a:p>
          <a:p>
            <a:endParaRPr lang="en-US" sz="1200" dirty="0"/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Fully automated business and technical processes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Rock-solid Bring-Your-Own-Wallet (BYOW) support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453FEE-E718-7C14-3E87-030A15BD3E9F}"/>
              </a:ext>
            </a:extLst>
          </p:cNvPr>
          <p:cNvSpPr txBox="1"/>
          <p:nvPr/>
        </p:nvSpPr>
        <p:spPr>
          <a:xfrm>
            <a:off x="3180268" y="2099342"/>
            <a:ext cx="218403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Use Case Protocols</a:t>
            </a:r>
          </a:p>
          <a:p>
            <a:endParaRPr lang="en-US" sz="1200" dirty="0"/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Production-ready use case protocol specifications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Streamlined and simplified CX-135 and CX-125 interaction flows</a:t>
            </a:r>
          </a:p>
          <a:p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7544E0-9C00-D363-90E1-C07BF715F7A5}"/>
              </a:ext>
            </a:extLst>
          </p:cNvPr>
          <p:cNvSpPr txBox="1"/>
          <p:nvPr/>
        </p:nvSpPr>
        <p:spPr>
          <a:xfrm>
            <a:off x="3180268" y="4382747"/>
            <a:ext cx="214758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Network Rollout Plan</a:t>
            </a:r>
          </a:p>
          <a:p>
            <a:endParaRPr lang="en-US" sz="1200" dirty="0"/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Aligned with Catena-X 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Innovator vs. classic tracks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Enable progress without blocking on full network alignment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B96482-A98B-29FE-BA84-8F175F3E5D12}"/>
              </a:ext>
            </a:extLst>
          </p:cNvPr>
          <p:cNvCxnSpPr>
            <a:cxnSpLocks/>
          </p:cNvCxnSpPr>
          <p:nvPr/>
        </p:nvCxnSpPr>
        <p:spPr>
          <a:xfrm>
            <a:off x="7277273" y="3536701"/>
            <a:ext cx="2962094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C342E4-0B06-1F93-07A4-AAB6506BF39C}"/>
              </a:ext>
            </a:extLst>
          </p:cNvPr>
          <p:cNvCxnSpPr>
            <a:cxnSpLocks/>
          </p:cNvCxnSpPr>
          <p:nvPr/>
        </p:nvCxnSpPr>
        <p:spPr>
          <a:xfrm flipV="1">
            <a:off x="6761753" y="4498421"/>
            <a:ext cx="3973258" cy="1477"/>
          </a:xfrm>
          <a:prstGeom prst="straightConnector1">
            <a:avLst/>
          </a:prstGeom>
          <a:ln w="38100">
            <a:solidFill>
              <a:schemeClr val="bg2">
                <a:lumMod val="90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56C0B14-56B5-A468-1556-C99D47FD03C3}"/>
              </a:ext>
            </a:extLst>
          </p:cNvPr>
          <p:cNvSpPr/>
          <p:nvPr/>
        </p:nvSpPr>
        <p:spPr>
          <a:xfrm>
            <a:off x="7585463" y="3123071"/>
            <a:ext cx="2223511" cy="846478"/>
          </a:xfrm>
          <a:prstGeom prst="roundRect">
            <a:avLst>
              <a:gd name="adj" fmla="val 12018"/>
            </a:avLst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8" name="Graphic 17" descr="Factory with solid fill">
            <a:extLst>
              <a:ext uri="{FF2B5EF4-FFF2-40B4-BE49-F238E27FC236}">
                <a16:creationId xmlns:a16="http://schemas.microsoft.com/office/drawing/2014/main" id="{8211DEE3-09D3-2475-2F9C-0E504900A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2242" y="2220639"/>
            <a:ext cx="396720" cy="396720"/>
          </a:xfrm>
          <a:prstGeom prst="rect">
            <a:avLst/>
          </a:prstGeom>
        </p:spPr>
      </p:pic>
      <p:pic>
        <p:nvPicPr>
          <p:cNvPr id="22" name="Graphic 21" descr="Cloud with solid fill">
            <a:extLst>
              <a:ext uri="{FF2B5EF4-FFF2-40B4-BE49-F238E27FC236}">
                <a16:creationId xmlns:a16="http://schemas.microsoft.com/office/drawing/2014/main" id="{B763F663-7C6C-AD0C-EF6D-AB5251A051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0911" y="2134363"/>
            <a:ext cx="597378" cy="597378"/>
          </a:xfrm>
          <a:prstGeom prst="rect">
            <a:avLst/>
          </a:prstGeom>
        </p:spPr>
      </p:pic>
      <p:pic>
        <p:nvPicPr>
          <p:cNvPr id="24" name="Graphic 23" descr="Cloud with solid fill">
            <a:extLst>
              <a:ext uri="{FF2B5EF4-FFF2-40B4-BE49-F238E27FC236}">
                <a16:creationId xmlns:a16="http://schemas.microsoft.com/office/drawing/2014/main" id="{782A2E85-D2EA-5136-5EF8-9D4F9143E8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8529" y="3191029"/>
            <a:ext cx="597378" cy="59737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BA1FE12-5321-7F70-9B5B-7E71AFDC3A07}"/>
              </a:ext>
            </a:extLst>
          </p:cNvPr>
          <p:cNvSpPr txBox="1"/>
          <p:nvPr/>
        </p:nvSpPr>
        <p:spPr>
          <a:xfrm>
            <a:off x="8127549" y="2576697"/>
            <a:ext cx="11641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Onboarding API </a:t>
            </a:r>
          </a:p>
          <a:p>
            <a:pPr algn="ctr"/>
            <a:r>
              <a:rPr lang="en-US" sz="1100" dirty="0">
                <a:solidFill>
                  <a:srgbClr val="FF0000"/>
                </a:solidFill>
              </a:rPr>
              <a:t>Neptune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581341-2B84-B4FC-D512-951293733EEE}"/>
              </a:ext>
            </a:extLst>
          </p:cNvPr>
          <p:cNvSpPr txBox="1"/>
          <p:nvPr/>
        </p:nvSpPr>
        <p:spPr>
          <a:xfrm>
            <a:off x="8101542" y="3654217"/>
            <a:ext cx="11913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CX-135 Neptune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9AA8CC-8B88-2F20-5732-CDFACCEFF6D8}"/>
              </a:ext>
            </a:extLst>
          </p:cNvPr>
          <p:cNvSpPr txBox="1"/>
          <p:nvPr/>
        </p:nvSpPr>
        <p:spPr>
          <a:xfrm rot="16200000">
            <a:off x="7418694" y="3430893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DSP  1.0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4B2A223-0999-58E7-1A26-058666F529E1}"/>
              </a:ext>
            </a:extLst>
          </p:cNvPr>
          <p:cNvCxnSpPr/>
          <p:nvPr/>
        </p:nvCxnSpPr>
        <p:spPr>
          <a:xfrm>
            <a:off x="7814889" y="3123071"/>
            <a:ext cx="0" cy="846478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88FE8ED-0C2D-C6DE-8637-0BF118925737}"/>
              </a:ext>
            </a:extLst>
          </p:cNvPr>
          <p:cNvGrpSpPr/>
          <p:nvPr/>
        </p:nvGrpSpPr>
        <p:grpSpPr>
          <a:xfrm>
            <a:off x="6646877" y="3449807"/>
            <a:ext cx="459555" cy="171098"/>
            <a:chOff x="7560802" y="4087749"/>
            <a:chExt cx="1182712" cy="440339"/>
          </a:xfrm>
        </p:grpSpPr>
        <p:pic>
          <p:nvPicPr>
            <p:cNvPr id="30" name="Graphic 29" descr="Server with solid fill">
              <a:extLst>
                <a:ext uri="{FF2B5EF4-FFF2-40B4-BE49-F238E27FC236}">
                  <a16:creationId xmlns:a16="http://schemas.microsoft.com/office/drawing/2014/main" id="{3DAF63FE-9F8A-DF7A-4F4F-FA5BDD3A1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60802" y="4090308"/>
              <a:ext cx="437780" cy="437780"/>
            </a:xfrm>
            <a:prstGeom prst="rect">
              <a:avLst/>
            </a:prstGeom>
          </p:spPr>
        </p:pic>
        <p:pic>
          <p:nvPicPr>
            <p:cNvPr id="31" name="Graphic 30" descr="Server with solid fill">
              <a:extLst>
                <a:ext uri="{FF2B5EF4-FFF2-40B4-BE49-F238E27FC236}">
                  <a16:creationId xmlns:a16="http://schemas.microsoft.com/office/drawing/2014/main" id="{1B0EEFFD-28B4-0CEF-9F78-3BAA98D95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33268" y="4090308"/>
              <a:ext cx="437780" cy="437780"/>
            </a:xfrm>
            <a:prstGeom prst="rect">
              <a:avLst/>
            </a:prstGeom>
          </p:spPr>
        </p:pic>
        <p:pic>
          <p:nvPicPr>
            <p:cNvPr id="32" name="Graphic 31" descr="Server with solid fill">
              <a:extLst>
                <a:ext uri="{FF2B5EF4-FFF2-40B4-BE49-F238E27FC236}">
                  <a16:creationId xmlns:a16="http://schemas.microsoft.com/office/drawing/2014/main" id="{EC73C79C-C752-1306-CC84-7A8CF560F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305734" y="4087749"/>
              <a:ext cx="437780" cy="437780"/>
            </a:xfrm>
            <a:prstGeom prst="rect">
              <a:avLst/>
            </a:prstGeom>
          </p:spPr>
        </p:pic>
      </p:grpSp>
      <p:pic>
        <p:nvPicPr>
          <p:cNvPr id="33" name="Graphic 32" descr="Factory with solid fill">
            <a:extLst>
              <a:ext uri="{FF2B5EF4-FFF2-40B4-BE49-F238E27FC236}">
                <a16:creationId xmlns:a16="http://schemas.microsoft.com/office/drawing/2014/main" id="{97611BC7-C549-71E5-BBD9-37BA4389C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4088" y="3303725"/>
            <a:ext cx="396720" cy="39672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2CB5343-B6F5-4A5D-9475-1352EF0C7954}"/>
              </a:ext>
            </a:extLst>
          </p:cNvPr>
          <p:cNvSpPr txBox="1"/>
          <p:nvPr/>
        </p:nvSpPr>
        <p:spPr>
          <a:xfrm>
            <a:off x="5971165" y="4614825"/>
            <a:ext cx="647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Classic</a:t>
            </a:r>
          </a:p>
          <a:p>
            <a:pPr algn="ct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Supplier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A4C01F2-71F0-1288-6200-C2AC08B185A6}"/>
              </a:ext>
            </a:extLst>
          </p:cNvPr>
          <p:cNvGrpSpPr/>
          <p:nvPr/>
        </p:nvGrpSpPr>
        <p:grpSpPr>
          <a:xfrm>
            <a:off x="11266790" y="3720819"/>
            <a:ext cx="542136" cy="729554"/>
            <a:chOff x="7754269" y="3965143"/>
            <a:chExt cx="807144" cy="1086174"/>
          </a:xfrm>
        </p:grpSpPr>
        <p:pic>
          <p:nvPicPr>
            <p:cNvPr id="36" name="Graphic 35" descr="Building with solid fill">
              <a:extLst>
                <a:ext uri="{FF2B5EF4-FFF2-40B4-BE49-F238E27FC236}">
                  <a16:creationId xmlns:a16="http://schemas.microsoft.com/office/drawing/2014/main" id="{AFA1C60A-2141-F561-BF8D-8454B47D1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15403" y="3965143"/>
              <a:ext cx="484865" cy="48486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EAEA4B2-4F31-77BF-FF81-44179CF52E38}"/>
                </a:ext>
              </a:extLst>
            </p:cNvPr>
            <p:cNvSpPr txBox="1"/>
            <p:nvPr/>
          </p:nvSpPr>
          <p:spPr>
            <a:xfrm>
              <a:off x="7754269" y="4455626"/>
              <a:ext cx="807144" cy="595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Tier-1/</a:t>
              </a:r>
            </a:p>
            <a:p>
              <a:pPr algn="ctr"/>
              <a:r>
                <a:rPr lang="en-US" sz="1000" dirty="0"/>
                <a:t>OEM</a:t>
              </a:r>
            </a:p>
          </p:txBody>
        </p:sp>
      </p:grp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69BE5D1-3FA1-E7E8-76C9-D0926AA99ABB}"/>
              </a:ext>
            </a:extLst>
          </p:cNvPr>
          <p:cNvSpPr/>
          <p:nvPr/>
        </p:nvSpPr>
        <p:spPr>
          <a:xfrm>
            <a:off x="7578979" y="4092690"/>
            <a:ext cx="2223511" cy="846478"/>
          </a:xfrm>
          <a:prstGeom prst="roundRect">
            <a:avLst>
              <a:gd name="adj" fmla="val 12018"/>
            </a:avLst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39" name="Graphic 38" descr="Factory with solid fill">
            <a:extLst>
              <a:ext uri="{FF2B5EF4-FFF2-40B4-BE49-F238E27FC236}">
                <a16:creationId xmlns:a16="http://schemas.microsoft.com/office/drawing/2014/main" id="{455D4B4A-75C5-75E3-7EA8-5B387C48CB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772" y="4204797"/>
            <a:ext cx="396720" cy="39672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11967489-5F11-3CC1-69AC-DA0DAF17830E}"/>
              </a:ext>
            </a:extLst>
          </p:cNvPr>
          <p:cNvGrpSpPr/>
          <p:nvPr/>
        </p:nvGrpSpPr>
        <p:grpSpPr>
          <a:xfrm>
            <a:off x="10135317" y="2308112"/>
            <a:ext cx="850450" cy="706855"/>
            <a:chOff x="9861058" y="2172109"/>
            <a:chExt cx="850450" cy="706855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3A229525-D9A1-C958-6859-B9E52BFD5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153684" y="2172109"/>
              <a:ext cx="265198" cy="265198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8E4E9E8-72A4-1360-6848-D3E7B7288B1C}"/>
                </a:ext>
              </a:extLst>
            </p:cNvPr>
            <p:cNvSpPr txBox="1"/>
            <p:nvPr/>
          </p:nvSpPr>
          <p:spPr>
            <a:xfrm>
              <a:off x="9861058" y="2478854"/>
              <a:ext cx="8504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Operating</a:t>
              </a:r>
            </a:p>
            <a:p>
              <a:pPr algn="ctr"/>
              <a:r>
                <a:rPr lang="en-US" sz="1000" dirty="0"/>
                <a:t>Company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E954280-AACC-86E8-0B0C-1BCC75B25166}"/>
              </a:ext>
            </a:extLst>
          </p:cNvPr>
          <p:cNvSpPr txBox="1"/>
          <p:nvPr/>
        </p:nvSpPr>
        <p:spPr>
          <a:xfrm rot="16200000">
            <a:off x="7418337" y="4391175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DSP  0.8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0F03B30-CA53-7542-0842-18D28E86A516}"/>
              </a:ext>
            </a:extLst>
          </p:cNvPr>
          <p:cNvCxnSpPr/>
          <p:nvPr/>
        </p:nvCxnSpPr>
        <p:spPr>
          <a:xfrm>
            <a:off x="7814531" y="4083352"/>
            <a:ext cx="0" cy="846478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BADFC62-74C4-B40A-E920-00129361828D}"/>
              </a:ext>
            </a:extLst>
          </p:cNvPr>
          <p:cNvGrpSpPr/>
          <p:nvPr/>
        </p:nvGrpSpPr>
        <p:grpSpPr>
          <a:xfrm>
            <a:off x="6646877" y="2404698"/>
            <a:ext cx="459555" cy="171098"/>
            <a:chOff x="7560802" y="4087749"/>
            <a:chExt cx="1182712" cy="440339"/>
          </a:xfrm>
        </p:grpSpPr>
        <p:pic>
          <p:nvPicPr>
            <p:cNvPr id="46" name="Graphic 45" descr="Server with solid fill">
              <a:extLst>
                <a:ext uri="{FF2B5EF4-FFF2-40B4-BE49-F238E27FC236}">
                  <a16:creationId xmlns:a16="http://schemas.microsoft.com/office/drawing/2014/main" id="{F2858C0B-75D2-2A07-79C5-E4628313F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60802" y="4090308"/>
              <a:ext cx="437780" cy="437780"/>
            </a:xfrm>
            <a:prstGeom prst="rect">
              <a:avLst/>
            </a:prstGeom>
          </p:spPr>
        </p:pic>
        <p:pic>
          <p:nvPicPr>
            <p:cNvPr id="47" name="Graphic 46" descr="Server with solid fill">
              <a:extLst>
                <a:ext uri="{FF2B5EF4-FFF2-40B4-BE49-F238E27FC236}">
                  <a16:creationId xmlns:a16="http://schemas.microsoft.com/office/drawing/2014/main" id="{139A4334-3D4E-B188-71FF-1D0BACA37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33268" y="4090308"/>
              <a:ext cx="437780" cy="437780"/>
            </a:xfrm>
            <a:prstGeom prst="rect">
              <a:avLst/>
            </a:prstGeom>
          </p:spPr>
        </p:pic>
        <p:pic>
          <p:nvPicPr>
            <p:cNvPr id="48" name="Graphic 47" descr="Server with solid fill">
              <a:extLst>
                <a:ext uri="{FF2B5EF4-FFF2-40B4-BE49-F238E27FC236}">
                  <a16:creationId xmlns:a16="http://schemas.microsoft.com/office/drawing/2014/main" id="{FA2C64C7-AF96-37A7-51E4-E3754F6C4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305734" y="4087749"/>
              <a:ext cx="437780" cy="437780"/>
            </a:xfrm>
            <a:prstGeom prst="rect">
              <a:avLst/>
            </a:prstGeom>
          </p:spPr>
        </p:pic>
      </p:grp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C0FB7CEC-0776-7433-42E4-25A5A779C730}"/>
              </a:ext>
            </a:extLst>
          </p:cNvPr>
          <p:cNvSpPr/>
          <p:nvPr/>
        </p:nvSpPr>
        <p:spPr>
          <a:xfrm>
            <a:off x="10340753" y="3191029"/>
            <a:ext cx="394330" cy="778520"/>
          </a:xfrm>
          <a:prstGeom prst="roundRect">
            <a:avLst>
              <a:gd name="adj" fmla="val 12018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49DEB9-60C4-2996-E5D4-36E3A50706BC}"/>
              </a:ext>
            </a:extLst>
          </p:cNvPr>
          <p:cNvSpPr txBox="1"/>
          <p:nvPr/>
        </p:nvSpPr>
        <p:spPr>
          <a:xfrm rot="16200000">
            <a:off x="10178128" y="3371630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Use Case</a:t>
            </a:r>
          </a:p>
          <a:p>
            <a:pPr algn="ctr"/>
            <a:r>
              <a:rPr lang="en-US" sz="1000" dirty="0">
                <a:solidFill>
                  <a:srgbClr val="FF0000"/>
                </a:solidFill>
              </a:rPr>
              <a:t>APIs</a:t>
            </a:r>
          </a:p>
        </p:txBody>
      </p:sp>
      <p:pic>
        <p:nvPicPr>
          <p:cNvPr id="51" name="Graphic 50" descr="Cloud with solid fill">
            <a:extLst>
              <a:ext uri="{FF2B5EF4-FFF2-40B4-BE49-F238E27FC236}">
                <a16:creationId xmlns:a16="http://schemas.microsoft.com/office/drawing/2014/main" id="{E20AC8FF-7ED2-61B6-ACDD-4F0FA59EC2C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92045" y="4199732"/>
            <a:ext cx="597378" cy="597378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E9BC27FA-6C70-F36E-B741-D3E46B5A18E1}"/>
              </a:ext>
            </a:extLst>
          </p:cNvPr>
          <p:cNvSpPr txBox="1"/>
          <p:nvPr/>
        </p:nvSpPr>
        <p:spPr>
          <a:xfrm>
            <a:off x="8373179" y="4694767"/>
            <a:ext cx="6351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CX-135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9412666-7664-AFF3-88AA-39068DF8876D}"/>
              </a:ext>
            </a:extLst>
          </p:cNvPr>
          <p:cNvCxnSpPr>
            <a:cxnSpLocks/>
          </p:cNvCxnSpPr>
          <p:nvPr/>
        </p:nvCxnSpPr>
        <p:spPr>
          <a:xfrm>
            <a:off x="7340524" y="2469779"/>
            <a:ext cx="2898843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57DE725-C4F5-35CA-4CBD-4E2985BCEDDF}"/>
              </a:ext>
            </a:extLst>
          </p:cNvPr>
          <p:cNvSpPr txBox="1"/>
          <p:nvPr/>
        </p:nvSpPr>
        <p:spPr>
          <a:xfrm>
            <a:off x="6013296" y="2610627"/>
            <a:ext cx="563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SME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72235B-B595-57E3-37D1-6E29D22BA856}"/>
              </a:ext>
            </a:extLst>
          </p:cNvPr>
          <p:cNvSpPr txBox="1"/>
          <p:nvPr/>
        </p:nvSpPr>
        <p:spPr>
          <a:xfrm>
            <a:off x="6004621" y="3700445"/>
            <a:ext cx="563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SME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406934-039C-4F8A-6861-CF3ECBF1F9BE}"/>
              </a:ext>
            </a:extLst>
          </p:cNvPr>
          <p:cNvSpPr txBox="1"/>
          <p:nvPr/>
        </p:nvSpPr>
        <p:spPr>
          <a:xfrm>
            <a:off x="6571297" y="2624660"/>
            <a:ext cx="563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CSP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53EF8B-B9BD-C339-7FB5-E30E5879DF27}"/>
              </a:ext>
            </a:extLst>
          </p:cNvPr>
          <p:cNvSpPr txBox="1"/>
          <p:nvPr/>
        </p:nvSpPr>
        <p:spPr>
          <a:xfrm>
            <a:off x="6576966" y="3676484"/>
            <a:ext cx="563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CSP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C80E0A7-1983-E3B2-D400-592EAE5FBE30}"/>
              </a:ext>
            </a:extLst>
          </p:cNvPr>
          <p:cNvCxnSpPr>
            <a:cxnSpLocks/>
          </p:cNvCxnSpPr>
          <p:nvPr/>
        </p:nvCxnSpPr>
        <p:spPr>
          <a:xfrm>
            <a:off x="10821008" y="3516528"/>
            <a:ext cx="435531" cy="226885"/>
          </a:xfrm>
          <a:prstGeom prst="straightConnector1">
            <a:avLst/>
          </a:prstGeom>
          <a:ln w="38100">
            <a:solidFill>
              <a:srgbClr val="D1D1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2C783F8-A3AF-CCAF-94C9-A7C0AC5DBFC7}"/>
              </a:ext>
            </a:extLst>
          </p:cNvPr>
          <p:cNvCxnSpPr>
            <a:cxnSpLocks/>
          </p:cNvCxnSpPr>
          <p:nvPr/>
        </p:nvCxnSpPr>
        <p:spPr>
          <a:xfrm flipV="1">
            <a:off x="10720646" y="4149355"/>
            <a:ext cx="452106" cy="359223"/>
          </a:xfrm>
          <a:prstGeom prst="straightConnector1">
            <a:avLst/>
          </a:prstGeom>
          <a:ln w="38100">
            <a:solidFill>
              <a:srgbClr val="D1D1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294BEAA-D60F-1496-2ACD-F0B50BC1EB44}"/>
              </a:ext>
            </a:extLst>
          </p:cNvPr>
          <p:cNvSpPr txBox="1"/>
          <p:nvPr/>
        </p:nvSpPr>
        <p:spPr>
          <a:xfrm>
            <a:off x="768136" y="4466158"/>
            <a:ext cx="226175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Product Plan</a:t>
            </a:r>
          </a:p>
          <a:p>
            <a:endParaRPr lang="en-US" sz="1200" dirty="0"/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MVP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Pricing and availability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Working model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F9477F9-B9ED-03DD-026F-C062630D82D1}"/>
              </a:ext>
            </a:extLst>
          </p:cNvPr>
          <p:cNvSpPr/>
          <p:nvPr/>
        </p:nvSpPr>
        <p:spPr>
          <a:xfrm>
            <a:off x="587891" y="1759046"/>
            <a:ext cx="4886593" cy="2061716"/>
          </a:xfrm>
          <a:prstGeom prst="roundRect">
            <a:avLst>
              <a:gd name="adj" fmla="val 6696"/>
            </a:avLst>
          </a:prstGeom>
          <a:noFill/>
          <a:ln w="12700">
            <a:solidFill>
              <a:schemeClr val="dk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ABD62D2-F8F3-4B4E-1805-ED925285CE04}"/>
              </a:ext>
            </a:extLst>
          </p:cNvPr>
          <p:cNvGrpSpPr/>
          <p:nvPr/>
        </p:nvGrpSpPr>
        <p:grpSpPr>
          <a:xfrm>
            <a:off x="599116" y="1769421"/>
            <a:ext cx="2226431" cy="312110"/>
            <a:chOff x="599116" y="2438105"/>
            <a:chExt cx="2226431" cy="31211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689CC055-BD0C-1F5E-BC72-4DFA0D99FFDE}"/>
                </a:ext>
              </a:extLst>
            </p:cNvPr>
            <p:cNvSpPr/>
            <p:nvPr/>
          </p:nvSpPr>
          <p:spPr>
            <a:xfrm>
              <a:off x="599116" y="2438105"/>
              <a:ext cx="2157473" cy="310403"/>
            </a:xfrm>
            <a:prstGeom prst="roundRect">
              <a:avLst>
                <a:gd name="adj" fmla="val 40795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Day 1: Tuesday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F1D7F7B-0DB3-61B5-369E-86CEE22AC264}"/>
                </a:ext>
              </a:extLst>
            </p:cNvPr>
            <p:cNvSpPr/>
            <p:nvPr/>
          </p:nvSpPr>
          <p:spPr>
            <a:xfrm>
              <a:off x="2586463" y="2439812"/>
              <a:ext cx="239084" cy="310403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F1C65BA-1914-A7EA-E3F7-E784D5BCC335}"/>
                </a:ext>
              </a:extLst>
            </p:cNvPr>
            <p:cNvSpPr/>
            <p:nvPr/>
          </p:nvSpPr>
          <p:spPr>
            <a:xfrm>
              <a:off x="599496" y="2660568"/>
              <a:ext cx="239084" cy="8956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7215A7B-2F9D-467F-6BD4-9035CA5A6E1C}"/>
              </a:ext>
            </a:extLst>
          </p:cNvPr>
          <p:cNvSpPr/>
          <p:nvPr/>
        </p:nvSpPr>
        <p:spPr>
          <a:xfrm>
            <a:off x="599902" y="4043225"/>
            <a:ext cx="4886593" cy="2061716"/>
          </a:xfrm>
          <a:prstGeom prst="roundRect">
            <a:avLst>
              <a:gd name="adj" fmla="val 6696"/>
            </a:avLst>
          </a:prstGeom>
          <a:noFill/>
          <a:ln w="12700">
            <a:solidFill>
              <a:schemeClr val="dk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7A918AC-CABD-2E36-A1E4-01BC43837FF2}"/>
              </a:ext>
            </a:extLst>
          </p:cNvPr>
          <p:cNvGrpSpPr/>
          <p:nvPr/>
        </p:nvGrpSpPr>
        <p:grpSpPr>
          <a:xfrm>
            <a:off x="611127" y="4053600"/>
            <a:ext cx="2226431" cy="312110"/>
            <a:chOff x="599116" y="2438105"/>
            <a:chExt cx="2226431" cy="31211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3BDB2C6-5ED7-9178-6DAA-F54FB8DB2D85}"/>
                </a:ext>
              </a:extLst>
            </p:cNvPr>
            <p:cNvSpPr/>
            <p:nvPr/>
          </p:nvSpPr>
          <p:spPr>
            <a:xfrm>
              <a:off x="599116" y="2438105"/>
              <a:ext cx="2157473" cy="310403"/>
            </a:xfrm>
            <a:prstGeom prst="roundRect">
              <a:avLst>
                <a:gd name="adj" fmla="val 40795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Day 2: Wednesday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D92184F4-3644-17EE-A802-7F14AC94AC47}"/>
                </a:ext>
              </a:extLst>
            </p:cNvPr>
            <p:cNvSpPr/>
            <p:nvPr/>
          </p:nvSpPr>
          <p:spPr>
            <a:xfrm>
              <a:off x="2586463" y="2439812"/>
              <a:ext cx="239084" cy="310403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118ECD2C-23C9-C880-B42F-29D861A01257}"/>
                </a:ext>
              </a:extLst>
            </p:cNvPr>
            <p:cNvSpPr/>
            <p:nvPr/>
          </p:nvSpPr>
          <p:spPr>
            <a:xfrm>
              <a:off x="599496" y="2660568"/>
              <a:ext cx="239084" cy="8956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0893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C36E-3327-84C5-C295-AD90FAD6A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Onboarding API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614F7-7A09-2E59-EEE5-A379D0D14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Fully automated business and technical processes</a:t>
            </a:r>
          </a:p>
        </p:txBody>
      </p:sp>
    </p:spTree>
    <p:extLst>
      <p:ext uri="{BB962C8B-B14F-4D97-AF65-F5344CB8AC3E}">
        <p14:creationId xmlns:p14="http://schemas.microsoft.com/office/powerpoint/2010/main" val="1674292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1EFF37A4-610C-AE4F-32CD-8325A0C620AA}"/>
              </a:ext>
            </a:extLst>
          </p:cNvPr>
          <p:cNvSpPr/>
          <p:nvPr/>
        </p:nvSpPr>
        <p:spPr>
          <a:xfrm flipH="1">
            <a:off x="3445968" y="2209636"/>
            <a:ext cx="8746031" cy="4644574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DA988F-B050-8B2D-6ACE-B1DBD4FE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From Single Platforms to Ecosystems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6C305-D7E9-B941-328C-B0E9D848F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418"/>
            <a:ext cx="7240728" cy="4597545"/>
          </a:xfrm>
        </p:spPr>
        <p:txBody>
          <a:bodyPr>
            <a:normAutofit/>
          </a:bodyPr>
          <a:lstStyle/>
          <a:p>
            <a:r>
              <a:rPr lang="en-US" dirty="0"/>
              <a:t>No single onboarding model can reach all SMEs</a:t>
            </a:r>
          </a:p>
          <a:p>
            <a:r>
              <a:rPr lang="en-US" dirty="0"/>
              <a:t>An open dataspace ecosystem enables many onboarding platforms</a:t>
            </a:r>
          </a:p>
          <a:p>
            <a:r>
              <a:rPr lang="en-US" dirty="0" err="1"/>
              <a:t>Onboarders</a:t>
            </a:r>
            <a:r>
              <a:rPr lang="en-US" dirty="0"/>
              <a:t> become acquisition engines, driving global scale</a:t>
            </a:r>
          </a:p>
          <a:p>
            <a:r>
              <a:rPr lang="en-US" dirty="0" err="1"/>
              <a:t>Opiquad</a:t>
            </a:r>
            <a:r>
              <a:rPr lang="en-US" dirty="0"/>
              <a:t> and Aruba demos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585090-08FC-474F-85ED-FB81BB3DA9E5}"/>
              </a:ext>
            </a:extLst>
          </p:cNvPr>
          <p:cNvGrpSpPr/>
          <p:nvPr/>
        </p:nvGrpSpPr>
        <p:grpSpPr>
          <a:xfrm>
            <a:off x="6617520" y="5890002"/>
            <a:ext cx="647251" cy="647251"/>
            <a:chOff x="6137723" y="4998297"/>
            <a:chExt cx="1658462" cy="165846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5037A63-5999-C391-6EED-8910A7875C85}"/>
                </a:ext>
              </a:extLst>
            </p:cNvPr>
            <p:cNvSpPr/>
            <p:nvPr/>
          </p:nvSpPr>
          <p:spPr>
            <a:xfrm>
              <a:off x="6137723" y="4998297"/>
              <a:ext cx="1658462" cy="1658462"/>
            </a:xfrm>
            <a:prstGeom prst="ellipse">
              <a:avLst/>
            </a:prstGeom>
            <a:solidFill>
              <a:srgbClr val="006EF9">
                <a:alpha val="3259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9DE4E86-C40F-2053-DE56-A5225DA46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5329" y="5796568"/>
              <a:ext cx="869531" cy="467910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6EA8258-B24C-66C9-B997-0EE89BBFEC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7757" y="5390310"/>
              <a:ext cx="216041" cy="640213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3C7686-1966-AA7E-70B5-280B27F9C6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71013" y="5460496"/>
              <a:ext cx="236744" cy="490696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73A0F89-82CD-A695-4201-59BD13BCC9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73061" y="5364569"/>
              <a:ext cx="457658" cy="108692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1BA88AF-3EF9-FD2F-5E8B-FB14F1E170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61350" y="5472242"/>
              <a:ext cx="267327" cy="371987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991F5DD-3E14-89AB-8838-DBF8F6390A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72935" y="5464146"/>
              <a:ext cx="221925" cy="349302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02AE671-CA9D-E708-02ED-2C574E3CD3B0}"/>
                </a:ext>
              </a:extLst>
            </p:cNvPr>
            <p:cNvCxnSpPr>
              <a:cxnSpLocks/>
              <a:endCxn id="73" idx="2"/>
            </p:cNvCxnSpPr>
            <p:nvPr/>
          </p:nvCxnSpPr>
          <p:spPr>
            <a:xfrm flipH="1" flipV="1">
              <a:off x="6465979" y="5951192"/>
              <a:ext cx="176803" cy="310440"/>
            </a:xfrm>
            <a:prstGeom prst="line">
              <a:avLst/>
            </a:prstGeom>
            <a:ln w="28575">
              <a:solidFill>
                <a:srgbClr val="006E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EEB3E83-2E53-683D-9724-3520D80281B9}"/>
                </a:ext>
              </a:extLst>
            </p:cNvPr>
            <p:cNvGrpSpPr/>
            <p:nvPr/>
          </p:nvGrpSpPr>
          <p:grpSpPr>
            <a:xfrm>
              <a:off x="7022643" y="5209498"/>
              <a:ext cx="402311" cy="402311"/>
              <a:chOff x="7569200" y="4053840"/>
              <a:chExt cx="609600" cy="609600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5A7A2802-21B7-686E-49C8-657557202E68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7" name="Graphic 76" descr="Building outline">
                <a:extLst>
                  <a:ext uri="{FF2B5EF4-FFF2-40B4-BE49-F238E27FC236}">
                    <a16:creationId xmlns:a16="http://schemas.microsoft.com/office/drawing/2014/main" id="{FFC0F514-73DD-CFD9-B505-2BCCCF2CE9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AB8BF83-E462-26F7-11D9-878E3F05010F}"/>
                </a:ext>
              </a:extLst>
            </p:cNvPr>
            <p:cNvGrpSpPr/>
            <p:nvPr/>
          </p:nvGrpSpPr>
          <p:grpSpPr>
            <a:xfrm>
              <a:off x="6606384" y="5310904"/>
              <a:ext cx="284025" cy="284025"/>
              <a:chOff x="7569200" y="4053840"/>
              <a:chExt cx="609600" cy="609600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0C855186-97E0-7D12-67F0-1667E8CE5CDC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5" name="Graphic 74" descr="Building outline">
                <a:extLst>
                  <a:ext uri="{FF2B5EF4-FFF2-40B4-BE49-F238E27FC236}">
                    <a16:creationId xmlns:a16="http://schemas.microsoft.com/office/drawing/2014/main" id="{7D522C13-40A2-B64B-79DD-E1031D0EB7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E5EE887-6724-A7BE-AB37-326E34BD98A5}"/>
                </a:ext>
              </a:extLst>
            </p:cNvPr>
            <p:cNvGrpSpPr/>
            <p:nvPr/>
          </p:nvGrpSpPr>
          <p:grpSpPr>
            <a:xfrm>
              <a:off x="6263088" y="5631987"/>
              <a:ext cx="402311" cy="402311"/>
              <a:chOff x="7569200" y="4053840"/>
              <a:chExt cx="609600" cy="609600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68300797-DBF8-2D51-B7BC-BFD906B2C6D6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3" name="Graphic 72" descr="Building outline">
                <a:extLst>
                  <a:ext uri="{FF2B5EF4-FFF2-40B4-BE49-F238E27FC236}">
                    <a16:creationId xmlns:a16="http://schemas.microsoft.com/office/drawing/2014/main" id="{2B08AE0D-6A44-65BB-6826-F0A1B4B415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746B038-C54C-11C4-AB2C-689278861974}"/>
                </a:ext>
              </a:extLst>
            </p:cNvPr>
            <p:cNvGrpSpPr/>
            <p:nvPr/>
          </p:nvGrpSpPr>
          <p:grpSpPr>
            <a:xfrm>
              <a:off x="6784795" y="5726518"/>
              <a:ext cx="512169" cy="512169"/>
              <a:chOff x="7569200" y="4053840"/>
              <a:chExt cx="609600" cy="609600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DF063A86-25D3-42C8-A307-7A9F27696A36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1" name="Graphic 70" descr="Building outline">
                <a:extLst>
                  <a:ext uri="{FF2B5EF4-FFF2-40B4-BE49-F238E27FC236}">
                    <a16:creationId xmlns:a16="http://schemas.microsoft.com/office/drawing/2014/main" id="{D74A535C-E3AC-24DA-427A-16B0C850EF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6E212BF-3800-F031-FE5C-15C0953B56DC}"/>
                </a:ext>
              </a:extLst>
            </p:cNvPr>
            <p:cNvGrpSpPr/>
            <p:nvPr/>
          </p:nvGrpSpPr>
          <p:grpSpPr>
            <a:xfrm>
              <a:off x="7336384" y="5655884"/>
              <a:ext cx="284025" cy="284025"/>
              <a:chOff x="7569200" y="4053840"/>
              <a:chExt cx="609600" cy="609600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F1E8575-9DEC-5379-0B34-CC7BBED90A10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9" name="Graphic 68" descr="Building outline">
                <a:extLst>
                  <a:ext uri="{FF2B5EF4-FFF2-40B4-BE49-F238E27FC236}">
                    <a16:creationId xmlns:a16="http://schemas.microsoft.com/office/drawing/2014/main" id="{7E1A5E7D-3BAA-C6F3-5E52-A8EB38F37A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4A1F20F-FFC7-BBD9-8C8D-5887ED58617D}"/>
                </a:ext>
              </a:extLst>
            </p:cNvPr>
            <p:cNvGrpSpPr/>
            <p:nvPr/>
          </p:nvGrpSpPr>
          <p:grpSpPr>
            <a:xfrm>
              <a:off x="6500770" y="6098561"/>
              <a:ext cx="284025" cy="284025"/>
              <a:chOff x="7569200" y="4053840"/>
              <a:chExt cx="609600" cy="609600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5DBE26-3FF8-8D0A-88DB-F73AAFA3DA07}"/>
                  </a:ext>
                </a:extLst>
              </p:cNvPr>
              <p:cNvSpPr/>
              <p:nvPr/>
            </p:nvSpPr>
            <p:spPr>
              <a:xfrm>
                <a:off x="7569200" y="4053840"/>
                <a:ext cx="609600" cy="609600"/>
              </a:xfrm>
              <a:prstGeom prst="ellipse">
                <a:avLst/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7" name="Graphic 66" descr="Building outline">
                <a:extLst>
                  <a:ext uri="{FF2B5EF4-FFF2-40B4-BE49-F238E27FC236}">
                    <a16:creationId xmlns:a16="http://schemas.microsoft.com/office/drawing/2014/main" id="{3A3C9183-CF16-60E1-5001-608ABA9E1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4905" y="4174065"/>
                <a:ext cx="363449" cy="363449"/>
              </a:xfrm>
              <a:prstGeom prst="rect">
                <a:avLst/>
              </a:prstGeom>
            </p:spPr>
          </p:pic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3C5EDCE-E70A-E4B1-71D9-3CB8FD59F515}"/>
              </a:ext>
            </a:extLst>
          </p:cNvPr>
          <p:cNvGrpSpPr/>
          <p:nvPr/>
        </p:nvGrpSpPr>
        <p:grpSpPr>
          <a:xfrm>
            <a:off x="8828857" y="3493655"/>
            <a:ext cx="3186166" cy="3199129"/>
            <a:chOff x="7743772" y="2042778"/>
            <a:chExt cx="3777325" cy="379269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07C8D8-22BA-E855-FA87-CDBF4CE4C32C}"/>
                </a:ext>
              </a:extLst>
            </p:cNvPr>
            <p:cNvSpPr/>
            <p:nvPr/>
          </p:nvSpPr>
          <p:spPr>
            <a:xfrm>
              <a:off x="8083526" y="2383421"/>
              <a:ext cx="3120489" cy="3120489"/>
            </a:xfrm>
            <a:prstGeom prst="ellipse">
              <a:avLst/>
            </a:prstGeom>
            <a:solidFill>
              <a:srgbClr val="006EF9">
                <a:alpha val="1495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4E42954-684C-1A70-3BD2-323D916854CF}"/>
                </a:ext>
              </a:extLst>
            </p:cNvPr>
            <p:cNvGrpSpPr/>
            <p:nvPr/>
          </p:nvGrpSpPr>
          <p:grpSpPr>
            <a:xfrm>
              <a:off x="8819645" y="3114435"/>
              <a:ext cx="1658462" cy="1658462"/>
              <a:chOff x="6137723" y="4998297"/>
              <a:chExt cx="1658462" cy="1658462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9D0A145-23FB-A0C5-1DBA-603FEF9E63B3}"/>
                  </a:ext>
                </a:extLst>
              </p:cNvPr>
              <p:cNvSpPr/>
              <p:nvPr/>
            </p:nvSpPr>
            <p:spPr>
              <a:xfrm>
                <a:off x="6137723" y="4998297"/>
                <a:ext cx="1658462" cy="1658462"/>
              </a:xfrm>
              <a:prstGeom prst="ellipse">
                <a:avLst/>
              </a:prstGeom>
              <a:solidFill>
                <a:srgbClr val="006EF9">
                  <a:alpha val="32597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973A7FF-B644-9FA7-B691-FD333334BA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25329" y="5796568"/>
                <a:ext cx="869531" cy="467910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8F9282E-E706-AF59-FD4C-5240B247FF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07757" y="5390310"/>
                <a:ext cx="216041" cy="640213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3EDE93B-339B-414D-6158-30DED950AA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771013" y="5460496"/>
                <a:ext cx="236744" cy="490696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D8404413-E370-F9AC-E389-9FADBBCB35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73061" y="5364569"/>
                <a:ext cx="457658" cy="108692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CC25623C-28B1-DA1E-C8CF-B1726B519D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61350" y="5472242"/>
                <a:ext cx="267327" cy="371987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CAF6C43-7BCB-B55A-F264-9EDBF9FD0B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272935" y="5464146"/>
                <a:ext cx="221925" cy="349302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DE9DF58F-16F2-FFB5-1CA4-80E69AAFF57C}"/>
                  </a:ext>
                </a:extLst>
              </p:cNvPr>
              <p:cNvCxnSpPr>
                <a:cxnSpLocks/>
                <a:endCxn id="32" idx="2"/>
              </p:cNvCxnSpPr>
              <p:nvPr/>
            </p:nvCxnSpPr>
            <p:spPr>
              <a:xfrm flipH="1" flipV="1">
                <a:off x="6465979" y="5951192"/>
                <a:ext cx="176803" cy="310440"/>
              </a:xfrm>
              <a:prstGeom prst="line">
                <a:avLst/>
              </a:prstGeom>
              <a:ln w="28575">
                <a:solidFill>
                  <a:srgbClr val="006EF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E6BC3C62-40F0-913B-3774-F3A1F5059BB1}"/>
                  </a:ext>
                </a:extLst>
              </p:cNvPr>
              <p:cNvGrpSpPr/>
              <p:nvPr/>
            </p:nvGrpSpPr>
            <p:grpSpPr>
              <a:xfrm>
                <a:off x="7022643" y="5209498"/>
                <a:ext cx="402311" cy="402311"/>
                <a:chOff x="7569200" y="4053840"/>
                <a:chExt cx="609600" cy="609600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AD8947F2-CA3E-264E-756B-EC600C826F2C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36" name="Graphic 35" descr="Building outline">
                  <a:extLst>
                    <a:ext uri="{FF2B5EF4-FFF2-40B4-BE49-F238E27FC236}">
                      <a16:creationId xmlns:a16="http://schemas.microsoft.com/office/drawing/2014/main" id="{D31562E6-6376-E41F-31B4-79AB969D31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287252FA-FF01-B906-C4FD-2D333868FCE3}"/>
                  </a:ext>
                </a:extLst>
              </p:cNvPr>
              <p:cNvGrpSpPr/>
              <p:nvPr/>
            </p:nvGrpSpPr>
            <p:grpSpPr>
              <a:xfrm>
                <a:off x="6606384" y="5310904"/>
                <a:ext cx="284025" cy="284025"/>
                <a:chOff x="7569200" y="4053840"/>
                <a:chExt cx="609600" cy="609600"/>
              </a:xfrm>
            </p:grpSpPr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0B356FDF-EE24-6836-6BFE-6527B61E840D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34" name="Graphic 33" descr="Building outline">
                  <a:extLst>
                    <a:ext uri="{FF2B5EF4-FFF2-40B4-BE49-F238E27FC236}">
                      <a16:creationId xmlns:a16="http://schemas.microsoft.com/office/drawing/2014/main" id="{6B826BC8-3FFD-A357-F6D1-84225ABAA4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59C6537-DB03-B828-4BB5-7AE9C42773B2}"/>
                  </a:ext>
                </a:extLst>
              </p:cNvPr>
              <p:cNvGrpSpPr/>
              <p:nvPr/>
            </p:nvGrpSpPr>
            <p:grpSpPr>
              <a:xfrm>
                <a:off x="6263088" y="5631987"/>
                <a:ext cx="402311" cy="402311"/>
                <a:chOff x="7569200" y="4053840"/>
                <a:chExt cx="609600" cy="609600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FA4FF529-2EF8-088C-E152-18FD749C4B0D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32" name="Graphic 31" descr="Building outline">
                  <a:extLst>
                    <a:ext uri="{FF2B5EF4-FFF2-40B4-BE49-F238E27FC236}">
                      <a16:creationId xmlns:a16="http://schemas.microsoft.com/office/drawing/2014/main" id="{5DF01FF7-54E0-6120-06A2-16601D7FC0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ACAF5BA-9938-6EB0-7A9A-928FE5B29D8D}"/>
                  </a:ext>
                </a:extLst>
              </p:cNvPr>
              <p:cNvGrpSpPr/>
              <p:nvPr/>
            </p:nvGrpSpPr>
            <p:grpSpPr>
              <a:xfrm>
                <a:off x="6784795" y="5726518"/>
                <a:ext cx="512169" cy="512169"/>
                <a:chOff x="7569200" y="4053840"/>
                <a:chExt cx="609600" cy="609600"/>
              </a:xfrm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2139C5E0-DB08-A0A6-D72D-93436BCF2448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30" name="Graphic 29" descr="Building outline">
                  <a:extLst>
                    <a:ext uri="{FF2B5EF4-FFF2-40B4-BE49-F238E27FC236}">
                      <a16:creationId xmlns:a16="http://schemas.microsoft.com/office/drawing/2014/main" id="{D45ED580-9AAF-D7A5-D4AE-4E154D337B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E91D631A-B1A4-EB49-0D51-A305632A8D2D}"/>
                  </a:ext>
                </a:extLst>
              </p:cNvPr>
              <p:cNvGrpSpPr/>
              <p:nvPr/>
            </p:nvGrpSpPr>
            <p:grpSpPr>
              <a:xfrm>
                <a:off x="7336384" y="5655884"/>
                <a:ext cx="284025" cy="284025"/>
                <a:chOff x="7569200" y="4053840"/>
                <a:chExt cx="609600" cy="609600"/>
              </a:xfrm>
            </p:grpSpPr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BE83984-BB04-AD4F-5F75-D3BCA3434E3E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8" name="Graphic 27" descr="Building outline">
                  <a:extLst>
                    <a:ext uri="{FF2B5EF4-FFF2-40B4-BE49-F238E27FC236}">
                      <a16:creationId xmlns:a16="http://schemas.microsoft.com/office/drawing/2014/main" id="{DF3764C8-2B7D-44CF-9740-AC998829B6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9C89655-6E35-5315-D80A-D498F365750B}"/>
                  </a:ext>
                </a:extLst>
              </p:cNvPr>
              <p:cNvGrpSpPr/>
              <p:nvPr/>
            </p:nvGrpSpPr>
            <p:grpSpPr>
              <a:xfrm>
                <a:off x="6500770" y="6098561"/>
                <a:ext cx="284025" cy="284025"/>
                <a:chOff x="7569200" y="4053840"/>
                <a:chExt cx="609600" cy="609600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0AD58AB2-96EA-F2F4-6FF1-E5720FFA564A}"/>
                    </a:ext>
                  </a:extLst>
                </p:cNvPr>
                <p:cNvSpPr/>
                <p:nvPr/>
              </p:nvSpPr>
              <p:spPr>
                <a:xfrm>
                  <a:off x="7569200" y="4053840"/>
                  <a:ext cx="609600" cy="609600"/>
                </a:xfrm>
                <a:prstGeom prst="ellipse">
                  <a:avLst/>
                </a:prstGeom>
                <a:solidFill>
                  <a:srgbClr val="006EF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6" name="Graphic 25" descr="Building outline">
                  <a:extLst>
                    <a:ext uri="{FF2B5EF4-FFF2-40B4-BE49-F238E27FC236}">
                      <a16:creationId xmlns:a16="http://schemas.microsoft.com/office/drawing/2014/main" id="{7AB7CB8C-F0D7-D995-36E8-B5DCEE32E8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4905" y="4174065"/>
                  <a:ext cx="363449" cy="363449"/>
                </a:xfrm>
                <a:prstGeom prst="rect">
                  <a:avLst/>
                </a:prstGeom>
              </p:spPr>
            </p:pic>
          </p:grpSp>
        </p:grpSp>
        <p:sp>
          <p:nvSpPr>
            <p:cNvPr id="78" name="Right Arrow 77">
              <a:extLst>
                <a:ext uri="{FF2B5EF4-FFF2-40B4-BE49-F238E27FC236}">
                  <a16:creationId xmlns:a16="http://schemas.microsoft.com/office/drawing/2014/main" id="{E0B9AFFD-FAE0-8A97-6B4D-F0FB01AA862D}"/>
                </a:ext>
              </a:extLst>
            </p:cNvPr>
            <p:cNvSpPr/>
            <p:nvPr/>
          </p:nvSpPr>
          <p:spPr>
            <a:xfrm rot="16200000">
              <a:off x="9111699" y="2414546"/>
              <a:ext cx="1072150" cy="328613"/>
            </a:xfrm>
            <a:prstGeom prst="rightArrow">
              <a:avLst/>
            </a:prstGeom>
            <a:solidFill>
              <a:srgbClr val="9FC1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ight Arrow 78">
              <a:extLst>
                <a:ext uri="{FF2B5EF4-FFF2-40B4-BE49-F238E27FC236}">
                  <a16:creationId xmlns:a16="http://schemas.microsoft.com/office/drawing/2014/main" id="{5B1BFB8D-96DD-688E-6EC9-7F2FEE570194}"/>
                </a:ext>
              </a:extLst>
            </p:cNvPr>
            <p:cNvSpPr/>
            <p:nvPr/>
          </p:nvSpPr>
          <p:spPr>
            <a:xfrm rot="5400000">
              <a:off x="9094135" y="5135089"/>
              <a:ext cx="1072150" cy="328613"/>
            </a:xfrm>
            <a:prstGeom prst="rightArrow">
              <a:avLst/>
            </a:prstGeom>
            <a:solidFill>
              <a:srgbClr val="9FC1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ight Arrow 79">
              <a:extLst>
                <a:ext uri="{FF2B5EF4-FFF2-40B4-BE49-F238E27FC236}">
                  <a16:creationId xmlns:a16="http://schemas.microsoft.com/office/drawing/2014/main" id="{AAD8491E-F745-22D0-D7FA-4855777E9956}"/>
                </a:ext>
              </a:extLst>
            </p:cNvPr>
            <p:cNvSpPr/>
            <p:nvPr/>
          </p:nvSpPr>
          <p:spPr>
            <a:xfrm>
              <a:off x="10448947" y="3767733"/>
              <a:ext cx="1072150" cy="328613"/>
            </a:xfrm>
            <a:prstGeom prst="rightArrow">
              <a:avLst/>
            </a:prstGeom>
            <a:solidFill>
              <a:srgbClr val="9FC1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ight Arrow 80">
              <a:extLst>
                <a:ext uri="{FF2B5EF4-FFF2-40B4-BE49-F238E27FC236}">
                  <a16:creationId xmlns:a16="http://schemas.microsoft.com/office/drawing/2014/main" id="{555F5BA2-4493-F037-CC85-307B969E973E}"/>
                </a:ext>
              </a:extLst>
            </p:cNvPr>
            <p:cNvSpPr/>
            <p:nvPr/>
          </p:nvSpPr>
          <p:spPr>
            <a:xfrm rot="10800000">
              <a:off x="7743772" y="3796060"/>
              <a:ext cx="1072150" cy="328613"/>
            </a:xfrm>
            <a:prstGeom prst="rightArrow">
              <a:avLst/>
            </a:prstGeom>
            <a:solidFill>
              <a:srgbClr val="9FC1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D9FF0BCD-F3DC-7A75-118C-BEBD6B777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8708" y="4013399"/>
            <a:ext cx="904356" cy="379606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564866F7-3266-5D09-CE73-A786A46C65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39660" y="5784750"/>
            <a:ext cx="904357" cy="25322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5FD30D6-DDDF-24DF-558C-DF90D7557687}"/>
              </a:ext>
            </a:extLst>
          </p:cNvPr>
          <p:cNvGrpSpPr/>
          <p:nvPr/>
        </p:nvGrpSpPr>
        <p:grpSpPr>
          <a:xfrm>
            <a:off x="9515536" y="5565240"/>
            <a:ext cx="455478" cy="479736"/>
            <a:chOff x="7560802" y="3282388"/>
            <a:chExt cx="1182712" cy="1245700"/>
          </a:xfrm>
          <a:solidFill>
            <a:srgbClr val="9FC1FD"/>
          </a:solidFill>
        </p:grpSpPr>
        <p:pic>
          <p:nvPicPr>
            <p:cNvPr id="9" name="Graphic 8" descr="Cloud with solid fill">
              <a:extLst>
                <a:ext uri="{FF2B5EF4-FFF2-40B4-BE49-F238E27FC236}">
                  <a16:creationId xmlns:a16="http://schemas.microsoft.com/office/drawing/2014/main" id="{5A8E00A2-6D4A-F86C-1A4B-78867417D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48405" y="3282388"/>
              <a:ext cx="914400" cy="914400"/>
            </a:xfrm>
            <a:prstGeom prst="rect">
              <a:avLst/>
            </a:prstGeom>
          </p:spPr>
        </p:pic>
        <p:pic>
          <p:nvPicPr>
            <p:cNvPr id="37" name="Graphic 36" descr="Server with solid fill">
              <a:extLst>
                <a:ext uri="{FF2B5EF4-FFF2-40B4-BE49-F238E27FC236}">
                  <a16:creationId xmlns:a16="http://schemas.microsoft.com/office/drawing/2014/main" id="{C2CE0BB8-8E31-3665-4816-8A5902EDC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560802" y="4090308"/>
              <a:ext cx="437780" cy="437780"/>
            </a:xfrm>
            <a:prstGeom prst="rect">
              <a:avLst/>
            </a:prstGeom>
          </p:spPr>
        </p:pic>
        <p:pic>
          <p:nvPicPr>
            <p:cNvPr id="38" name="Graphic 37" descr="Server with solid fill">
              <a:extLst>
                <a:ext uri="{FF2B5EF4-FFF2-40B4-BE49-F238E27FC236}">
                  <a16:creationId xmlns:a16="http://schemas.microsoft.com/office/drawing/2014/main" id="{2CA9DF7B-C019-FE61-AE04-527D6349F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933268" y="4090308"/>
              <a:ext cx="437780" cy="437780"/>
            </a:xfrm>
            <a:prstGeom prst="rect">
              <a:avLst/>
            </a:prstGeom>
          </p:spPr>
        </p:pic>
        <p:pic>
          <p:nvPicPr>
            <p:cNvPr id="39" name="Graphic 38" descr="Server with solid fill">
              <a:extLst>
                <a:ext uri="{FF2B5EF4-FFF2-40B4-BE49-F238E27FC236}">
                  <a16:creationId xmlns:a16="http://schemas.microsoft.com/office/drawing/2014/main" id="{B6D773C9-7310-FC38-4B45-2B928A8B54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305734" y="4087749"/>
              <a:ext cx="437780" cy="437780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183C952-A5D3-CD6A-5024-D904046A8E58}"/>
              </a:ext>
            </a:extLst>
          </p:cNvPr>
          <p:cNvGrpSpPr/>
          <p:nvPr/>
        </p:nvGrpSpPr>
        <p:grpSpPr>
          <a:xfrm>
            <a:off x="10966367" y="4148998"/>
            <a:ext cx="455478" cy="479736"/>
            <a:chOff x="7560802" y="3282388"/>
            <a:chExt cx="1182712" cy="1245700"/>
          </a:xfrm>
          <a:solidFill>
            <a:srgbClr val="9FC1FD"/>
          </a:solidFill>
        </p:grpSpPr>
        <p:pic>
          <p:nvPicPr>
            <p:cNvPr id="54" name="Graphic 53" descr="Cloud with solid fill">
              <a:extLst>
                <a:ext uri="{FF2B5EF4-FFF2-40B4-BE49-F238E27FC236}">
                  <a16:creationId xmlns:a16="http://schemas.microsoft.com/office/drawing/2014/main" id="{2C8458B0-27A2-A476-FACF-DDBBD791E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48405" y="3282388"/>
              <a:ext cx="914400" cy="914400"/>
            </a:xfrm>
            <a:prstGeom prst="rect">
              <a:avLst/>
            </a:prstGeom>
          </p:spPr>
        </p:pic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FD992CFD-08FA-CA76-34F8-CC26F1769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560802" y="4090308"/>
              <a:ext cx="437780" cy="437780"/>
            </a:xfrm>
            <a:prstGeom prst="rect">
              <a:avLst/>
            </a:prstGeom>
          </p:spPr>
        </p:pic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92C2F86F-3ADF-8073-F373-EB0C83533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933268" y="4090308"/>
              <a:ext cx="437780" cy="437780"/>
            </a:xfrm>
            <a:prstGeom prst="rect">
              <a:avLst/>
            </a:prstGeom>
          </p:spPr>
        </p:pic>
        <p:pic>
          <p:nvPicPr>
            <p:cNvPr id="86" name="Graphic 85" descr="Server with solid fill">
              <a:extLst>
                <a:ext uri="{FF2B5EF4-FFF2-40B4-BE49-F238E27FC236}">
                  <a16:creationId xmlns:a16="http://schemas.microsoft.com/office/drawing/2014/main" id="{041BA2D6-0295-C610-116D-DCEC40DC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305734" y="4087749"/>
              <a:ext cx="437780" cy="437780"/>
            </a:xfrm>
            <a:prstGeom prst="rect">
              <a:avLst/>
            </a:prstGeom>
          </p:spPr>
        </p:pic>
      </p:grp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BB6548B-D80F-87CB-778A-36F59ECDED72}"/>
              </a:ext>
            </a:extLst>
          </p:cNvPr>
          <p:cNvCxnSpPr/>
          <p:nvPr/>
        </p:nvCxnSpPr>
        <p:spPr>
          <a:xfrm flipV="1">
            <a:off x="7557247" y="5515751"/>
            <a:ext cx="1138518" cy="517197"/>
          </a:xfrm>
          <a:prstGeom prst="straightConnector1">
            <a:avLst/>
          </a:prstGeom>
          <a:ln>
            <a:solidFill>
              <a:srgbClr val="006EF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025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16418-39BA-E060-AF07-A4F27979F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Automated Onboarding 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B4049-2899-242C-B7CE-2A423592F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418"/>
            <a:ext cx="4083424" cy="4597545"/>
          </a:xfrm>
        </p:spPr>
        <p:txBody>
          <a:bodyPr>
            <a:normAutofit/>
          </a:bodyPr>
          <a:lstStyle/>
          <a:p>
            <a:r>
              <a:rPr lang="en-US" sz="2000" dirty="0"/>
              <a:t>Single point of contact for an SME</a:t>
            </a:r>
          </a:p>
          <a:p>
            <a:r>
              <a:rPr lang="en-US" sz="2000" dirty="0"/>
              <a:t>Fully automated end-to-end</a:t>
            </a:r>
          </a:p>
          <a:p>
            <a:r>
              <a:rPr lang="en-US" sz="2000" dirty="0"/>
              <a:t>Separation between legal and technical onboarding</a:t>
            </a:r>
          </a:p>
          <a:p>
            <a:r>
              <a:rPr lang="en-US" sz="2000" dirty="0"/>
              <a:t>Legal onboarding produces a BPN</a:t>
            </a:r>
          </a:p>
          <a:p>
            <a:r>
              <a:rPr lang="en-US" sz="2000" dirty="0"/>
              <a:t>Technical onboarding only requires an attestation step</a:t>
            </a:r>
          </a:p>
          <a:p>
            <a:pPr lvl="1"/>
            <a:r>
              <a:rPr lang="en-US" sz="1800" dirty="0"/>
              <a:t>Associate BPN with DID</a:t>
            </a:r>
          </a:p>
          <a:p>
            <a:pPr lvl="1"/>
            <a:r>
              <a:rPr lang="en-US" sz="1800" dirty="0"/>
              <a:t>Signed ID token used as proof to issue credentials (DCP)</a:t>
            </a:r>
          </a:p>
          <a:p>
            <a:r>
              <a:rPr lang="en-US" sz="2200" dirty="0"/>
              <a:t>Onboarding API Security</a:t>
            </a:r>
          </a:p>
          <a:p>
            <a:pPr lvl="1"/>
            <a:r>
              <a:rPr lang="en-US" sz="1800" dirty="0"/>
              <a:t>OAuth 2 Client Credentials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AD1D9B-0ED2-9024-C02C-39AB6CE91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364" y="1377538"/>
            <a:ext cx="7085143" cy="449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745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C36E-3327-84C5-C295-AD90FAD6A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Protocols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614F7-7A09-2E59-EEE5-A379D0D14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 Certificate Management (CCM)</a:t>
            </a:r>
          </a:p>
        </p:txBody>
      </p:sp>
    </p:spTree>
    <p:extLst>
      <p:ext uri="{BB962C8B-B14F-4D97-AF65-F5344CB8AC3E}">
        <p14:creationId xmlns:p14="http://schemas.microsoft.com/office/powerpoint/2010/main" val="3607511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927C-6209-6F49-8084-00B448B8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983" y="645316"/>
            <a:ext cx="4772975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dirty="0"/>
              <a:t>CX-135 Certificate Management: Structural Issues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B83F31-0A47-1795-EB0C-5D38C658EECF}"/>
              </a:ext>
            </a:extLst>
          </p:cNvPr>
          <p:cNvSpPr txBox="1"/>
          <p:nvPr/>
        </p:nvSpPr>
        <p:spPr>
          <a:xfrm>
            <a:off x="821984" y="2780623"/>
            <a:ext cx="200570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Best Practices</a:t>
            </a:r>
          </a:p>
          <a:p>
            <a:endParaRPr lang="en-US" sz="1200" dirty="0"/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Non-aligned push vs. pull flows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Contracts should originate with the data provider, not the consumer (push)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453FEE-E718-7C14-3E87-030A15BD3E9F}"/>
              </a:ext>
            </a:extLst>
          </p:cNvPr>
          <p:cNvSpPr txBox="1"/>
          <p:nvPr/>
        </p:nvSpPr>
        <p:spPr>
          <a:xfrm>
            <a:off x="3180269" y="2768026"/>
            <a:ext cx="279474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Conformity</a:t>
            </a:r>
          </a:p>
          <a:p>
            <a:endParaRPr lang="en-US" sz="1200" dirty="0"/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No normative specification language or compliance framework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Tied to EDC, an implementation, not a specification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7544E0-9C00-D363-90E1-C07BF715F7A5}"/>
              </a:ext>
            </a:extLst>
          </p:cNvPr>
          <p:cNvSpPr txBox="1"/>
          <p:nvPr/>
        </p:nvSpPr>
        <p:spPr>
          <a:xfrm>
            <a:off x="821983" y="4891684"/>
            <a:ext cx="198895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Consistency</a:t>
            </a:r>
          </a:p>
          <a:p>
            <a:endParaRPr lang="en-US" sz="1200" dirty="0"/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Contradictory requirements for CX-125, CX-135, and CX-151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Need to align with EDWG Data Plane Signaling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552AC5-6470-4493-F771-9616D0A42AE4}"/>
              </a:ext>
            </a:extLst>
          </p:cNvPr>
          <p:cNvSpPr txBox="1"/>
          <p:nvPr/>
        </p:nvSpPr>
        <p:spPr>
          <a:xfrm>
            <a:off x="3115450" y="4864951"/>
            <a:ext cx="190478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Evolution</a:t>
            </a:r>
          </a:p>
          <a:p>
            <a:endParaRPr lang="en-US" sz="1200" dirty="0"/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No schema definitions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 dirty="0"/>
              <a:t>Lack of a versioning strategy will lead to future disruption</a:t>
            </a:r>
          </a:p>
          <a:p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4A63DC-6075-8704-8E29-5C963FF7AC78}"/>
              </a:ext>
            </a:extLst>
          </p:cNvPr>
          <p:cNvSpPr txBox="1"/>
          <p:nvPr/>
        </p:nvSpPr>
        <p:spPr>
          <a:xfrm>
            <a:off x="7034045" y="843124"/>
            <a:ext cx="1143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51F5"/>
                </a:solidFill>
              </a:rPr>
              <a:t>Push flow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EB1DF4-9F71-67F6-B328-4D2E0AD10A47}"/>
              </a:ext>
            </a:extLst>
          </p:cNvPr>
          <p:cNvSpPr txBox="1"/>
          <p:nvPr/>
        </p:nvSpPr>
        <p:spPr>
          <a:xfrm>
            <a:off x="7034045" y="3763600"/>
            <a:ext cx="1023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51F5"/>
                </a:solidFill>
              </a:rPr>
              <a:t>Pull flow</a:t>
            </a:r>
          </a:p>
        </p:txBody>
      </p:sp>
      <p:pic>
        <p:nvPicPr>
          <p:cNvPr id="6" name="Picture 4" descr="PULL Scenarios">
            <a:extLst>
              <a:ext uri="{FF2B5EF4-FFF2-40B4-BE49-F238E27FC236}">
                <a16:creationId xmlns:a16="http://schemas.microsoft.com/office/drawing/2014/main" id="{B32702C5-0B9B-5222-6356-D74A8BF7A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1250" y="4263541"/>
            <a:ext cx="4482512" cy="217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USH Scenarios">
            <a:extLst>
              <a:ext uri="{FF2B5EF4-FFF2-40B4-BE49-F238E27FC236}">
                <a16:creationId xmlns:a16="http://schemas.microsoft.com/office/drawing/2014/main" id="{9F534FC4-3475-9096-AD6B-C3490729F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48345" y="1343065"/>
            <a:ext cx="3848322" cy="154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334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927C-6209-6F49-8084-00B448B8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27" y="664249"/>
            <a:ext cx="4663924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dirty="0"/>
              <a:t>CX-135 Desired State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CDFF68-4B7A-B01B-22A8-86BF95E0E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42" y="2757470"/>
            <a:ext cx="4783710" cy="3870181"/>
          </a:xfrm>
        </p:spPr>
        <p:txBody>
          <a:bodyPr>
            <a:normAutofit/>
          </a:bodyPr>
          <a:lstStyle/>
          <a:p>
            <a:r>
              <a:rPr lang="en-US" sz="2000" dirty="0"/>
              <a:t>One simplified flow for push and pull</a:t>
            </a:r>
          </a:p>
          <a:p>
            <a:r>
              <a:rPr lang="en-US" sz="2000" dirty="0"/>
              <a:t>Certificate contracts originate with the provider</a:t>
            </a:r>
          </a:p>
          <a:p>
            <a:r>
              <a:rPr lang="en-US" sz="2000" dirty="0"/>
              <a:t>Based on EDWG and CNCF specifications for cross-dataspace interoperability</a:t>
            </a:r>
          </a:p>
          <a:p>
            <a:r>
              <a:rPr lang="en-US" sz="2000" dirty="0"/>
              <a:t>Architected evolution</a:t>
            </a:r>
          </a:p>
          <a:p>
            <a:r>
              <a:rPr lang="en-US" sz="2000" dirty="0"/>
              <a:t>Rapidly deliver other use cases</a:t>
            </a:r>
          </a:p>
          <a:p>
            <a:pPr lvl="1"/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4A63DC-6075-8704-8E29-5C963FF7AC78}"/>
              </a:ext>
            </a:extLst>
          </p:cNvPr>
          <p:cNvSpPr txBox="1"/>
          <p:nvPr/>
        </p:nvSpPr>
        <p:spPr>
          <a:xfrm>
            <a:off x="6966802" y="927513"/>
            <a:ext cx="4404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51F5"/>
                </a:solidFill>
              </a:rPr>
              <a:t>One 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62813D-8DE7-4D00-12A8-913FC3903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526" y="1554247"/>
            <a:ext cx="4557332" cy="21251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B83CA7-3837-B321-5371-968ED1C79A24}"/>
              </a:ext>
            </a:extLst>
          </p:cNvPr>
          <p:cNvSpPr txBox="1"/>
          <p:nvPr/>
        </p:nvSpPr>
        <p:spPr>
          <a:xfrm>
            <a:off x="6916851" y="4373319"/>
            <a:ext cx="42926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51F5"/>
                </a:solidFill>
              </a:rPr>
              <a:t>Based on EDWG and CNCF specifications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1A724B4-4E77-2F20-8BFF-311C3BEC9991}"/>
              </a:ext>
            </a:extLst>
          </p:cNvPr>
          <p:cNvGrpSpPr/>
          <p:nvPr/>
        </p:nvGrpSpPr>
        <p:grpSpPr>
          <a:xfrm>
            <a:off x="6916854" y="4763260"/>
            <a:ext cx="4292684" cy="1702272"/>
            <a:chOff x="7865867" y="5030546"/>
            <a:chExt cx="3751169" cy="170227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1FA877D-3179-B9CD-DB03-0754C5EAB9BD}"/>
                </a:ext>
              </a:extLst>
            </p:cNvPr>
            <p:cNvGrpSpPr/>
            <p:nvPr/>
          </p:nvGrpSpPr>
          <p:grpSpPr>
            <a:xfrm>
              <a:off x="7876001" y="5035933"/>
              <a:ext cx="1798333" cy="369333"/>
              <a:chOff x="3830685" y="3785935"/>
              <a:chExt cx="4833501" cy="732992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8131E1E1-907F-E48F-F644-2CF9EB8BF84C}"/>
                  </a:ext>
                </a:extLst>
              </p:cNvPr>
              <p:cNvSpPr/>
              <p:nvPr/>
            </p:nvSpPr>
            <p:spPr>
              <a:xfrm>
                <a:off x="3830685" y="3785935"/>
                <a:ext cx="4833499" cy="732992"/>
              </a:xfrm>
              <a:prstGeom prst="roundRect">
                <a:avLst>
                  <a:gd name="adj" fmla="val 10092"/>
                </a:avLst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9C8A659-FCEF-921B-6F0D-33859233BCE9}"/>
                  </a:ext>
                </a:extLst>
              </p:cNvPr>
              <p:cNvSpPr txBox="1"/>
              <p:nvPr/>
            </p:nvSpPr>
            <p:spPr>
              <a:xfrm>
                <a:off x="3830685" y="3900464"/>
                <a:ext cx="4833501" cy="50393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000" dirty="0"/>
                  <a:t>CX-135 CCM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0F35C28-7488-6801-85BF-EDD93AC35542}"/>
                </a:ext>
              </a:extLst>
            </p:cNvPr>
            <p:cNvGrpSpPr/>
            <p:nvPr/>
          </p:nvGrpSpPr>
          <p:grpSpPr>
            <a:xfrm>
              <a:off x="9818701" y="5030546"/>
              <a:ext cx="1798333" cy="369333"/>
              <a:chOff x="3830685" y="3785935"/>
              <a:chExt cx="4833501" cy="732992"/>
            </a:xfrm>
            <a:solidFill>
              <a:srgbClr val="00B050"/>
            </a:solidFill>
          </p:grpSpPr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1018AB14-A4FC-1897-25A7-B7BF465B86DF}"/>
                  </a:ext>
                </a:extLst>
              </p:cNvPr>
              <p:cNvSpPr/>
              <p:nvPr/>
            </p:nvSpPr>
            <p:spPr>
              <a:xfrm>
                <a:off x="3830685" y="3785935"/>
                <a:ext cx="4833499" cy="732992"/>
              </a:xfrm>
              <a:prstGeom prst="roundRect">
                <a:avLst>
                  <a:gd name="adj" fmla="val 10092"/>
                </a:avLst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EB3F509-A2C5-8B48-3E50-0EA81100F44B}"/>
                  </a:ext>
                </a:extLst>
              </p:cNvPr>
              <p:cNvSpPr txBox="1"/>
              <p:nvPr/>
            </p:nvSpPr>
            <p:spPr>
              <a:xfrm>
                <a:off x="3830685" y="3908099"/>
                <a:ext cx="4833501" cy="488659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000" dirty="0"/>
                  <a:t>CX-125 Traceability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6570146-E2FC-D8EF-2912-09B10F46E50B}"/>
                </a:ext>
              </a:extLst>
            </p:cNvPr>
            <p:cNvGrpSpPr/>
            <p:nvPr/>
          </p:nvGrpSpPr>
          <p:grpSpPr>
            <a:xfrm>
              <a:off x="7876002" y="5469973"/>
              <a:ext cx="3741034" cy="369333"/>
              <a:chOff x="2935414" y="3208361"/>
              <a:chExt cx="6868887" cy="839531"/>
            </a:xfrm>
            <a:solidFill>
              <a:srgbClr val="006EF9"/>
            </a:solidFill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563513BE-4BA6-1079-4979-97F344EF2060}"/>
                  </a:ext>
                </a:extLst>
              </p:cNvPr>
              <p:cNvSpPr/>
              <p:nvPr/>
            </p:nvSpPr>
            <p:spPr>
              <a:xfrm>
                <a:off x="2935417" y="3208361"/>
                <a:ext cx="6868884" cy="839531"/>
              </a:xfrm>
              <a:prstGeom prst="roundRect">
                <a:avLst>
                  <a:gd name="adj" fmla="val 12018"/>
                </a:avLst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86F3DF-E698-8B23-B55D-0886F72DA12E}"/>
                  </a:ext>
                </a:extLst>
              </p:cNvPr>
              <p:cNvSpPr txBox="1"/>
              <p:nvPr/>
            </p:nvSpPr>
            <p:spPr>
              <a:xfrm>
                <a:off x="2935414" y="3364468"/>
                <a:ext cx="6868884" cy="559685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sz="1000" dirty="0"/>
                  <a:t>CX-151  Industry Core Message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3E3A610-6A9A-53C2-57CA-67D34DE0974F}"/>
                </a:ext>
              </a:extLst>
            </p:cNvPr>
            <p:cNvGrpSpPr/>
            <p:nvPr/>
          </p:nvGrpSpPr>
          <p:grpSpPr>
            <a:xfrm>
              <a:off x="7876000" y="5919122"/>
              <a:ext cx="3741033" cy="369333"/>
              <a:chOff x="2954022" y="2392237"/>
              <a:chExt cx="6868885" cy="839531"/>
            </a:xfrm>
            <a:solidFill>
              <a:srgbClr val="006EF9"/>
            </a:solidFill>
          </p:grpSpPr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506C4ADC-C839-73BD-038C-40EDC94DD0CF}"/>
                  </a:ext>
                </a:extLst>
              </p:cNvPr>
              <p:cNvSpPr/>
              <p:nvPr/>
            </p:nvSpPr>
            <p:spPr>
              <a:xfrm>
                <a:off x="2954022" y="2392237"/>
                <a:ext cx="6868885" cy="839531"/>
              </a:xfrm>
              <a:prstGeom prst="roundRect">
                <a:avLst>
                  <a:gd name="adj" fmla="val 12018"/>
                </a:avLst>
              </a:prstGeom>
              <a:solidFill>
                <a:srgbClr val="536D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147C39B-5A44-ABA0-40C4-BD8DB46699A0}"/>
                  </a:ext>
                </a:extLst>
              </p:cNvPr>
              <p:cNvSpPr txBox="1"/>
              <p:nvPr/>
            </p:nvSpPr>
            <p:spPr>
              <a:xfrm>
                <a:off x="2954023" y="2517496"/>
                <a:ext cx="6868884" cy="559685"/>
              </a:xfrm>
              <a:prstGeom prst="rect">
                <a:avLst/>
              </a:prstGeom>
              <a:solidFill>
                <a:srgbClr val="536DE6"/>
              </a:solidFill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</a:rPr>
                  <a:t>CNCF Cloud Events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0E855EC-6049-4450-3CB1-FF38E34A6075}"/>
                </a:ext>
              </a:extLst>
            </p:cNvPr>
            <p:cNvGrpSpPr/>
            <p:nvPr/>
          </p:nvGrpSpPr>
          <p:grpSpPr>
            <a:xfrm>
              <a:off x="7865867" y="6359973"/>
              <a:ext cx="3751166" cy="372845"/>
              <a:chOff x="2935414" y="4340166"/>
              <a:chExt cx="6887490" cy="847511"/>
            </a:xfrm>
            <a:solidFill>
              <a:srgbClr val="006EF9"/>
            </a:solidFill>
          </p:grpSpPr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B4DF7C2E-A7F5-5CA8-B869-93AE96874C27}"/>
                  </a:ext>
                </a:extLst>
              </p:cNvPr>
              <p:cNvSpPr/>
              <p:nvPr/>
            </p:nvSpPr>
            <p:spPr>
              <a:xfrm>
                <a:off x="2935417" y="4348145"/>
                <a:ext cx="3301905" cy="839532"/>
              </a:xfrm>
              <a:prstGeom prst="roundRect">
                <a:avLst>
                  <a:gd name="adj" fmla="val 12018"/>
                </a:avLst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24A6E08-1AD4-2144-EA4B-DA69E5B5D19B}"/>
                  </a:ext>
                </a:extLst>
              </p:cNvPr>
              <p:cNvSpPr txBox="1"/>
              <p:nvPr/>
            </p:nvSpPr>
            <p:spPr>
              <a:xfrm>
                <a:off x="2935414" y="4470460"/>
                <a:ext cx="3301905" cy="559688"/>
              </a:xfrm>
              <a:prstGeom prst="rect">
                <a:avLst/>
              </a:prstGeom>
              <a:solidFill>
                <a:srgbClr val="006EF9"/>
              </a:solidFill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sz="1000" dirty="0" err="1">
                    <a:solidFill>
                      <a:schemeClr val="bg1"/>
                    </a:solidFill>
                  </a:rPr>
                  <a:t>DPlane</a:t>
                </a:r>
                <a:r>
                  <a:rPr lang="en-US" sz="1000" dirty="0">
                    <a:solidFill>
                      <a:schemeClr val="bg1"/>
                    </a:solidFill>
                  </a:rPr>
                  <a:t>-Sig HTTP API Profile</a:t>
                </a:r>
              </a:p>
            </p:txBody>
          </p:sp>
          <p:sp>
            <p:nvSpPr>
              <p:cNvPr id="50" name="Rounded Rectangle 49">
                <a:extLst>
                  <a:ext uri="{FF2B5EF4-FFF2-40B4-BE49-F238E27FC236}">
                    <a16:creationId xmlns:a16="http://schemas.microsoft.com/office/drawing/2014/main" id="{30D371DD-F9E3-C1CF-BB10-C544F20ECC72}"/>
                  </a:ext>
                </a:extLst>
              </p:cNvPr>
              <p:cNvSpPr/>
              <p:nvPr/>
            </p:nvSpPr>
            <p:spPr>
              <a:xfrm>
                <a:off x="6520999" y="4340166"/>
                <a:ext cx="3301905" cy="839532"/>
              </a:xfrm>
              <a:prstGeom prst="roundRect">
                <a:avLst>
                  <a:gd name="adj" fmla="val 12018"/>
                </a:avLst>
              </a:prstGeom>
              <a:solidFill>
                <a:srgbClr val="006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5808AD2-67DE-6F11-AE36-C19122DB29B9}"/>
                  </a:ext>
                </a:extLst>
              </p:cNvPr>
              <p:cNvSpPr txBox="1"/>
              <p:nvPr/>
            </p:nvSpPr>
            <p:spPr>
              <a:xfrm>
                <a:off x="6502387" y="4488067"/>
                <a:ext cx="3301905" cy="559688"/>
              </a:xfrm>
              <a:prstGeom prst="rect">
                <a:avLst/>
              </a:prstGeom>
              <a:solidFill>
                <a:srgbClr val="006EF9"/>
              </a:solidFill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sz="1000" dirty="0" err="1">
                    <a:solidFill>
                      <a:schemeClr val="bg1"/>
                    </a:solidFill>
                  </a:rPr>
                  <a:t>DPlane</a:t>
                </a:r>
                <a:r>
                  <a:rPr lang="en-US" sz="1000" dirty="0">
                    <a:solidFill>
                      <a:schemeClr val="bg1"/>
                    </a:solidFill>
                  </a:rPr>
                  <a:t>-Sig Token Refresh Profile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527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40B1B3C-91A3-8FF8-6997-E3554A375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2413"/>
          </a:xfrm>
        </p:spPr>
        <p:txBody>
          <a:bodyPr/>
          <a:lstStyle/>
          <a:p>
            <a:r>
              <a:rPr lang="en-US" dirty="0"/>
              <a:t>CCM Proposed Protocol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7367A5-D55E-24B0-48EB-72C76537C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653" y="1828238"/>
            <a:ext cx="9302695" cy="4349009"/>
          </a:xfrm>
          <a:prstGeom prst="rect">
            <a:avLst/>
          </a:prstGeom>
          <a:noFill/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8449A71-DB3C-67D7-AE28-0D39A5348F9C}"/>
              </a:ext>
            </a:extLst>
          </p:cNvPr>
          <p:cNvSpPr/>
          <p:nvPr/>
        </p:nvSpPr>
        <p:spPr>
          <a:xfrm>
            <a:off x="8634866" y="365125"/>
            <a:ext cx="2690706" cy="1051465"/>
          </a:xfrm>
          <a:prstGeom prst="roundRect">
            <a:avLst>
              <a:gd name="adj" fmla="val 775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tx1"/>
                </a:solidFill>
              </a:rPr>
              <a:t>CDP</a:t>
            </a:r>
            <a:r>
              <a:rPr lang="en-US" sz="1100" dirty="0">
                <a:solidFill>
                  <a:schemeClr val="tx1"/>
                </a:solidFill>
              </a:rPr>
              <a:t> – Consumer Data Plane</a:t>
            </a:r>
          </a:p>
          <a:p>
            <a:r>
              <a:rPr lang="en-US" sz="1100" b="1" dirty="0">
                <a:solidFill>
                  <a:schemeClr val="tx1"/>
                </a:solidFill>
              </a:rPr>
              <a:t>CCP</a:t>
            </a:r>
            <a:r>
              <a:rPr lang="en-US" sz="1100" dirty="0">
                <a:solidFill>
                  <a:schemeClr val="tx1"/>
                </a:solidFill>
              </a:rPr>
              <a:t> – Consumer Control Plane</a:t>
            </a:r>
          </a:p>
          <a:p>
            <a:r>
              <a:rPr lang="en-US" sz="1100" b="1" dirty="0">
                <a:solidFill>
                  <a:schemeClr val="tx1"/>
                </a:solidFill>
              </a:rPr>
              <a:t>PCP</a:t>
            </a:r>
            <a:r>
              <a:rPr lang="en-US" sz="1100" dirty="0">
                <a:solidFill>
                  <a:schemeClr val="tx1"/>
                </a:solidFill>
              </a:rPr>
              <a:t> – Provider Control Plane</a:t>
            </a:r>
          </a:p>
          <a:p>
            <a:r>
              <a:rPr lang="en-US" sz="1100" b="1" dirty="0">
                <a:solidFill>
                  <a:schemeClr val="tx1"/>
                </a:solidFill>
              </a:rPr>
              <a:t>PDP</a:t>
            </a:r>
            <a:r>
              <a:rPr lang="en-US" sz="1100" dirty="0">
                <a:solidFill>
                  <a:schemeClr val="tx1"/>
                </a:solidFill>
              </a:rPr>
              <a:t> – Provider Data Plane</a:t>
            </a:r>
          </a:p>
        </p:txBody>
      </p:sp>
    </p:spTree>
    <p:extLst>
      <p:ext uri="{BB962C8B-B14F-4D97-AF65-F5344CB8AC3E}">
        <p14:creationId xmlns:p14="http://schemas.microsoft.com/office/powerpoint/2010/main" val="2459849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2438AFC8-5442-C1F9-0F49-C526207DB845}"/>
              </a:ext>
            </a:extLst>
          </p:cNvPr>
          <p:cNvSpPr/>
          <p:nvPr/>
        </p:nvSpPr>
        <p:spPr>
          <a:xfrm>
            <a:off x="3543761" y="4907927"/>
            <a:ext cx="4883049" cy="1085330"/>
          </a:xfrm>
          <a:prstGeom prst="roundRect">
            <a:avLst>
              <a:gd name="adj" fmla="val 3245"/>
            </a:avLst>
          </a:prstGeom>
          <a:solidFill>
            <a:srgbClr val="006EF9">
              <a:alpha val="221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FA57B09C-9961-2F6B-8F32-2F26D1C0018F}"/>
              </a:ext>
            </a:extLst>
          </p:cNvPr>
          <p:cNvSpPr/>
          <p:nvPr/>
        </p:nvSpPr>
        <p:spPr>
          <a:xfrm>
            <a:off x="3550538" y="4088658"/>
            <a:ext cx="4883049" cy="742981"/>
          </a:xfrm>
          <a:prstGeom prst="roundRect">
            <a:avLst>
              <a:gd name="adj" fmla="val 3245"/>
            </a:avLst>
          </a:prstGeom>
          <a:solidFill>
            <a:srgbClr val="92D050">
              <a:alpha val="221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5FCC0AFF-5DCD-61F9-BA68-3058C0C62BDE}"/>
              </a:ext>
            </a:extLst>
          </p:cNvPr>
          <p:cNvSpPr/>
          <p:nvPr/>
        </p:nvSpPr>
        <p:spPr>
          <a:xfrm>
            <a:off x="3525117" y="1925647"/>
            <a:ext cx="4883049" cy="2084474"/>
          </a:xfrm>
          <a:prstGeom prst="roundRect">
            <a:avLst>
              <a:gd name="adj" fmla="val 32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BDB95-2D45-4B35-2E3C-EEED86C1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CCM Notification Scenario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CFE86-5375-D630-B117-C367E944560F}"/>
              </a:ext>
            </a:extLst>
          </p:cNvPr>
          <p:cNvGrpSpPr/>
          <p:nvPr/>
        </p:nvGrpSpPr>
        <p:grpSpPr>
          <a:xfrm>
            <a:off x="10797024" y="1565593"/>
            <a:ext cx="808235" cy="900084"/>
            <a:chOff x="7854699" y="3965143"/>
            <a:chExt cx="606283" cy="675181"/>
          </a:xfrm>
        </p:grpSpPr>
        <p:pic>
          <p:nvPicPr>
            <p:cNvPr id="8" name="Graphic 7" descr="Building with solid fill">
              <a:extLst>
                <a:ext uri="{FF2B5EF4-FFF2-40B4-BE49-F238E27FC236}">
                  <a16:creationId xmlns:a16="http://schemas.microsoft.com/office/drawing/2014/main" id="{8D6C90D2-4D50-C28A-0758-45D442D21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15403" y="3965143"/>
              <a:ext cx="484865" cy="48486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E3BAD23-78C3-1B31-1C1B-20D028A4BE15}"/>
                </a:ext>
              </a:extLst>
            </p:cNvPr>
            <p:cNvSpPr txBox="1"/>
            <p:nvPr/>
          </p:nvSpPr>
          <p:spPr>
            <a:xfrm>
              <a:off x="7854699" y="4455626"/>
              <a:ext cx="606283" cy="1846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Tier-1/OEM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B3F6461-A12A-9E36-E8F0-AA832E6603EC}"/>
              </a:ext>
            </a:extLst>
          </p:cNvPr>
          <p:cNvGrpSpPr/>
          <p:nvPr/>
        </p:nvGrpSpPr>
        <p:grpSpPr>
          <a:xfrm>
            <a:off x="166277" y="1614025"/>
            <a:ext cx="952440" cy="1086386"/>
            <a:chOff x="2705540" y="3191654"/>
            <a:chExt cx="563670" cy="642941"/>
          </a:xfrm>
        </p:grpSpPr>
        <p:pic>
          <p:nvPicPr>
            <p:cNvPr id="6" name="Graphic 5" descr="Factory with solid fill">
              <a:extLst>
                <a:ext uri="{FF2B5EF4-FFF2-40B4-BE49-F238E27FC236}">
                  <a16:creationId xmlns:a16="http://schemas.microsoft.com/office/drawing/2014/main" id="{407494A6-4044-2C12-F018-0B8CF1916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89015" y="3191654"/>
              <a:ext cx="396720" cy="3967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2929AE-DA42-9C41-D35A-144E2BEC822C}"/>
                </a:ext>
              </a:extLst>
            </p:cNvPr>
            <p:cNvSpPr txBox="1"/>
            <p:nvPr/>
          </p:nvSpPr>
          <p:spPr>
            <a:xfrm>
              <a:off x="2705540" y="3588374"/>
              <a:ext cx="5636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SME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7F5366-57D6-56DE-F8DE-EC832B3F82C5}"/>
              </a:ext>
            </a:extLst>
          </p:cNvPr>
          <p:cNvCxnSpPr>
            <a:cxnSpLocks/>
          </p:cNvCxnSpPr>
          <p:nvPr/>
        </p:nvCxnSpPr>
        <p:spPr>
          <a:xfrm flipV="1">
            <a:off x="4006515" y="4551402"/>
            <a:ext cx="3973258" cy="147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925669D-A5A2-DB45-E855-39D121B951A0}"/>
              </a:ext>
            </a:extLst>
          </p:cNvPr>
          <p:cNvSpPr txBox="1"/>
          <p:nvPr/>
        </p:nvSpPr>
        <p:spPr>
          <a:xfrm>
            <a:off x="2000192" y="5588865"/>
            <a:ext cx="710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CCM App</a:t>
            </a:r>
          </a:p>
        </p:txBody>
      </p:sp>
      <p:pic>
        <p:nvPicPr>
          <p:cNvPr id="22" name="Graphic 21" descr="Contract outline">
            <a:extLst>
              <a:ext uri="{FF2B5EF4-FFF2-40B4-BE49-F238E27FC236}">
                <a16:creationId xmlns:a16="http://schemas.microsoft.com/office/drawing/2014/main" id="{61AF7939-5CA0-8E17-9138-F60814242E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47033" y="4550210"/>
            <a:ext cx="1012413" cy="1012413"/>
          </a:xfrm>
          <a:prstGeom prst="rect">
            <a:avLst/>
          </a:prstGeom>
        </p:spPr>
      </p:pic>
      <p:pic>
        <p:nvPicPr>
          <p:cNvPr id="26" name="Graphic 25" descr="Contract outline">
            <a:extLst>
              <a:ext uri="{FF2B5EF4-FFF2-40B4-BE49-F238E27FC236}">
                <a16:creationId xmlns:a16="http://schemas.microsoft.com/office/drawing/2014/main" id="{E1CAC49A-5E79-BA38-4469-D6A1A0685B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09192" y="4498151"/>
            <a:ext cx="1012413" cy="1012413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AF59886-843C-BD7A-A322-B5C4A0DECD67}"/>
              </a:ext>
            </a:extLst>
          </p:cNvPr>
          <p:cNvCxnSpPr>
            <a:cxnSpLocks/>
          </p:cNvCxnSpPr>
          <p:nvPr/>
        </p:nvCxnSpPr>
        <p:spPr>
          <a:xfrm flipV="1">
            <a:off x="4018433" y="2320715"/>
            <a:ext cx="3973258" cy="147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20DA00F-8D13-7F62-AF3D-AE80A133F2AC}"/>
              </a:ext>
            </a:extLst>
          </p:cNvPr>
          <p:cNvCxnSpPr>
            <a:cxnSpLocks/>
          </p:cNvCxnSpPr>
          <p:nvPr/>
        </p:nvCxnSpPr>
        <p:spPr>
          <a:xfrm flipV="1">
            <a:off x="4018433" y="2719973"/>
            <a:ext cx="3973258" cy="147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8E66EA8-E2E4-F370-A909-7951342C0F25}"/>
              </a:ext>
            </a:extLst>
          </p:cNvPr>
          <p:cNvSpPr txBox="1"/>
          <p:nvPr/>
        </p:nvSpPr>
        <p:spPr>
          <a:xfrm>
            <a:off x="3952979" y="2040086"/>
            <a:ext cx="2672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Find Consumer Notification API via Catalog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1B6871-795A-59FB-FC48-B0BB881FE243}"/>
              </a:ext>
            </a:extLst>
          </p:cNvPr>
          <p:cNvSpPr txBox="1"/>
          <p:nvPr/>
        </p:nvSpPr>
        <p:spPr>
          <a:xfrm>
            <a:off x="3952979" y="2429095"/>
            <a:ext cx="3242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Negotiate Consumer Notification API access and start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CDEEFC-4650-658B-D029-F74168D2226D}"/>
              </a:ext>
            </a:extLst>
          </p:cNvPr>
          <p:cNvSpPr txBox="1"/>
          <p:nvPr/>
        </p:nvSpPr>
        <p:spPr>
          <a:xfrm>
            <a:off x="3914477" y="4287924"/>
            <a:ext cx="30475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Certificate created notification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A0E2D9A-1EE7-E8F0-3AD5-88C175118159}"/>
              </a:ext>
            </a:extLst>
          </p:cNvPr>
          <p:cNvGrpSpPr/>
          <p:nvPr/>
        </p:nvGrpSpPr>
        <p:grpSpPr>
          <a:xfrm>
            <a:off x="3975173" y="3390065"/>
            <a:ext cx="4035357" cy="290775"/>
            <a:chOff x="3253189" y="2947302"/>
            <a:chExt cx="4035357" cy="290775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04FB54F-9E00-D8FE-3EC1-5AD47FB9C8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3189" y="3236600"/>
              <a:ext cx="3973258" cy="1477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B358FB3-CA31-31FC-85D1-0DC33EE60698}"/>
                </a:ext>
              </a:extLst>
            </p:cNvPr>
            <p:cNvSpPr txBox="1"/>
            <p:nvPr/>
          </p:nvSpPr>
          <p:spPr>
            <a:xfrm>
              <a:off x="4046196" y="2947302"/>
              <a:ext cx="32423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/>
                <a:t>Negotiate Provider Certificate API access and start</a:t>
              </a: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AD70F08-2FED-4544-2BA9-60F54730D742}"/>
              </a:ext>
            </a:extLst>
          </p:cNvPr>
          <p:cNvCxnSpPr>
            <a:cxnSpLocks/>
          </p:cNvCxnSpPr>
          <p:nvPr/>
        </p:nvCxnSpPr>
        <p:spPr>
          <a:xfrm flipV="1">
            <a:off x="4006515" y="5278375"/>
            <a:ext cx="3973258" cy="147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29A14D6-A4DB-2F6C-7980-C373AF641409}"/>
              </a:ext>
            </a:extLst>
          </p:cNvPr>
          <p:cNvCxnSpPr>
            <a:cxnSpLocks/>
          </p:cNvCxnSpPr>
          <p:nvPr/>
        </p:nvCxnSpPr>
        <p:spPr>
          <a:xfrm>
            <a:off x="6497142" y="2169507"/>
            <a:ext cx="1494549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656DBA5-3530-A20A-1333-6155F27A4D9D}"/>
              </a:ext>
            </a:extLst>
          </p:cNvPr>
          <p:cNvGrpSpPr/>
          <p:nvPr/>
        </p:nvGrpSpPr>
        <p:grpSpPr>
          <a:xfrm>
            <a:off x="3975173" y="2934554"/>
            <a:ext cx="4067325" cy="256298"/>
            <a:chOff x="3272965" y="2518471"/>
            <a:chExt cx="4067325" cy="256298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D58F731-A0BF-0F1D-EB12-6F231BBA90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6449" y="2773292"/>
              <a:ext cx="3973258" cy="1477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083B01A-8D0A-0964-BDDB-F5A73F3A6EF4}"/>
                </a:ext>
              </a:extLst>
            </p:cNvPr>
            <p:cNvSpPr txBox="1"/>
            <p:nvPr/>
          </p:nvSpPr>
          <p:spPr>
            <a:xfrm>
              <a:off x="4292753" y="2518471"/>
              <a:ext cx="30475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/>
                <a:t>Find Provider Certificate API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52D1951-4885-AC29-9027-F837BA96EED2}"/>
                </a:ext>
              </a:extLst>
            </p:cNvPr>
            <p:cNvCxnSpPr>
              <a:cxnSpLocks/>
            </p:cNvCxnSpPr>
            <p:nvPr/>
          </p:nvCxnSpPr>
          <p:spPr>
            <a:xfrm>
              <a:off x="3272965" y="2640843"/>
              <a:ext cx="2394406" cy="0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29BB900-1C08-0ADF-57C1-1E7D8D2FBD13}"/>
              </a:ext>
            </a:extLst>
          </p:cNvPr>
          <p:cNvGrpSpPr/>
          <p:nvPr/>
        </p:nvGrpSpPr>
        <p:grpSpPr>
          <a:xfrm>
            <a:off x="4037272" y="5503483"/>
            <a:ext cx="4055757" cy="246221"/>
            <a:chOff x="4037272" y="5198682"/>
            <a:chExt cx="4055757" cy="246221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C0BA1BD4-B6A4-5B0F-46DE-C286B6A894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7272" y="5434156"/>
              <a:ext cx="3973258" cy="1477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42B6AC9-BDFE-5108-E6DA-753C5088BFC4}"/>
                </a:ext>
              </a:extLst>
            </p:cNvPr>
            <p:cNvSpPr txBox="1"/>
            <p:nvPr/>
          </p:nvSpPr>
          <p:spPr>
            <a:xfrm>
              <a:off x="5045492" y="5198682"/>
              <a:ext cx="30475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/>
                <a:t>Certificate status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9F7C0649-5BC6-EDDE-B301-71051C11C5BC}"/>
              </a:ext>
            </a:extLst>
          </p:cNvPr>
          <p:cNvSpPr txBox="1"/>
          <p:nvPr/>
        </p:nvSpPr>
        <p:spPr>
          <a:xfrm rot="16200000">
            <a:off x="3379754" y="2852469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DSP  1.0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402DE0F-32A3-8AC0-954F-8621A707AEB3}"/>
              </a:ext>
            </a:extLst>
          </p:cNvPr>
          <p:cNvCxnSpPr>
            <a:cxnSpLocks/>
          </p:cNvCxnSpPr>
          <p:nvPr/>
        </p:nvCxnSpPr>
        <p:spPr>
          <a:xfrm>
            <a:off x="3809650" y="1925647"/>
            <a:ext cx="0" cy="208447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0C7BDD6-AFA9-D4C2-2A40-1631BF719EA5}"/>
              </a:ext>
            </a:extLst>
          </p:cNvPr>
          <p:cNvSpPr txBox="1"/>
          <p:nvPr/>
        </p:nvSpPr>
        <p:spPr>
          <a:xfrm>
            <a:off x="596923" y="3674606"/>
            <a:ext cx="12457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000" i="1" dirty="0">
                <a:solidFill>
                  <a:srgbClr val="006EF9"/>
                </a:solidFill>
              </a:rPr>
              <a:t>2. Find dataset &amp; negotiate a contract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BAB25A-3308-A2C3-B973-DB3CAAFDBBBC}"/>
              </a:ext>
            </a:extLst>
          </p:cNvPr>
          <p:cNvSpPr txBox="1"/>
          <p:nvPr/>
        </p:nvSpPr>
        <p:spPr>
          <a:xfrm>
            <a:off x="590730" y="4594432"/>
            <a:ext cx="939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000" i="1" dirty="0">
                <a:solidFill>
                  <a:srgbClr val="006EF9"/>
                </a:solidFill>
              </a:rPr>
              <a:t>1. Connect to partner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1D2450-C4BA-04BE-31B9-F8A893C4D173}"/>
              </a:ext>
            </a:extLst>
          </p:cNvPr>
          <p:cNvSpPr txBox="1"/>
          <p:nvPr/>
        </p:nvSpPr>
        <p:spPr>
          <a:xfrm>
            <a:off x="592730" y="5172201"/>
            <a:ext cx="939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000" i="1" dirty="0">
                <a:solidFill>
                  <a:srgbClr val="006EF9"/>
                </a:solidFill>
              </a:rPr>
              <a:t>3. Upload certificate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E5BCC7-DC30-DF5E-A0FA-C1DCDAC8F73E}"/>
              </a:ext>
            </a:extLst>
          </p:cNvPr>
          <p:cNvSpPr txBox="1"/>
          <p:nvPr/>
        </p:nvSpPr>
        <p:spPr>
          <a:xfrm>
            <a:off x="2875356" y="4358175"/>
            <a:ext cx="825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000" i="1" dirty="0">
                <a:solidFill>
                  <a:srgbClr val="006EF9"/>
                </a:solidFill>
              </a:rPr>
              <a:t>4. Send event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A8F832-3E62-042D-5FD4-91EA4158F5BE}"/>
              </a:ext>
            </a:extLst>
          </p:cNvPr>
          <p:cNvSpPr txBox="1"/>
          <p:nvPr/>
        </p:nvSpPr>
        <p:spPr>
          <a:xfrm>
            <a:off x="8466278" y="4313771"/>
            <a:ext cx="939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000" i="1" dirty="0">
                <a:solidFill>
                  <a:srgbClr val="00B050"/>
                </a:solidFill>
              </a:rPr>
              <a:t>1. Receive notification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50122FB-4085-8936-8B9F-7BAE22155EB9}"/>
              </a:ext>
            </a:extLst>
          </p:cNvPr>
          <p:cNvSpPr txBox="1"/>
          <p:nvPr/>
        </p:nvSpPr>
        <p:spPr>
          <a:xfrm>
            <a:off x="8433587" y="5064443"/>
            <a:ext cx="13296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000" i="1" dirty="0">
                <a:solidFill>
                  <a:srgbClr val="00B050"/>
                </a:solidFill>
              </a:rPr>
              <a:t>2. Get certificate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3177FE0-4D08-0284-1BF9-6B2460837C0D}"/>
              </a:ext>
            </a:extLst>
          </p:cNvPr>
          <p:cNvGrpSpPr/>
          <p:nvPr/>
        </p:nvGrpSpPr>
        <p:grpSpPr>
          <a:xfrm>
            <a:off x="4013022" y="5023651"/>
            <a:ext cx="4049250" cy="246221"/>
            <a:chOff x="4013022" y="4718849"/>
            <a:chExt cx="4049250" cy="24622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61D47FA-F46D-FE75-FEB9-8533BB958724}"/>
                </a:ext>
              </a:extLst>
            </p:cNvPr>
            <p:cNvSpPr txBox="1"/>
            <p:nvPr/>
          </p:nvSpPr>
          <p:spPr>
            <a:xfrm>
              <a:off x="5014735" y="4718849"/>
              <a:ext cx="30475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/>
                <a:t>Get certificate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AA86418D-30F9-8BCD-9316-B0EE7CBCE190}"/>
                </a:ext>
              </a:extLst>
            </p:cNvPr>
            <p:cNvCxnSpPr>
              <a:cxnSpLocks/>
            </p:cNvCxnSpPr>
            <p:nvPr/>
          </p:nvCxnSpPr>
          <p:spPr>
            <a:xfrm>
              <a:off x="4013022" y="4837325"/>
              <a:ext cx="3109762" cy="0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56FB28F7-C1CC-FCA1-D2A7-FCA2EA704284}"/>
              </a:ext>
            </a:extLst>
          </p:cNvPr>
          <p:cNvSpPr txBox="1"/>
          <p:nvPr/>
        </p:nvSpPr>
        <p:spPr>
          <a:xfrm>
            <a:off x="8458636" y="5626593"/>
            <a:ext cx="13296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000" i="1" dirty="0">
                <a:solidFill>
                  <a:srgbClr val="00B050"/>
                </a:solidFill>
              </a:rPr>
              <a:t>3. Send status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675FE14-FEE2-3BA4-5395-2B84594C83E4}"/>
              </a:ext>
            </a:extLst>
          </p:cNvPr>
          <p:cNvGrpSpPr/>
          <p:nvPr/>
        </p:nvGrpSpPr>
        <p:grpSpPr>
          <a:xfrm>
            <a:off x="1993272" y="3195105"/>
            <a:ext cx="719934" cy="1256315"/>
            <a:chOff x="2100204" y="3195105"/>
            <a:chExt cx="719934" cy="1256315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80EE53F-F69F-88BA-7133-01362E6C4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0204" y="3255558"/>
              <a:ext cx="0" cy="1045353"/>
            </a:xfrm>
            <a:prstGeom prst="straightConnector1">
              <a:avLst/>
            </a:prstGeom>
            <a:ln w="22225">
              <a:solidFill>
                <a:srgbClr val="006EF9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17B2685C-DF8A-4CE4-63C9-C88334BE5102}"/>
                </a:ext>
              </a:extLst>
            </p:cNvPr>
            <p:cNvGrpSpPr/>
            <p:nvPr/>
          </p:nvGrpSpPr>
          <p:grpSpPr>
            <a:xfrm>
              <a:off x="2321917" y="3195105"/>
              <a:ext cx="498221" cy="1256315"/>
              <a:chOff x="2566588" y="3182118"/>
              <a:chExt cx="498221" cy="1256315"/>
            </a:xfrm>
          </p:grpSpPr>
          <p:sp>
            <p:nvSpPr>
              <p:cNvPr id="68" name="Rounded Rectangle 67">
                <a:extLst>
                  <a:ext uri="{FF2B5EF4-FFF2-40B4-BE49-F238E27FC236}">
                    <a16:creationId xmlns:a16="http://schemas.microsoft.com/office/drawing/2014/main" id="{A97C80A1-0F50-3CE5-04B5-9BBA91250DBA}"/>
                  </a:ext>
                </a:extLst>
              </p:cNvPr>
              <p:cNvSpPr/>
              <p:nvPr/>
            </p:nvSpPr>
            <p:spPr>
              <a:xfrm>
                <a:off x="2566588" y="3182118"/>
                <a:ext cx="498221" cy="1256315"/>
              </a:xfrm>
              <a:prstGeom prst="roundRect">
                <a:avLst>
                  <a:gd name="adj" fmla="val 3245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AB3DFC8E-5DC1-BA7F-5217-694809C7D0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70303" y="3266997"/>
                <a:ext cx="0" cy="1045353"/>
              </a:xfrm>
              <a:prstGeom prst="straightConnector1">
                <a:avLst/>
              </a:prstGeom>
              <a:ln w="22225">
                <a:solidFill>
                  <a:schemeClr val="tx1">
                    <a:lumMod val="65000"/>
                    <a:lumOff val="3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2E2D4F5-ABC2-AEBF-6884-E615CC6F2837}"/>
                  </a:ext>
                </a:extLst>
              </p:cNvPr>
              <p:cNvSpPr txBox="1"/>
              <p:nvPr/>
            </p:nvSpPr>
            <p:spPr>
              <a:xfrm rot="16200000">
                <a:off x="2469203" y="3701612"/>
                <a:ext cx="51969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dirty="0"/>
                  <a:t>DP-Sig</a:t>
                </a:r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72967EC-21A8-DA18-5DBE-CB9376BF6E32}"/>
              </a:ext>
            </a:extLst>
          </p:cNvPr>
          <p:cNvGrpSpPr/>
          <p:nvPr/>
        </p:nvGrpSpPr>
        <p:grpSpPr>
          <a:xfrm>
            <a:off x="9666288" y="3169990"/>
            <a:ext cx="498221" cy="1256315"/>
            <a:chOff x="2566588" y="3182118"/>
            <a:chExt cx="498221" cy="1256315"/>
          </a:xfrm>
        </p:grpSpPr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6F9B9D4E-03E2-C64A-C974-DCD8A20E5C60}"/>
                </a:ext>
              </a:extLst>
            </p:cNvPr>
            <p:cNvSpPr/>
            <p:nvPr/>
          </p:nvSpPr>
          <p:spPr>
            <a:xfrm>
              <a:off x="2566588" y="3182118"/>
              <a:ext cx="498221" cy="1256315"/>
            </a:xfrm>
            <a:prstGeom prst="roundRect">
              <a:avLst>
                <a:gd name="adj" fmla="val 324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BEE0B528-629D-5505-3441-0886C7B1C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0303" y="3266997"/>
              <a:ext cx="0" cy="1045353"/>
            </a:xfrm>
            <a:prstGeom prst="straightConnector1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54906F7-BCE3-A643-8A7A-64CF1A303041}"/>
                </a:ext>
              </a:extLst>
            </p:cNvPr>
            <p:cNvSpPr txBox="1"/>
            <p:nvPr/>
          </p:nvSpPr>
          <p:spPr>
            <a:xfrm rot="16200000">
              <a:off x="2469203" y="3701612"/>
              <a:ext cx="5196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/>
                <a:t>DP-Sig</a:t>
              </a:r>
            </a:p>
          </p:txBody>
        </p:sp>
      </p:grpSp>
      <p:pic>
        <p:nvPicPr>
          <p:cNvPr id="80" name="Graphic 79" descr="Line arrow: Rotate left with solid fill">
            <a:extLst>
              <a:ext uri="{FF2B5EF4-FFF2-40B4-BE49-F238E27FC236}">
                <a16:creationId xmlns:a16="http://schemas.microsoft.com/office/drawing/2014/main" id="{482478C0-D1AF-475B-1183-309AA37BBC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6656648" flipH="1">
            <a:off x="8264300" y="2632677"/>
            <a:ext cx="659830" cy="659830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973863CC-9EA1-0CFC-4B2B-BD713EB637EA}"/>
              </a:ext>
            </a:extLst>
          </p:cNvPr>
          <p:cNvSpPr txBox="1"/>
          <p:nvPr/>
        </p:nvSpPr>
        <p:spPr>
          <a:xfrm>
            <a:off x="8629539" y="2730340"/>
            <a:ext cx="845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Event trigger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C2217CD-98F6-59CD-35EA-005A1559BC2C}"/>
              </a:ext>
            </a:extLst>
          </p:cNvPr>
          <p:cNvGrpSpPr/>
          <p:nvPr/>
        </p:nvGrpSpPr>
        <p:grpSpPr>
          <a:xfrm>
            <a:off x="1801163" y="1956084"/>
            <a:ext cx="1104153" cy="1106043"/>
            <a:chOff x="1742949" y="2034740"/>
            <a:chExt cx="1104153" cy="1106043"/>
          </a:xfrm>
        </p:grpSpPr>
        <p:pic>
          <p:nvPicPr>
            <p:cNvPr id="24" name="Graphic 23" descr="Connected with solid fill">
              <a:extLst>
                <a:ext uri="{FF2B5EF4-FFF2-40B4-BE49-F238E27FC236}">
                  <a16:creationId xmlns:a16="http://schemas.microsoft.com/office/drawing/2014/main" id="{28DDB6DF-FF66-F295-BA46-E9956E912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37473" y="2395252"/>
              <a:ext cx="715104" cy="71510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D44B5D7-EB75-EB2D-9B25-051436525944}"/>
                </a:ext>
              </a:extLst>
            </p:cNvPr>
            <p:cNvSpPr txBox="1"/>
            <p:nvPr/>
          </p:nvSpPr>
          <p:spPr>
            <a:xfrm>
              <a:off x="1872492" y="2044826"/>
              <a:ext cx="845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SME</a:t>
              </a:r>
            </a:p>
            <a:p>
              <a:pPr algn="ctr"/>
              <a:r>
                <a:rPr lang="en-US" sz="1000" dirty="0"/>
                <a:t>Connector</a:t>
              </a:r>
            </a:p>
          </p:txBody>
        </p:sp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BFB98F69-5FD5-CAD1-EC18-120086A74B66}"/>
                </a:ext>
              </a:extLst>
            </p:cNvPr>
            <p:cNvSpPr/>
            <p:nvPr/>
          </p:nvSpPr>
          <p:spPr>
            <a:xfrm>
              <a:off x="1742949" y="2034740"/>
              <a:ext cx="1104153" cy="1106043"/>
            </a:xfrm>
            <a:prstGeom prst="roundRect">
              <a:avLst>
                <a:gd name="adj" fmla="val 324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E315749-3656-9033-53FC-D5039692CD3E}"/>
              </a:ext>
            </a:extLst>
          </p:cNvPr>
          <p:cNvGrpSpPr/>
          <p:nvPr/>
        </p:nvGrpSpPr>
        <p:grpSpPr>
          <a:xfrm>
            <a:off x="9363322" y="1943830"/>
            <a:ext cx="1104153" cy="1106043"/>
            <a:chOff x="1742949" y="2034740"/>
            <a:chExt cx="1104153" cy="1106043"/>
          </a:xfrm>
        </p:grpSpPr>
        <p:pic>
          <p:nvPicPr>
            <p:cNvPr id="85" name="Graphic 84" descr="Connected with solid fill">
              <a:extLst>
                <a:ext uri="{FF2B5EF4-FFF2-40B4-BE49-F238E27FC236}">
                  <a16:creationId xmlns:a16="http://schemas.microsoft.com/office/drawing/2014/main" id="{5D8B29E8-DE8F-8333-5FA2-564FFC014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37473" y="2395252"/>
              <a:ext cx="715104" cy="715104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B07615D-420B-47EA-9A2A-B55BE95305A7}"/>
                </a:ext>
              </a:extLst>
            </p:cNvPr>
            <p:cNvSpPr txBox="1"/>
            <p:nvPr/>
          </p:nvSpPr>
          <p:spPr>
            <a:xfrm>
              <a:off x="1872492" y="2044826"/>
              <a:ext cx="845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Tier-1/OEM</a:t>
              </a:r>
            </a:p>
            <a:p>
              <a:pPr algn="ctr"/>
              <a:r>
                <a:rPr lang="en-US" sz="1000" dirty="0"/>
                <a:t>Connector</a:t>
              </a:r>
            </a:p>
          </p:txBody>
        </p:sp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46CC9317-9CA9-A293-4369-3EFD4C92417D}"/>
                </a:ext>
              </a:extLst>
            </p:cNvPr>
            <p:cNvSpPr/>
            <p:nvPr/>
          </p:nvSpPr>
          <p:spPr>
            <a:xfrm>
              <a:off x="1742949" y="2034740"/>
              <a:ext cx="1104153" cy="1106043"/>
            </a:xfrm>
            <a:prstGeom prst="roundRect">
              <a:avLst>
                <a:gd name="adj" fmla="val 324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996130C0-F1F4-DFE3-2ADD-33E4573CB97D}"/>
              </a:ext>
            </a:extLst>
          </p:cNvPr>
          <p:cNvSpPr txBox="1"/>
          <p:nvPr/>
        </p:nvSpPr>
        <p:spPr>
          <a:xfrm>
            <a:off x="9557846" y="5538115"/>
            <a:ext cx="710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CCM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2ADEC3-BC8E-22BD-765F-0BBDCA563104}"/>
              </a:ext>
            </a:extLst>
          </p:cNvPr>
          <p:cNvSpPr txBox="1"/>
          <p:nvPr/>
        </p:nvSpPr>
        <p:spPr>
          <a:xfrm rot="16200000">
            <a:off x="3232512" y="5326633"/>
            <a:ext cx="9653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CCM Endpoints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39DF05-AAA4-8D74-A2DF-1C2483DC0A75}"/>
              </a:ext>
            </a:extLst>
          </p:cNvPr>
          <p:cNvCxnSpPr>
            <a:cxnSpLocks/>
          </p:cNvCxnSpPr>
          <p:nvPr/>
        </p:nvCxnSpPr>
        <p:spPr>
          <a:xfrm>
            <a:off x="3809650" y="4907927"/>
            <a:ext cx="0" cy="109369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3CB24E0-11AD-257F-6F12-5EEA4930F13F}"/>
              </a:ext>
            </a:extLst>
          </p:cNvPr>
          <p:cNvSpPr txBox="1"/>
          <p:nvPr/>
        </p:nvSpPr>
        <p:spPr>
          <a:xfrm rot="16200000">
            <a:off x="7882102" y="4267821"/>
            <a:ext cx="727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CCM</a:t>
            </a:r>
          </a:p>
          <a:p>
            <a:pPr algn="ctr"/>
            <a:r>
              <a:rPr lang="en-US" sz="900" dirty="0"/>
              <a:t>Endpoints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98CDD5-2DF5-3793-411A-707191CC061B}"/>
              </a:ext>
            </a:extLst>
          </p:cNvPr>
          <p:cNvCxnSpPr>
            <a:cxnSpLocks/>
          </p:cNvCxnSpPr>
          <p:nvPr/>
        </p:nvCxnSpPr>
        <p:spPr>
          <a:xfrm>
            <a:off x="8061266" y="4093915"/>
            <a:ext cx="0" cy="73772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9578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2438AFC8-5442-C1F9-0F49-C526207DB845}"/>
              </a:ext>
            </a:extLst>
          </p:cNvPr>
          <p:cNvSpPr/>
          <p:nvPr/>
        </p:nvSpPr>
        <p:spPr>
          <a:xfrm>
            <a:off x="3525117" y="4497024"/>
            <a:ext cx="4883049" cy="1085330"/>
          </a:xfrm>
          <a:prstGeom prst="roundRect">
            <a:avLst>
              <a:gd name="adj" fmla="val 3245"/>
            </a:avLst>
          </a:prstGeom>
          <a:solidFill>
            <a:srgbClr val="006EF9">
              <a:alpha val="221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5FCC0AFF-5DCD-61F9-BA68-3058C0C62BDE}"/>
              </a:ext>
            </a:extLst>
          </p:cNvPr>
          <p:cNvSpPr/>
          <p:nvPr/>
        </p:nvSpPr>
        <p:spPr>
          <a:xfrm>
            <a:off x="3461199" y="1925005"/>
            <a:ext cx="4883049" cy="1351429"/>
          </a:xfrm>
          <a:prstGeom prst="roundRect">
            <a:avLst>
              <a:gd name="adj" fmla="val 32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BDB95-2D45-4B35-2E3C-EEED86C1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CCM Pull Scenario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CFE86-5375-D630-B117-C367E944560F}"/>
              </a:ext>
            </a:extLst>
          </p:cNvPr>
          <p:cNvGrpSpPr/>
          <p:nvPr/>
        </p:nvGrpSpPr>
        <p:grpSpPr>
          <a:xfrm>
            <a:off x="10797024" y="1565593"/>
            <a:ext cx="808235" cy="900084"/>
            <a:chOff x="7854699" y="3965143"/>
            <a:chExt cx="606283" cy="675181"/>
          </a:xfrm>
        </p:grpSpPr>
        <p:pic>
          <p:nvPicPr>
            <p:cNvPr id="8" name="Graphic 7" descr="Building with solid fill">
              <a:extLst>
                <a:ext uri="{FF2B5EF4-FFF2-40B4-BE49-F238E27FC236}">
                  <a16:creationId xmlns:a16="http://schemas.microsoft.com/office/drawing/2014/main" id="{8D6C90D2-4D50-C28A-0758-45D442D21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15403" y="3965143"/>
              <a:ext cx="484865" cy="48486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E3BAD23-78C3-1B31-1C1B-20D028A4BE15}"/>
                </a:ext>
              </a:extLst>
            </p:cNvPr>
            <p:cNvSpPr txBox="1"/>
            <p:nvPr/>
          </p:nvSpPr>
          <p:spPr>
            <a:xfrm>
              <a:off x="7854699" y="4455626"/>
              <a:ext cx="606283" cy="1846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Tier-1/OEM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B3F6461-A12A-9E36-E8F0-AA832E6603EC}"/>
              </a:ext>
            </a:extLst>
          </p:cNvPr>
          <p:cNvGrpSpPr/>
          <p:nvPr/>
        </p:nvGrpSpPr>
        <p:grpSpPr>
          <a:xfrm>
            <a:off x="166277" y="1614025"/>
            <a:ext cx="952440" cy="1086386"/>
            <a:chOff x="2705540" y="3191654"/>
            <a:chExt cx="563670" cy="642941"/>
          </a:xfrm>
        </p:grpSpPr>
        <p:pic>
          <p:nvPicPr>
            <p:cNvPr id="6" name="Graphic 5" descr="Factory with solid fill">
              <a:extLst>
                <a:ext uri="{FF2B5EF4-FFF2-40B4-BE49-F238E27FC236}">
                  <a16:creationId xmlns:a16="http://schemas.microsoft.com/office/drawing/2014/main" id="{407494A6-4044-2C12-F018-0B8CF1916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89015" y="3191654"/>
              <a:ext cx="396720" cy="3967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2929AE-DA42-9C41-D35A-144E2BEC822C}"/>
                </a:ext>
              </a:extLst>
            </p:cNvPr>
            <p:cNvSpPr txBox="1"/>
            <p:nvPr/>
          </p:nvSpPr>
          <p:spPr>
            <a:xfrm>
              <a:off x="2705540" y="3588374"/>
              <a:ext cx="5636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SME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925669D-A5A2-DB45-E855-39D121B951A0}"/>
              </a:ext>
            </a:extLst>
          </p:cNvPr>
          <p:cNvSpPr txBox="1"/>
          <p:nvPr/>
        </p:nvSpPr>
        <p:spPr>
          <a:xfrm>
            <a:off x="2000192" y="5588865"/>
            <a:ext cx="710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CCM App</a:t>
            </a:r>
          </a:p>
        </p:txBody>
      </p:sp>
      <p:pic>
        <p:nvPicPr>
          <p:cNvPr id="22" name="Graphic 21" descr="Contract outline">
            <a:extLst>
              <a:ext uri="{FF2B5EF4-FFF2-40B4-BE49-F238E27FC236}">
                <a16:creationId xmlns:a16="http://schemas.microsoft.com/office/drawing/2014/main" id="{61AF7939-5CA0-8E17-9138-F60814242E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47033" y="4550210"/>
            <a:ext cx="1012413" cy="1012413"/>
          </a:xfrm>
          <a:prstGeom prst="rect">
            <a:avLst/>
          </a:prstGeom>
        </p:spPr>
      </p:pic>
      <p:pic>
        <p:nvPicPr>
          <p:cNvPr id="26" name="Graphic 25" descr="Contract outline">
            <a:extLst>
              <a:ext uri="{FF2B5EF4-FFF2-40B4-BE49-F238E27FC236}">
                <a16:creationId xmlns:a16="http://schemas.microsoft.com/office/drawing/2014/main" id="{E1CAC49A-5E79-BA38-4469-D6A1A0685B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09192" y="4498151"/>
            <a:ext cx="1012413" cy="1012413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FA0E2D9A-1EE7-E8F0-3AD5-88C175118159}"/>
              </a:ext>
            </a:extLst>
          </p:cNvPr>
          <p:cNvGrpSpPr/>
          <p:nvPr/>
        </p:nvGrpSpPr>
        <p:grpSpPr>
          <a:xfrm>
            <a:off x="3911255" y="2656379"/>
            <a:ext cx="4035357" cy="290775"/>
            <a:chOff x="3253189" y="2947302"/>
            <a:chExt cx="4035357" cy="290775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04FB54F-9E00-D8FE-3EC1-5AD47FB9C8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3189" y="3236600"/>
              <a:ext cx="3973258" cy="1477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B358FB3-CA31-31FC-85D1-0DC33EE60698}"/>
                </a:ext>
              </a:extLst>
            </p:cNvPr>
            <p:cNvSpPr txBox="1"/>
            <p:nvPr/>
          </p:nvSpPr>
          <p:spPr>
            <a:xfrm>
              <a:off x="4046196" y="2947302"/>
              <a:ext cx="32423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/>
                <a:t>Negotiate Provider Certificate API access and start</a:t>
              </a: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AD70F08-2FED-4544-2BA9-60F54730D742}"/>
              </a:ext>
            </a:extLst>
          </p:cNvPr>
          <p:cNvCxnSpPr>
            <a:cxnSpLocks/>
          </p:cNvCxnSpPr>
          <p:nvPr/>
        </p:nvCxnSpPr>
        <p:spPr>
          <a:xfrm flipV="1">
            <a:off x="3987871" y="4867472"/>
            <a:ext cx="3973258" cy="147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656DBA5-3530-A20A-1333-6155F27A4D9D}"/>
              </a:ext>
            </a:extLst>
          </p:cNvPr>
          <p:cNvGrpSpPr/>
          <p:nvPr/>
        </p:nvGrpSpPr>
        <p:grpSpPr>
          <a:xfrm>
            <a:off x="3911255" y="2200868"/>
            <a:ext cx="4067325" cy="256298"/>
            <a:chOff x="3272965" y="2518471"/>
            <a:chExt cx="4067325" cy="256298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D58F731-A0BF-0F1D-EB12-6F231BBA90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6449" y="2773292"/>
              <a:ext cx="3973258" cy="1477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083B01A-8D0A-0964-BDDB-F5A73F3A6EF4}"/>
                </a:ext>
              </a:extLst>
            </p:cNvPr>
            <p:cNvSpPr txBox="1"/>
            <p:nvPr/>
          </p:nvSpPr>
          <p:spPr>
            <a:xfrm>
              <a:off x="4292753" y="2518471"/>
              <a:ext cx="30475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/>
                <a:t>Find Provider Certificate API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52D1951-4885-AC29-9027-F837BA96EED2}"/>
                </a:ext>
              </a:extLst>
            </p:cNvPr>
            <p:cNvCxnSpPr>
              <a:cxnSpLocks/>
            </p:cNvCxnSpPr>
            <p:nvPr/>
          </p:nvCxnSpPr>
          <p:spPr>
            <a:xfrm>
              <a:off x="3272965" y="2640843"/>
              <a:ext cx="2394406" cy="0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29BB900-1C08-0ADF-57C1-1E7D8D2FBD13}"/>
              </a:ext>
            </a:extLst>
          </p:cNvPr>
          <p:cNvGrpSpPr/>
          <p:nvPr/>
        </p:nvGrpSpPr>
        <p:grpSpPr>
          <a:xfrm>
            <a:off x="4018628" y="5092580"/>
            <a:ext cx="4055757" cy="246221"/>
            <a:chOff x="4037272" y="5198682"/>
            <a:chExt cx="4055757" cy="246221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C0BA1BD4-B6A4-5B0F-46DE-C286B6A894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7272" y="5434156"/>
              <a:ext cx="3973258" cy="1477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42B6AC9-BDFE-5108-E6DA-753C5088BFC4}"/>
                </a:ext>
              </a:extLst>
            </p:cNvPr>
            <p:cNvSpPr txBox="1"/>
            <p:nvPr/>
          </p:nvSpPr>
          <p:spPr>
            <a:xfrm>
              <a:off x="5045492" y="5198682"/>
              <a:ext cx="30475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/>
                <a:t>Certificate status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9F7C0649-5BC6-EDDE-B301-71051C11C5BC}"/>
              </a:ext>
            </a:extLst>
          </p:cNvPr>
          <p:cNvSpPr txBox="1"/>
          <p:nvPr/>
        </p:nvSpPr>
        <p:spPr>
          <a:xfrm rot="16200000">
            <a:off x="2954383" y="2489200"/>
            <a:ext cx="13406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DSP  1.0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402DE0F-32A3-8AC0-954F-8621A707AEB3}"/>
              </a:ext>
            </a:extLst>
          </p:cNvPr>
          <p:cNvCxnSpPr>
            <a:cxnSpLocks/>
          </p:cNvCxnSpPr>
          <p:nvPr/>
        </p:nvCxnSpPr>
        <p:spPr>
          <a:xfrm>
            <a:off x="3745732" y="1934276"/>
            <a:ext cx="0" cy="1342159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FBAB25A-3308-A2C3-B973-DB3CAAFDBBBC}"/>
              </a:ext>
            </a:extLst>
          </p:cNvPr>
          <p:cNvSpPr txBox="1"/>
          <p:nvPr/>
        </p:nvSpPr>
        <p:spPr>
          <a:xfrm>
            <a:off x="590730" y="4594432"/>
            <a:ext cx="939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000" i="1" dirty="0">
                <a:solidFill>
                  <a:srgbClr val="006EF9"/>
                </a:solidFill>
              </a:rPr>
              <a:t>1. Connect to partner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1D2450-C4BA-04BE-31B9-F8A893C4D173}"/>
              </a:ext>
            </a:extLst>
          </p:cNvPr>
          <p:cNvSpPr txBox="1"/>
          <p:nvPr/>
        </p:nvSpPr>
        <p:spPr>
          <a:xfrm>
            <a:off x="592730" y="5172201"/>
            <a:ext cx="939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000" i="1" dirty="0">
                <a:solidFill>
                  <a:srgbClr val="006EF9"/>
                </a:solidFill>
              </a:rPr>
              <a:t>3. Upload certificate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A8F832-3E62-042D-5FD4-91EA4158F5BE}"/>
              </a:ext>
            </a:extLst>
          </p:cNvPr>
          <p:cNvSpPr txBox="1"/>
          <p:nvPr/>
        </p:nvSpPr>
        <p:spPr>
          <a:xfrm>
            <a:off x="8500897" y="3580709"/>
            <a:ext cx="939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000" i="1" dirty="0">
                <a:solidFill>
                  <a:srgbClr val="00B050"/>
                </a:solidFill>
              </a:rPr>
              <a:t>1. Connect to supplier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50122FB-4085-8936-8B9F-7BAE22155EB9}"/>
              </a:ext>
            </a:extLst>
          </p:cNvPr>
          <p:cNvSpPr txBox="1"/>
          <p:nvPr/>
        </p:nvSpPr>
        <p:spPr>
          <a:xfrm>
            <a:off x="8414943" y="4653540"/>
            <a:ext cx="13296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000" i="1" dirty="0">
                <a:solidFill>
                  <a:srgbClr val="00B050"/>
                </a:solidFill>
              </a:rPr>
              <a:t>2. Get certificate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3177FE0-4D08-0284-1BF9-6B2460837C0D}"/>
              </a:ext>
            </a:extLst>
          </p:cNvPr>
          <p:cNvGrpSpPr/>
          <p:nvPr/>
        </p:nvGrpSpPr>
        <p:grpSpPr>
          <a:xfrm>
            <a:off x="3994378" y="4612748"/>
            <a:ext cx="4049250" cy="246221"/>
            <a:chOff x="4013022" y="4718849"/>
            <a:chExt cx="4049250" cy="24622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61D47FA-F46D-FE75-FEB9-8533BB958724}"/>
                </a:ext>
              </a:extLst>
            </p:cNvPr>
            <p:cNvSpPr txBox="1"/>
            <p:nvPr/>
          </p:nvSpPr>
          <p:spPr>
            <a:xfrm>
              <a:off x="5014735" y="4718849"/>
              <a:ext cx="30475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/>
                <a:t>Get certificate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AA86418D-30F9-8BCD-9316-B0EE7CBCE190}"/>
                </a:ext>
              </a:extLst>
            </p:cNvPr>
            <p:cNvCxnSpPr>
              <a:cxnSpLocks/>
            </p:cNvCxnSpPr>
            <p:nvPr/>
          </p:nvCxnSpPr>
          <p:spPr>
            <a:xfrm>
              <a:off x="4013022" y="4837325"/>
              <a:ext cx="3109762" cy="0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56FB28F7-C1CC-FCA1-D2A7-FCA2EA704284}"/>
              </a:ext>
            </a:extLst>
          </p:cNvPr>
          <p:cNvSpPr txBox="1"/>
          <p:nvPr/>
        </p:nvSpPr>
        <p:spPr>
          <a:xfrm>
            <a:off x="8417772" y="5126035"/>
            <a:ext cx="13296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000" i="1" dirty="0">
                <a:solidFill>
                  <a:srgbClr val="00B050"/>
                </a:solidFill>
              </a:rPr>
              <a:t>3. Send status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675FE14-FEE2-3BA4-5395-2B84594C83E4}"/>
              </a:ext>
            </a:extLst>
          </p:cNvPr>
          <p:cNvGrpSpPr/>
          <p:nvPr/>
        </p:nvGrpSpPr>
        <p:grpSpPr>
          <a:xfrm>
            <a:off x="1993272" y="3195105"/>
            <a:ext cx="719934" cy="1256315"/>
            <a:chOff x="2100204" y="3195105"/>
            <a:chExt cx="719934" cy="1256315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80EE53F-F69F-88BA-7133-01362E6C4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0204" y="3255558"/>
              <a:ext cx="0" cy="1045353"/>
            </a:xfrm>
            <a:prstGeom prst="straightConnector1">
              <a:avLst/>
            </a:prstGeom>
            <a:ln w="22225">
              <a:solidFill>
                <a:srgbClr val="006EF9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17B2685C-DF8A-4CE4-63C9-C88334BE5102}"/>
                </a:ext>
              </a:extLst>
            </p:cNvPr>
            <p:cNvGrpSpPr/>
            <p:nvPr/>
          </p:nvGrpSpPr>
          <p:grpSpPr>
            <a:xfrm>
              <a:off x="2321917" y="3195105"/>
              <a:ext cx="498221" cy="1256315"/>
              <a:chOff x="2566588" y="3182118"/>
              <a:chExt cx="498221" cy="1256315"/>
            </a:xfrm>
          </p:grpSpPr>
          <p:sp>
            <p:nvSpPr>
              <p:cNvPr id="68" name="Rounded Rectangle 67">
                <a:extLst>
                  <a:ext uri="{FF2B5EF4-FFF2-40B4-BE49-F238E27FC236}">
                    <a16:creationId xmlns:a16="http://schemas.microsoft.com/office/drawing/2014/main" id="{A97C80A1-0F50-3CE5-04B5-9BBA91250DBA}"/>
                  </a:ext>
                </a:extLst>
              </p:cNvPr>
              <p:cNvSpPr/>
              <p:nvPr/>
            </p:nvSpPr>
            <p:spPr>
              <a:xfrm>
                <a:off x="2566588" y="3182118"/>
                <a:ext cx="498221" cy="1256315"/>
              </a:xfrm>
              <a:prstGeom prst="roundRect">
                <a:avLst>
                  <a:gd name="adj" fmla="val 3245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AB3DFC8E-5DC1-BA7F-5217-694809C7D0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70303" y="3266997"/>
                <a:ext cx="0" cy="1045353"/>
              </a:xfrm>
              <a:prstGeom prst="straightConnector1">
                <a:avLst/>
              </a:prstGeom>
              <a:ln w="22225">
                <a:solidFill>
                  <a:schemeClr val="tx1">
                    <a:lumMod val="65000"/>
                    <a:lumOff val="3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2E2D4F5-ABC2-AEBF-6884-E615CC6F2837}"/>
                  </a:ext>
                </a:extLst>
              </p:cNvPr>
              <p:cNvSpPr txBox="1"/>
              <p:nvPr/>
            </p:nvSpPr>
            <p:spPr>
              <a:xfrm rot="16200000">
                <a:off x="2469203" y="3701612"/>
                <a:ext cx="51969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dirty="0"/>
                  <a:t>DP-Sig</a:t>
                </a:r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72967EC-21A8-DA18-5DBE-CB9376BF6E32}"/>
              </a:ext>
            </a:extLst>
          </p:cNvPr>
          <p:cNvGrpSpPr/>
          <p:nvPr/>
        </p:nvGrpSpPr>
        <p:grpSpPr>
          <a:xfrm>
            <a:off x="9805587" y="3145854"/>
            <a:ext cx="498221" cy="1256315"/>
            <a:chOff x="2566588" y="3182118"/>
            <a:chExt cx="498221" cy="1256315"/>
          </a:xfrm>
        </p:grpSpPr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6F9B9D4E-03E2-C64A-C974-DCD8A20E5C60}"/>
                </a:ext>
              </a:extLst>
            </p:cNvPr>
            <p:cNvSpPr/>
            <p:nvPr/>
          </p:nvSpPr>
          <p:spPr>
            <a:xfrm>
              <a:off x="2566588" y="3182118"/>
              <a:ext cx="498221" cy="1256315"/>
            </a:xfrm>
            <a:prstGeom prst="roundRect">
              <a:avLst>
                <a:gd name="adj" fmla="val 324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BEE0B528-629D-5505-3441-0886C7B1C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0303" y="3266997"/>
              <a:ext cx="0" cy="1045353"/>
            </a:xfrm>
            <a:prstGeom prst="straightConnector1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54906F7-BCE3-A643-8A7A-64CF1A303041}"/>
                </a:ext>
              </a:extLst>
            </p:cNvPr>
            <p:cNvSpPr txBox="1"/>
            <p:nvPr/>
          </p:nvSpPr>
          <p:spPr>
            <a:xfrm rot="16200000">
              <a:off x="2469203" y="3701612"/>
              <a:ext cx="5196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/>
                <a:t>DP-Sig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C2217CD-98F6-59CD-35EA-005A1559BC2C}"/>
              </a:ext>
            </a:extLst>
          </p:cNvPr>
          <p:cNvGrpSpPr/>
          <p:nvPr/>
        </p:nvGrpSpPr>
        <p:grpSpPr>
          <a:xfrm>
            <a:off x="1801163" y="1956084"/>
            <a:ext cx="1104153" cy="1106043"/>
            <a:chOff x="1742949" y="2034740"/>
            <a:chExt cx="1104153" cy="1106043"/>
          </a:xfrm>
        </p:grpSpPr>
        <p:pic>
          <p:nvPicPr>
            <p:cNvPr id="24" name="Graphic 23" descr="Connected with solid fill">
              <a:extLst>
                <a:ext uri="{FF2B5EF4-FFF2-40B4-BE49-F238E27FC236}">
                  <a16:creationId xmlns:a16="http://schemas.microsoft.com/office/drawing/2014/main" id="{28DDB6DF-FF66-F295-BA46-E9956E912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37473" y="2395252"/>
              <a:ext cx="715104" cy="71510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D44B5D7-EB75-EB2D-9B25-051436525944}"/>
                </a:ext>
              </a:extLst>
            </p:cNvPr>
            <p:cNvSpPr txBox="1"/>
            <p:nvPr/>
          </p:nvSpPr>
          <p:spPr>
            <a:xfrm>
              <a:off x="1872492" y="2044826"/>
              <a:ext cx="845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SME</a:t>
              </a:r>
            </a:p>
            <a:p>
              <a:pPr algn="ctr"/>
              <a:r>
                <a:rPr lang="en-US" sz="1000" dirty="0"/>
                <a:t>Connector</a:t>
              </a:r>
            </a:p>
          </p:txBody>
        </p:sp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BFB98F69-5FD5-CAD1-EC18-120086A74B66}"/>
                </a:ext>
              </a:extLst>
            </p:cNvPr>
            <p:cNvSpPr/>
            <p:nvPr/>
          </p:nvSpPr>
          <p:spPr>
            <a:xfrm>
              <a:off x="1742949" y="2034740"/>
              <a:ext cx="1104153" cy="1106043"/>
            </a:xfrm>
            <a:prstGeom prst="roundRect">
              <a:avLst>
                <a:gd name="adj" fmla="val 324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E315749-3656-9033-53FC-D5039692CD3E}"/>
              </a:ext>
            </a:extLst>
          </p:cNvPr>
          <p:cNvGrpSpPr/>
          <p:nvPr/>
        </p:nvGrpSpPr>
        <p:grpSpPr>
          <a:xfrm>
            <a:off x="9363322" y="1943830"/>
            <a:ext cx="1104153" cy="1106043"/>
            <a:chOff x="1742949" y="2034740"/>
            <a:chExt cx="1104153" cy="1106043"/>
          </a:xfrm>
        </p:grpSpPr>
        <p:pic>
          <p:nvPicPr>
            <p:cNvPr id="85" name="Graphic 84" descr="Connected with solid fill">
              <a:extLst>
                <a:ext uri="{FF2B5EF4-FFF2-40B4-BE49-F238E27FC236}">
                  <a16:creationId xmlns:a16="http://schemas.microsoft.com/office/drawing/2014/main" id="{5D8B29E8-DE8F-8333-5FA2-564FFC014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37473" y="2395252"/>
              <a:ext cx="715104" cy="715104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B07615D-420B-47EA-9A2A-B55BE95305A7}"/>
                </a:ext>
              </a:extLst>
            </p:cNvPr>
            <p:cNvSpPr txBox="1"/>
            <p:nvPr/>
          </p:nvSpPr>
          <p:spPr>
            <a:xfrm>
              <a:off x="1872492" y="2044826"/>
              <a:ext cx="845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Tier-1/OEM</a:t>
              </a:r>
            </a:p>
            <a:p>
              <a:pPr algn="ctr"/>
              <a:r>
                <a:rPr lang="en-US" sz="1000" dirty="0"/>
                <a:t>Connector</a:t>
              </a:r>
            </a:p>
          </p:txBody>
        </p:sp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46CC9317-9CA9-A293-4369-3EFD4C92417D}"/>
                </a:ext>
              </a:extLst>
            </p:cNvPr>
            <p:cNvSpPr/>
            <p:nvPr/>
          </p:nvSpPr>
          <p:spPr>
            <a:xfrm>
              <a:off x="1742949" y="2034740"/>
              <a:ext cx="1104153" cy="1106043"/>
            </a:xfrm>
            <a:prstGeom prst="roundRect">
              <a:avLst>
                <a:gd name="adj" fmla="val 324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996130C0-F1F4-DFE3-2ADD-33E4573CB97D}"/>
              </a:ext>
            </a:extLst>
          </p:cNvPr>
          <p:cNvSpPr txBox="1"/>
          <p:nvPr/>
        </p:nvSpPr>
        <p:spPr>
          <a:xfrm>
            <a:off x="9557846" y="5538115"/>
            <a:ext cx="710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CCM App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C5D1738-654D-462C-6C8B-A8C71B378A23}"/>
              </a:ext>
            </a:extLst>
          </p:cNvPr>
          <p:cNvCxnSpPr>
            <a:cxnSpLocks/>
          </p:cNvCxnSpPr>
          <p:nvPr/>
        </p:nvCxnSpPr>
        <p:spPr>
          <a:xfrm flipV="1">
            <a:off x="9634404" y="3216273"/>
            <a:ext cx="0" cy="1045353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D9AD158C-23AF-930F-0696-5AEE2F8B7FE1}"/>
              </a:ext>
            </a:extLst>
          </p:cNvPr>
          <p:cNvSpPr txBox="1"/>
          <p:nvPr/>
        </p:nvSpPr>
        <p:spPr>
          <a:xfrm rot="16200000">
            <a:off x="3192756" y="4909190"/>
            <a:ext cx="9653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CCM Endpoints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FD54572-E2D9-7ED1-ABA0-3B45596103E9}"/>
              </a:ext>
            </a:extLst>
          </p:cNvPr>
          <p:cNvCxnSpPr>
            <a:cxnSpLocks/>
          </p:cNvCxnSpPr>
          <p:nvPr/>
        </p:nvCxnSpPr>
        <p:spPr>
          <a:xfrm>
            <a:off x="3799711" y="4490484"/>
            <a:ext cx="0" cy="109369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6188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BE858-0C33-92C9-33AD-228A5F1C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CCM Proposal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4A6688-89E9-F6B2-5420-FCC63F67EE3A}"/>
              </a:ext>
            </a:extLst>
          </p:cNvPr>
          <p:cNvGrpSpPr/>
          <p:nvPr/>
        </p:nvGrpSpPr>
        <p:grpSpPr>
          <a:xfrm>
            <a:off x="566156" y="2555984"/>
            <a:ext cx="2325418" cy="369333"/>
            <a:chOff x="3830685" y="3903965"/>
            <a:chExt cx="4833501" cy="732991"/>
          </a:xfrm>
          <a:solidFill>
            <a:schemeClr val="bg1">
              <a:lumMod val="85000"/>
            </a:schemeClr>
          </a:solidFill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B6E4BC9-D974-33F7-3F37-EEB7B1188E66}"/>
                </a:ext>
              </a:extLst>
            </p:cNvPr>
            <p:cNvGrpSpPr/>
            <p:nvPr/>
          </p:nvGrpSpPr>
          <p:grpSpPr>
            <a:xfrm>
              <a:off x="3830686" y="3903965"/>
              <a:ext cx="4833499" cy="732991"/>
              <a:chOff x="2935416" y="3343545"/>
              <a:chExt cx="6868885" cy="839531"/>
            </a:xfrm>
            <a:grpFill/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8C72F03-80EE-8181-C766-E866D24130A2}"/>
                  </a:ext>
                </a:extLst>
              </p:cNvPr>
              <p:cNvSpPr txBox="1"/>
              <p:nvPr/>
            </p:nvSpPr>
            <p:spPr>
              <a:xfrm>
                <a:off x="2935416" y="3465617"/>
                <a:ext cx="6868885" cy="594666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100" dirty="0"/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7915C508-AD9E-4F76-A1A5-01FF1ACB7DD7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CE14B99-770A-6DEF-2F4F-7F88B4113FA4}"/>
                </a:ext>
              </a:extLst>
            </p:cNvPr>
            <p:cNvSpPr txBox="1"/>
            <p:nvPr/>
          </p:nvSpPr>
          <p:spPr>
            <a:xfrm>
              <a:off x="3830685" y="4018496"/>
              <a:ext cx="4833501" cy="503930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50" dirty="0"/>
                <a:t>CX-135 CCM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D3EC74B-A13E-9CD5-D639-18E2FF554510}"/>
              </a:ext>
            </a:extLst>
          </p:cNvPr>
          <p:cNvGrpSpPr/>
          <p:nvPr/>
        </p:nvGrpSpPr>
        <p:grpSpPr>
          <a:xfrm>
            <a:off x="2975117" y="2557102"/>
            <a:ext cx="2325416" cy="369333"/>
            <a:chOff x="3830685" y="3903965"/>
            <a:chExt cx="4833501" cy="732991"/>
          </a:xfrm>
          <a:solidFill>
            <a:schemeClr val="bg1">
              <a:lumMod val="85000"/>
            </a:schemeClr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BBBE17A-0B2C-5780-8CA0-32CFF7143E7C}"/>
                </a:ext>
              </a:extLst>
            </p:cNvPr>
            <p:cNvGrpSpPr/>
            <p:nvPr/>
          </p:nvGrpSpPr>
          <p:grpSpPr>
            <a:xfrm>
              <a:off x="3830686" y="3903965"/>
              <a:ext cx="4833499" cy="732991"/>
              <a:chOff x="2935416" y="3343545"/>
              <a:chExt cx="6868885" cy="839531"/>
            </a:xfrm>
            <a:grpFill/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7BBBB90-D5A2-B244-4EAF-CA2E6B568A72}"/>
                  </a:ext>
                </a:extLst>
              </p:cNvPr>
              <p:cNvSpPr txBox="1"/>
              <p:nvPr/>
            </p:nvSpPr>
            <p:spPr>
              <a:xfrm>
                <a:off x="2935416" y="3465617"/>
                <a:ext cx="6868885" cy="594666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100" dirty="0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09F8870-F8DE-1AC3-3238-5B13B85B3F62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966E49-23DA-BC5D-3887-854DA48D9C38}"/>
                </a:ext>
              </a:extLst>
            </p:cNvPr>
            <p:cNvSpPr txBox="1"/>
            <p:nvPr/>
          </p:nvSpPr>
          <p:spPr>
            <a:xfrm>
              <a:off x="3830685" y="4010861"/>
              <a:ext cx="4833501" cy="519200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50" dirty="0"/>
                <a:t>CX-125 Traceability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A2979BF-9596-1987-D939-9F5034DDF5C1}"/>
              </a:ext>
            </a:extLst>
          </p:cNvPr>
          <p:cNvGrpSpPr/>
          <p:nvPr/>
        </p:nvGrpSpPr>
        <p:grpSpPr>
          <a:xfrm>
            <a:off x="566155" y="3018601"/>
            <a:ext cx="4734387" cy="369333"/>
            <a:chOff x="2935414" y="3343545"/>
            <a:chExt cx="6868887" cy="839531"/>
          </a:xfrm>
          <a:solidFill>
            <a:schemeClr val="bg1">
              <a:lumMod val="85000"/>
            </a:schemeClr>
          </a:solidFill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E60ED541-5C00-35BE-1375-C6D522AB9A33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499249-E688-42B6-6669-463FA4874852}"/>
                </a:ext>
              </a:extLst>
            </p:cNvPr>
            <p:cNvSpPr txBox="1"/>
            <p:nvPr/>
          </p:nvSpPr>
          <p:spPr>
            <a:xfrm>
              <a:off x="2935414" y="3448369"/>
              <a:ext cx="6868883" cy="594666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/>
                <a:t>CX-151  Industry Core Message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932D32B-11FF-5B02-01B2-715C6A4A62E5}"/>
              </a:ext>
            </a:extLst>
          </p:cNvPr>
          <p:cNvGrpSpPr/>
          <p:nvPr/>
        </p:nvGrpSpPr>
        <p:grpSpPr>
          <a:xfrm>
            <a:off x="566156" y="3526909"/>
            <a:ext cx="4734389" cy="369333"/>
            <a:chOff x="2935414" y="3343545"/>
            <a:chExt cx="6868887" cy="839531"/>
          </a:xfrm>
          <a:solidFill>
            <a:srgbClr val="006EF9"/>
          </a:solidFill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6940DD3-88C5-5CAB-F03C-E720FB863CB5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300CA1-9772-E030-4035-809BE0614F8C}"/>
                </a:ext>
              </a:extLst>
            </p:cNvPr>
            <p:cNvSpPr txBox="1"/>
            <p:nvPr/>
          </p:nvSpPr>
          <p:spPr>
            <a:xfrm>
              <a:off x="2935414" y="3448369"/>
              <a:ext cx="6868883" cy="59466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/>
                <a:t>CNCF Cloud Events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4A55584-A78B-452B-418C-95C0B6C61FFB}"/>
              </a:ext>
            </a:extLst>
          </p:cNvPr>
          <p:cNvGrpSpPr/>
          <p:nvPr/>
        </p:nvGrpSpPr>
        <p:grpSpPr>
          <a:xfrm>
            <a:off x="2975116" y="4058722"/>
            <a:ext cx="2325430" cy="369333"/>
            <a:chOff x="2935414" y="3343545"/>
            <a:chExt cx="6868887" cy="839531"/>
          </a:xfrm>
          <a:solidFill>
            <a:srgbClr val="006EF9"/>
          </a:solidFill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1508678-F788-9994-9CB3-48DBA0EF6672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5CCE753-06F0-5A9E-31F2-B7915CDB5A59}"/>
                </a:ext>
              </a:extLst>
            </p:cNvPr>
            <p:cNvSpPr txBox="1"/>
            <p:nvPr/>
          </p:nvSpPr>
          <p:spPr>
            <a:xfrm>
              <a:off x="2935414" y="3448369"/>
              <a:ext cx="6868884" cy="594666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 err="1">
                  <a:solidFill>
                    <a:schemeClr val="bg1"/>
                  </a:solidFill>
                </a:rPr>
                <a:t>DPlane</a:t>
              </a:r>
              <a:r>
                <a:rPr lang="en-US" sz="1100" dirty="0">
                  <a:solidFill>
                    <a:schemeClr val="bg1"/>
                  </a:solidFill>
                </a:rPr>
                <a:t>-Sig Token Refresh Profile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0DBD2C-7171-6DE1-AEBC-A21988B9BB53}"/>
              </a:ext>
            </a:extLst>
          </p:cNvPr>
          <p:cNvGrpSpPr/>
          <p:nvPr/>
        </p:nvGrpSpPr>
        <p:grpSpPr>
          <a:xfrm>
            <a:off x="566156" y="4066469"/>
            <a:ext cx="2325429" cy="369333"/>
            <a:chOff x="2935414" y="3343545"/>
            <a:chExt cx="6868887" cy="839531"/>
          </a:xfrm>
          <a:solidFill>
            <a:srgbClr val="006EF9"/>
          </a:solidFill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2C985B5D-6ADD-9761-FE10-E839C7297668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07F1232-35D8-8C51-0620-0F82D0E82A1C}"/>
                </a:ext>
              </a:extLst>
            </p:cNvPr>
            <p:cNvSpPr txBox="1"/>
            <p:nvPr/>
          </p:nvSpPr>
          <p:spPr>
            <a:xfrm>
              <a:off x="2935414" y="3448369"/>
              <a:ext cx="6868883" cy="594666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 err="1">
                  <a:solidFill>
                    <a:schemeClr val="bg1"/>
                  </a:solidFill>
                </a:rPr>
                <a:t>DPlane</a:t>
              </a:r>
              <a:r>
                <a:rPr lang="en-US" sz="1100" dirty="0">
                  <a:solidFill>
                    <a:schemeClr val="bg1"/>
                  </a:solidFill>
                </a:rPr>
                <a:t>-Sig HTTP Profile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DF4E29E-4BDB-0DFB-80E0-DCC5786F3871}"/>
              </a:ext>
            </a:extLst>
          </p:cNvPr>
          <p:cNvSpPr txBox="1"/>
          <p:nvPr/>
        </p:nvSpPr>
        <p:spPr>
          <a:xfrm>
            <a:off x="5813539" y="189697"/>
            <a:ext cx="5741846" cy="2923877"/>
          </a:xfrm>
          <a:prstGeom prst="rect">
            <a:avLst/>
          </a:prstGeom>
          <a:solidFill>
            <a:srgbClr val="DEEAFF"/>
          </a:solidFill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6EF9"/>
                </a:solidFill>
              </a:rPr>
              <a:t>DSP Catalog Dataset – HTTP Profile</a:t>
            </a:r>
          </a:p>
          <a:p>
            <a:endParaRPr lang="en-US" sz="800" b="1" dirty="0">
              <a:solidFill>
                <a:srgbClr val="006EF9"/>
              </a:solidFill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"@id": "urn:uuid:3dd1add8-4d2d-569e-d634-8394a8836a88",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"@type": "Dataset",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hasPolicy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[…],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datasetType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CertificateNotificationAPI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],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"distribution": [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"@type": "Distribution",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"https://w3id.org/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dplane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-sig/http"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specMetadata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"...",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specType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xregistry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],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accessService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”…"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]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9142C9-DD9E-23B8-7ABA-ACE9971BCA99}"/>
              </a:ext>
            </a:extLst>
          </p:cNvPr>
          <p:cNvSpPr txBox="1"/>
          <p:nvPr/>
        </p:nvSpPr>
        <p:spPr>
          <a:xfrm>
            <a:off x="5813539" y="3205277"/>
            <a:ext cx="5741846" cy="3539430"/>
          </a:xfrm>
          <a:prstGeom prst="rect">
            <a:avLst/>
          </a:prstGeom>
          <a:solidFill>
            <a:srgbClr val="DEEAFF"/>
          </a:solidFill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6EF9"/>
                </a:solidFill>
              </a:rPr>
              <a:t>DSP </a:t>
            </a:r>
            <a:r>
              <a:rPr lang="en-US" sz="800" b="1" dirty="0" err="1">
                <a:solidFill>
                  <a:srgbClr val="006EF9"/>
                </a:solidFill>
              </a:rPr>
              <a:t>DataAddress</a:t>
            </a:r>
            <a:r>
              <a:rPr lang="en-US" sz="800" b="1" dirty="0">
                <a:solidFill>
                  <a:srgbClr val="006EF9"/>
                </a:solidFill>
              </a:rPr>
              <a:t> – Token Refresh Profile</a:t>
            </a:r>
          </a:p>
          <a:p>
            <a:endParaRPr lang="en-US" sz="800" b="1" dirty="0">
              <a:solidFill>
                <a:srgbClr val="006EF9"/>
              </a:solidFill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endpointType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https://w3id.org/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dplane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-sig/http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"endpoint": "https://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example.com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endpointProperties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"name": "https://w3id.org/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dplane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-sig/token",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"value": "TOKEN-ABCDEFG"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},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"name": "https://w3id.org/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dplane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-sig/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authType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"value": "bearer"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},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"name": "https://w3id.org/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dplane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-sig/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refreshToken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”value": "REFRESH-TOKEN-ABCDEFG"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},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"name": "https://w3id.org/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dplane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-sig/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expiresIn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"value": "300"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},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"name": "https://w3id.org/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dplane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-sig/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refreshEndpoint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"value": "https://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example.com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/authorization/refresh"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]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A257A6-D3C5-3FB8-D7B6-B898F2A33E09}"/>
              </a:ext>
            </a:extLst>
          </p:cNvPr>
          <p:cNvSpPr txBox="1"/>
          <p:nvPr/>
        </p:nvSpPr>
        <p:spPr>
          <a:xfrm>
            <a:off x="9670737" y="1061542"/>
            <a:ext cx="17838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err="1"/>
              <a:t>datasetType</a:t>
            </a:r>
            <a:r>
              <a:rPr lang="en-US" sz="1050" dirty="0"/>
              <a:t> – Conveys the type of data offered (defined by Data Plane Signaling)</a:t>
            </a:r>
          </a:p>
          <a:p>
            <a:endParaRPr lang="en-US" sz="1050" b="1" dirty="0"/>
          </a:p>
          <a:p>
            <a:r>
              <a:rPr lang="en-US" sz="1050" b="1" dirty="0" err="1"/>
              <a:t>specMetadata</a:t>
            </a:r>
            <a:r>
              <a:rPr lang="en-US" sz="1050" b="1" dirty="0"/>
              <a:t> </a:t>
            </a:r>
            <a:r>
              <a:rPr lang="en-US" sz="1050" dirty="0"/>
              <a:t>– Conveys endpoint, schema, and </a:t>
            </a:r>
            <a:r>
              <a:rPr lang="en-US" sz="1050" dirty="0" err="1"/>
              <a:t>versoining</a:t>
            </a:r>
            <a:r>
              <a:rPr lang="en-US" sz="1050" dirty="0"/>
              <a:t> information</a:t>
            </a:r>
            <a:endParaRPr lang="en-US" sz="105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E4C429-D034-6A75-59D2-6E44526643D0}"/>
              </a:ext>
            </a:extLst>
          </p:cNvPr>
          <p:cNvSpPr txBox="1"/>
          <p:nvPr/>
        </p:nvSpPr>
        <p:spPr>
          <a:xfrm>
            <a:off x="9670737" y="4722757"/>
            <a:ext cx="16630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err="1"/>
              <a:t>DataAddress</a:t>
            </a:r>
            <a:r>
              <a:rPr lang="en-US" sz="1050" dirty="0"/>
              <a:t> properties to transmit access and refresh tokens</a:t>
            </a:r>
          </a:p>
        </p:txBody>
      </p:sp>
    </p:spTree>
    <p:extLst>
      <p:ext uri="{BB962C8B-B14F-4D97-AF65-F5344CB8AC3E}">
        <p14:creationId xmlns:p14="http://schemas.microsoft.com/office/powerpoint/2010/main" val="751079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BE858-0C33-92C9-33AD-228A5F1C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CCM Proposal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25FCBD2-411C-2150-2ECE-1866F498BD5D}"/>
              </a:ext>
            </a:extLst>
          </p:cNvPr>
          <p:cNvGrpSpPr/>
          <p:nvPr/>
        </p:nvGrpSpPr>
        <p:grpSpPr>
          <a:xfrm>
            <a:off x="566156" y="2555981"/>
            <a:ext cx="2325418" cy="369333"/>
            <a:chOff x="3830685" y="3903965"/>
            <a:chExt cx="4833501" cy="732991"/>
          </a:xfrm>
          <a:solidFill>
            <a:schemeClr val="bg1">
              <a:lumMod val="85000"/>
            </a:schemeClr>
          </a:solidFill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0D21B3C-B6B4-3286-8F07-B5AAAF9B227D}"/>
                </a:ext>
              </a:extLst>
            </p:cNvPr>
            <p:cNvGrpSpPr/>
            <p:nvPr/>
          </p:nvGrpSpPr>
          <p:grpSpPr>
            <a:xfrm>
              <a:off x="3830686" y="3903965"/>
              <a:ext cx="4833499" cy="732991"/>
              <a:chOff x="2935416" y="3343545"/>
              <a:chExt cx="6868885" cy="839531"/>
            </a:xfrm>
            <a:grpFill/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FF4760A-35A6-4E80-014D-0F66B7C37A68}"/>
                  </a:ext>
                </a:extLst>
              </p:cNvPr>
              <p:cNvSpPr txBox="1"/>
              <p:nvPr/>
            </p:nvSpPr>
            <p:spPr>
              <a:xfrm>
                <a:off x="2935416" y="3465617"/>
                <a:ext cx="6868885" cy="594666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100" dirty="0"/>
              </a:p>
            </p:txBody>
          </p:sp>
          <p:sp>
            <p:nvSpPr>
              <p:cNvPr id="52" name="Rounded Rectangle 51">
                <a:extLst>
                  <a:ext uri="{FF2B5EF4-FFF2-40B4-BE49-F238E27FC236}">
                    <a16:creationId xmlns:a16="http://schemas.microsoft.com/office/drawing/2014/main" id="{F5593EAC-FC9E-D9DE-6CDA-15835F580990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ECD2FC1-C395-95E9-E813-3A6B1F40A31B}"/>
                </a:ext>
              </a:extLst>
            </p:cNvPr>
            <p:cNvSpPr txBox="1"/>
            <p:nvPr/>
          </p:nvSpPr>
          <p:spPr>
            <a:xfrm>
              <a:off x="3830685" y="4018496"/>
              <a:ext cx="4833501" cy="503930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50" dirty="0"/>
                <a:t>CX-135 CCM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B1736B7-C5EC-2828-C67C-837D40F1B212}"/>
              </a:ext>
            </a:extLst>
          </p:cNvPr>
          <p:cNvGrpSpPr/>
          <p:nvPr/>
        </p:nvGrpSpPr>
        <p:grpSpPr>
          <a:xfrm>
            <a:off x="2975117" y="2557099"/>
            <a:ext cx="2325416" cy="369333"/>
            <a:chOff x="3830685" y="3903965"/>
            <a:chExt cx="4833501" cy="732991"/>
          </a:xfrm>
          <a:solidFill>
            <a:schemeClr val="bg1">
              <a:lumMod val="85000"/>
            </a:schemeClr>
          </a:solidFill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ADF98AF-DF50-1C03-45AD-F8D52B9BF868}"/>
                </a:ext>
              </a:extLst>
            </p:cNvPr>
            <p:cNvGrpSpPr/>
            <p:nvPr/>
          </p:nvGrpSpPr>
          <p:grpSpPr>
            <a:xfrm>
              <a:off x="3830686" y="3903965"/>
              <a:ext cx="4833499" cy="732991"/>
              <a:chOff x="2935416" y="3343545"/>
              <a:chExt cx="6868885" cy="839531"/>
            </a:xfrm>
            <a:grpFill/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8738DC5-9286-F552-3CEC-779AFF8C75B4}"/>
                  </a:ext>
                </a:extLst>
              </p:cNvPr>
              <p:cNvSpPr txBox="1"/>
              <p:nvPr/>
            </p:nvSpPr>
            <p:spPr>
              <a:xfrm>
                <a:off x="2935416" y="3465617"/>
                <a:ext cx="6868885" cy="594666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100" dirty="0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CAB844E9-B617-08FB-0AED-84E273D1E9B2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77EBC2B-469E-A567-43C1-9E569BA8D1D0}"/>
                </a:ext>
              </a:extLst>
            </p:cNvPr>
            <p:cNvSpPr txBox="1"/>
            <p:nvPr/>
          </p:nvSpPr>
          <p:spPr>
            <a:xfrm>
              <a:off x="3830685" y="4010861"/>
              <a:ext cx="4833501" cy="519200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50" dirty="0"/>
                <a:t>CX-125 Traceability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FCA9483-4EFA-335F-EB71-3C1BDA56BE18}"/>
              </a:ext>
            </a:extLst>
          </p:cNvPr>
          <p:cNvGrpSpPr/>
          <p:nvPr/>
        </p:nvGrpSpPr>
        <p:grpSpPr>
          <a:xfrm>
            <a:off x="566155" y="3018598"/>
            <a:ext cx="4734387" cy="369333"/>
            <a:chOff x="2935414" y="3343545"/>
            <a:chExt cx="6868887" cy="839531"/>
          </a:xfrm>
          <a:solidFill>
            <a:schemeClr val="bg1">
              <a:lumMod val="85000"/>
            </a:schemeClr>
          </a:solidFill>
        </p:grpSpPr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2F01431E-C3A5-3667-4F39-8D11E47A44BE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C65C4EA-C884-7930-4D57-B5FAF9426FF0}"/>
                </a:ext>
              </a:extLst>
            </p:cNvPr>
            <p:cNvSpPr txBox="1"/>
            <p:nvPr/>
          </p:nvSpPr>
          <p:spPr>
            <a:xfrm>
              <a:off x="2935414" y="3448369"/>
              <a:ext cx="6868883" cy="594666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/>
                <a:t>CX-151  Industry Core Message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C84DC98-94BF-CC40-7AAC-D0A1A88DF9A7}"/>
              </a:ext>
            </a:extLst>
          </p:cNvPr>
          <p:cNvGrpSpPr/>
          <p:nvPr/>
        </p:nvGrpSpPr>
        <p:grpSpPr>
          <a:xfrm>
            <a:off x="566156" y="3526906"/>
            <a:ext cx="4734389" cy="369333"/>
            <a:chOff x="2935414" y="3343545"/>
            <a:chExt cx="6868887" cy="839531"/>
          </a:xfrm>
          <a:solidFill>
            <a:srgbClr val="536DE6"/>
          </a:solidFill>
        </p:grpSpPr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60E28F50-4334-3947-B00E-43237E98D0FF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747551D-11FD-5157-A06A-5CD8336510AD}"/>
                </a:ext>
              </a:extLst>
            </p:cNvPr>
            <p:cNvSpPr txBox="1"/>
            <p:nvPr/>
          </p:nvSpPr>
          <p:spPr>
            <a:xfrm>
              <a:off x="2935414" y="3448369"/>
              <a:ext cx="6868883" cy="594666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CNCF Cloud Events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656A81B-6D25-CCC8-DD7B-691D6592D5E3}"/>
              </a:ext>
            </a:extLst>
          </p:cNvPr>
          <p:cNvGrpSpPr/>
          <p:nvPr/>
        </p:nvGrpSpPr>
        <p:grpSpPr>
          <a:xfrm>
            <a:off x="2975116" y="4058719"/>
            <a:ext cx="2325430" cy="369333"/>
            <a:chOff x="2935414" y="3343545"/>
            <a:chExt cx="6868887" cy="839531"/>
          </a:xfrm>
          <a:solidFill>
            <a:schemeClr val="bg1">
              <a:lumMod val="85000"/>
            </a:schemeClr>
          </a:solidFill>
        </p:grpSpPr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B44FC89C-2643-BAFB-5B37-490141FC09A5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F541065-A065-01B1-D408-A28EFD919D94}"/>
                </a:ext>
              </a:extLst>
            </p:cNvPr>
            <p:cNvSpPr txBox="1"/>
            <p:nvPr/>
          </p:nvSpPr>
          <p:spPr>
            <a:xfrm>
              <a:off x="2935414" y="3448369"/>
              <a:ext cx="6868884" cy="594666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 err="1"/>
                <a:t>DPlane</a:t>
              </a:r>
              <a:r>
                <a:rPr lang="en-US" sz="1100" dirty="0"/>
                <a:t>-Sig Token Refresh Profile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85D2EBE-102F-F3CC-C3BD-7D32DEB9F1BE}"/>
              </a:ext>
            </a:extLst>
          </p:cNvPr>
          <p:cNvGrpSpPr/>
          <p:nvPr/>
        </p:nvGrpSpPr>
        <p:grpSpPr>
          <a:xfrm>
            <a:off x="566156" y="4066466"/>
            <a:ext cx="2325429" cy="369333"/>
            <a:chOff x="2935414" y="3343545"/>
            <a:chExt cx="6868887" cy="839531"/>
          </a:xfrm>
          <a:solidFill>
            <a:schemeClr val="bg1">
              <a:lumMod val="85000"/>
            </a:schemeClr>
          </a:solidFill>
        </p:grpSpPr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739893F0-42C0-6317-F29C-59123FB85ECB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84239A4-7E92-4B4B-9AED-0699B8BB09EC}"/>
                </a:ext>
              </a:extLst>
            </p:cNvPr>
            <p:cNvSpPr txBox="1"/>
            <p:nvPr/>
          </p:nvSpPr>
          <p:spPr>
            <a:xfrm>
              <a:off x="2935414" y="3448369"/>
              <a:ext cx="6868883" cy="594666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 err="1"/>
                <a:t>DPlane</a:t>
              </a:r>
              <a:r>
                <a:rPr lang="en-US" sz="1100" dirty="0"/>
                <a:t>-Sig HTTP Profile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066FC566-1147-A815-AD70-8AC2B40B4862}"/>
              </a:ext>
            </a:extLst>
          </p:cNvPr>
          <p:cNvSpPr txBox="1"/>
          <p:nvPr/>
        </p:nvSpPr>
        <p:spPr>
          <a:xfrm>
            <a:off x="5948514" y="2237310"/>
            <a:ext cx="5819307" cy="2554545"/>
          </a:xfrm>
          <a:prstGeom prst="rect">
            <a:avLst/>
          </a:prstGeom>
          <a:solidFill>
            <a:srgbClr val="DEEAFF"/>
          </a:solidFill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6EF9"/>
                </a:solidFill>
              </a:rPr>
              <a:t>Notification message structure</a:t>
            </a:r>
          </a:p>
          <a:p>
            <a:endParaRPr lang="en-US" sz="800" b="1" dirty="0">
              <a:solidFill>
                <a:srgbClr val="006EF9"/>
              </a:solidFill>
            </a:endParaRP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specversion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"1.0",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"type":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CertificateCreated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"source": 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urn:bpn:BPNL0000000001AB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"id": 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a1b2c3d4-5e6f-7a8b-9c0d-1e2f3a4b5c6d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"subject": 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BPNL0000000002CD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"time": 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2025-05-04T07:00:00Z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datacontenttype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application/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dataschema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https://w3id.org/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catenax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certificate.json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"data":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certificateId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"cert-123",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datasetId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"dataset-ccm-cert-abc123",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certificateType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"ISO9001",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validFrom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"2023-01-25",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validUntil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"2026-01-24",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locationBpns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["BPNA000000000001"]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7CF33C1-CED1-1B18-885D-B867C765959D}"/>
              </a:ext>
            </a:extLst>
          </p:cNvPr>
          <p:cNvSpPr txBox="1"/>
          <p:nvPr/>
        </p:nvSpPr>
        <p:spPr>
          <a:xfrm>
            <a:off x="5948514" y="4998715"/>
            <a:ext cx="56585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 err="1"/>
              <a:t>CloudEvents</a:t>
            </a:r>
            <a:r>
              <a:rPr lang="en-US" sz="1200" dirty="0"/>
              <a:t> defines: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Message structure,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Headers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Payload (data)</a:t>
            </a:r>
          </a:p>
        </p:txBody>
      </p:sp>
    </p:spTree>
    <p:extLst>
      <p:ext uri="{BB962C8B-B14F-4D97-AF65-F5344CB8AC3E}">
        <p14:creationId xmlns:p14="http://schemas.microsoft.com/office/powerpoint/2010/main" val="33972581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BE858-0C33-92C9-33AD-228A5F1C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CCM Proposal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25FCBD2-411C-2150-2ECE-1866F498BD5D}"/>
              </a:ext>
            </a:extLst>
          </p:cNvPr>
          <p:cNvGrpSpPr/>
          <p:nvPr/>
        </p:nvGrpSpPr>
        <p:grpSpPr>
          <a:xfrm>
            <a:off x="566156" y="2547014"/>
            <a:ext cx="2325418" cy="369333"/>
            <a:chOff x="3830685" y="3903965"/>
            <a:chExt cx="4833501" cy="732991"/>
          </a:xfrm>
          <a:solidFill>
            <a:schemeClr val="bg1">
              <a:lumMod val="85000"/>
            </a:schemeClr>
          </a:solidFill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0D21B3C-B6B4-3286-8F07-B5AAAF9B227D}"/>
                </a:ext>
              </a:extLst>
            </p:cNvPr>
            <p:cNvGrpSpPr/>
            <p:nvPr/>
          </p:nvGrpSpPr>
          <p:grpSpPr>
            <a:xfrm>
              <a:off x="3830686" y="3903965"/>
              <a:ext cx="4833499" cy="732991"/>
              <a:chOff x="2935416" y="3343545"/>
              <a:chExt cx="6868885" cy="839531"/>
            </a:xfrm>
            <a:grpFill/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FF4760A-35A6-4E80-014D-0F66B7C37A68}"/>
                  </a:ext>
                </a:extLst>
              </p:cNvPr>
              <p:cNvSpPr txBox="1"/>
              <p:nvPr/>
            </p:nvSpPr>
            <p:spPr>
              <a:xfrm>
                <a:off x="2935416" y="3465617"/>
                <a:ext cx="6868885" cy="594666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100" dirty="0"/>
              </a:p>
            </p:txBody>
          </p:sp>
          <p:sp>
            <p:nvSpPr>
              <p:cNvPr id="52" name="Rounded Rectangle 51">
                <a:extLst>
                  <a:ext uri="{FF2B5EF4-FFF2-40B4-BE49-F238E27FC236}">
                    <a16:creationId xmlns:a16="http://schemas.microsoft.com/office/drawing/2014/main" id="{F5593EAC-FC9E-D9DE-6CDA-15835F580990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ECD2FC1-C395-95E9-E813-3A6B1F40A31B}"/>
                </a:ext>
              </a:extLst>
            </p:cNvPr>
            <p:cNvSpPr txBox="1"/>
            <p:nvPr/>
          </p:nvSpPr>
          <p:spPr>
            <a:xfrm>
              <a:off x="3830685" y="4018496"/>
              <a:ext cx="4833501" cy="503930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50" dirty="0"/>
                <a:t>CX-135 CCM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B1736B7-C5EC-2828-C67C-837D40F1B212}"/>
              </a:ext>
            </a:extLst>
          </p:cNvPr>
          <p:cNvGrpSpPr/>
          <p:nvPr/>
        </p:nvGrpSpPr>
        <p:grpSpPr>
          <a:xfrm>
            <a:off x="2975117" y="2548132"/>
            <a:ext cx="2325416" cy="369333"/>
            <a:chOff x="3830685" y="3903965"/>
            <a:chExt cx="4833501" cy="732991"/>
          </a:xfrm>
          <a:solidFill>
            <a:schemeClr val="bg1">
              <a:lumMod val="85000"/>
            </a:schemeClr>
          </a:solidFill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ADF98AF-DF50-1C03-45AD-F8D52B9BF868}"/>
                </a:ext>
              </a:extLst>
            </p:cNvPr>
            <p:cNvGrpSpPr/>
            <p:nvPr/>
          </p:nvGrpSpPr>
          <p:grpSpPr>
            <a:xfrm>
              <a:off x="3830686" y="3903965"/>
              <a:ext cx="4833499" cy="732991"/>
              <a:chOff x="2935416" y="3343545"/>
              <a:chExt cx="6868885" cy="839531"/>
            </a:xfrm>
            <a:grpFill/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8738DC5-9286-F552-3CEC-779AFF8C75B4}"/>
                  </a:ext>
                </a:extLst>
              </p:cNvPr>
              <p:cNvSpPr txBox="1"/>
              <p:nvPr/>
            </p:nvSpPr>
            <p:spPr>
              <a:xfrm>
                <a:off x="2935416" y="3465617"/>
                <a:ext cx="6868885" cy="594666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100" dirty="0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CAB844E9-B617-08FB-0AED-84E273D1E9B2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77EBC2B-469E-A567-43C1-9E569BA8D1D0}"/>
                </a:ext>
              </a:extLst>
            </p:cNvPr>
            <p:cNvSpPr txBox="1"/>
            <p:nvPr/>
          </p:nvSpPr>
          <p:spPr>
            <a:xfrm>
              <a:off x="3830685" y="4010861"/>
              <a:ext cx="4833501" cy="519200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50" dirty="0"/>
                <a:t>CX-125 Traceability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FCA9483-4EFA-335F-EB71-3C1BDA56BE18}"/>
              </a:ext>
            </a:extLst>
          </p:cNvPr>
          <p:cNvGrpSpPr/>
          <p:nvPr/>
        </p:nvGrpSpPr>
        <p:grpSpPr>
          <a:xfrm>
            <a:off x="566155" y="3009631"/>
            <a:ext cx="4734387" cy="369333"/>
            <a:chOff x="2935414" y="3343545"/>
            <a:chExt cx="6868887" cy="839531"/>
          </a:xfrm>
          <a:solidFill>
            <a:srgbClr val="FFC000"/>
          </a:solidFill>
        </p:grpSpPr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2F01431E-C3A5-3667-4F39-8D11E47A44BE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C65C4EA-C884-7930-4D57-B5FAF9426FF0}"/>
                </a:ext>
              </a:extLst>
            </p:cNvPr>
            <p:cNvSpPr txBox="1"/>
            <p:nvPr/>
          </p:nvSpPr>
          <p:spPr>
            <a:xfrm>
              <a:off x="2935414" y="3448369"/>
              <a:ext cx="6868883" cy="594666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/>
                <a:t>CX-151  Industry Core Message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C84DC98-94BF-CC40-7AAC-D0A1A88DF9A7}"/>
              </a:ext>
            </a:extLst>
          </p:cNvPr>
          <p:cNvGrpSpPr/>
          <p:nvPr/>
        </p:nvGrpSpPr>
        <p:grpSpPr>
          <a:xfrm>
            <a:off x="566156" y="3517939"/>
            <a:ext cx="4734389" cy="369333"/>
            <a:chOff x="2935414" y="3343545"/>
            <a:chExt cx="6868887" cy="839531"/>
          </a:xfrm>
          <a:solidFill>
            <a:schemeClr val="bg1">
              <a:lumMod val="85000"/>
            </a:schemeClr>
          </a:solidFill>
        </p:grpSpPr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60E28F50-4334-3947-B00E-43237E98D0FF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747551D-11FD-5157-A06A-5CD8336510AD}"/>
                </a:ext>
              </a:extLst>
            </p:cNvPr>
            <p:cNvSpPr txBox="1"/>
            <p:nvPr/>
          </p:nvSpPr>
          <p:spPr>
            <a:xfrm>
              <a:off x="2935414" y="3448369"/>
              <a:ext cx="6868883" cy="594666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/>
                <a:t>CNCF Cloud Events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656A81B-6D25-CCC8-DD7B-691D6592D5E3}"/>
              </a:ext>
            </a:extLst>
          </p:cNvPr>
          <p:cNvGrpSpPr/>
          <p:nvPr/>
        </p:nvGrpSpPr>
        <p:grpSpPr>
          <a:xfrm>
            <a:off x="2975116" y="4049752"/>
            <a:ext cx="2325430" cy="369333"/>
            <a:chOff x="2935414" y="3343545"/>
            <a:chExt cx="6868887" cy="839531"/>
          </a:xfrm>
          <a:solidFill>
            <a:schemeClr val="bg1">
              <a:lumMod val="85000"/>
            </a:schemeClr>
          </a:solidFill>
        </p:grpSpPr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B44FC89C-2643-BAFB-5B37-490141FC09A5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F541065-A065-01B1-D408-A28EFD919D94}"/>
                </a:ext>
              </a:extLst>
            </p:cNvPr>
            <p:cNvSpPr txBox="1"/>
            <p:nvPr/>
          </p:nvSpPr>
          <p:spPr>
            <a:xfrm>
              <a:off x="2935414" y="3448369"/>
              <a:ext cx="6868884" cy="594666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 err="1"/>
                <a:t>DPlane</a:t>
              </a:r>
              <a:r>
                <a:rPr lang="en-US" sz="1100" dirty="0"/>
                <a:t>-Sig Token Refresh Profile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85D2EBE-102F-F3CC-C3BD-7D32DEB9F1BE}"/>
              </a:ext>
            </a:extLst>
          </p:cNvPr>
          <p:cNvGrpSpPr/>
          <p:nvPr/>
        </p:nvGrpSpPr>
        <p:grpSpPr>
          <a:xfrm>
            <a:off x="566156" y="4057499"/>
            <a:ext cx="2325429" cy="369333"/>
            <a:chOff x="2935414" y="3343545"/>
            <a:chExt cx="6868887" cy="839531"/>
          </a:xfrm>
          <a:solidFill>
            <a:schemeClr val="bg1">
              <a:lumMod val="85000"/>
            </a:schemeClr>
          </a:solidFill>
        </p:grpSpPr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739893F0-42C0-6317-F29C-59123FB85ECB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84239A4-7E92-4B4B-9AED-0699B8BB09EC}"/>
                </a:ext>
              </a:extLst>
            </p:cNvPr>
            <p:cNvSpPr txBox="1"/>
            <p:nvPr/>
          </p:nvSpPr>
          <p:spPr>
            <a:xfrm>
              <a:off x="2935414" y="3448369"/>
              <a:ext cx="6868883" cy="594666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 err="1"/>
                <a:t>DPlane</a:t>
              </a:r>
              <a:r>
                <a:rPr lang="en-US" sz="1100" dirty="0"/>
                <a:t>-Sig HTTP Profile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066FC566-1147-A815-AD70-8AC2B40B4862}"/>
              </a:ext>
            </a:extLst>
          </p:cNvPr>
          <p:cNvSpPr txBox="1"/>
          <p:nvPr/>
        </p:nvSpPr>
        <p:spPr>
          <a:xfrm>
            <a:off x="5948514" y="2237310"/>
            <a:ext cx="5819307" cy="2554545"/>
          </a:xfrm>
          <a:prstGeom prst="rect">
            <a:avLst/>
          </a:prstGeom>
          <a:solidFill>
            <a:srgbClr val="DEEAFF"/>
          </a:solidFill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6EF9"/>
                </a:solidFill>
              </a:rPr>
              <a:t>Notification message structure</a:t>
            </a:r>
          </a:p>
          <a:p>
            <a:endParaRPr lang="en-US" sz="800" b="1" dirty="0">
              <a:solidFill>
                <a:srgbClr val="006EF9"/>
              </a:solidFill>
            </a:endParaRP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specversion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"1.0",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CertificateCreated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source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"urn:bpn:BPNL0000000001AB",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a1b2c3d4-5e6f-7a8b-9c0d-1e2f3a4b5c6d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subject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"BPNL0000000002CD",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2025-05-04T07:00:00Z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datacontenttype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"application/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dataschema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https://w3id.org/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catenax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certificate.json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certificateId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"cert-123",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datasetId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"dataset-ccm-cert-abc123",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certificateType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"ISO9001",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validFrom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"2023-01-25",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validUntil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"2026-01-24",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locationBpns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["BPNA000000000001"]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7CF33C1-CED1-1B18-885D-B867C765959D}"/>
              </a:ext>
            </a:extLst>
          </p:cNvPr>
          <p:cNvSpPr txBox="1"/>
          <p:nvPr/>
        </p:nvSpPr>
        <p:spPr>
          <a:xfrm>
            <a:off x="6545198" y="5286376"/>
            <a:ext cx="2738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/>
              <a:t>Industry Core Message</a:t>
            </a:r>
            <a:r>
              <a:rPr lang="en-US" sz="1200" b="1" dirty="0"/>
              <a:t> </a:t>
            </a:r>
            <a:r>
              <a:rPr lang="en-US" sz="1200" dirty="0"/>
              <a:t>defines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subject</a:t>
            </a:r>
            <a:r>
              <a:rPr lang="en-US" sz="1200" dirty="0"/>
              <a:t> contents (DID or BPN)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datacontenttype</a:t>
            </a:r>
            <a:r>
              <a:rPr lang="en-US" sz="1200" dirty="0"/>
              <a:t> as JSON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Required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dataschema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648A50-1975-CA2D-0304-C2B3AD195E58}"/>
              </a:ext>
            </a:extLst>
          </p:cNvPr>
          <p:cNvSpPr txBox="1"/>
          <p:nvPr/>
        </p:nvSpPr>
        <p:spPr>
          <a:xfrm>
            <a:off x="2571620" y="4917045"/>
            <a:ext cx="38911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CX-151 </a:t>
            </a:r>
            <a:r>
              <a:rPr lang="en-US" sz="1200" dirty="0"/>
              <a:t>addresses too much – separate pieces: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Notification Framework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Digital Twin Guidance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API Specifications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EDC asset 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Identifiers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Conformance Assessment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9F6565AF-7450-1C02-B96C-40400BFC454B}"/>
              </a:ext>
            </a:extLst>
          </p:cNvPr>
          <p:cNvSpPr/>
          <p:nvPr/>
        </p:nvSpPr>
        <p:spPr>
          <a:xfrm>
            <a:off x="5036948" y="5509418"/>
            <a:ext cx="1294109" cy="607955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89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BE858-0C33-92C9-33AD-228A5F1C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CCM Proposal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25FCBD2-411C-2150-2ECE-1866F498BD5D}"/>
              </a:ext>
            </a:extLst>
          </p:cNvPr>
          <p:cNvGrpSpPr/>
          <p:nvPr/>
        </p:nvGrpSpPr>
        <p:grpSpPr>
          <a:xfrm>
            <a:off x="566156" y="2538052"/>
            <a:ext cx="2325418" cy="369333"/>
            <a:chOff x="3830685" y="3903965"/>
            <a:chExt cx="4833501" cy="732991"/>
          </a:xfrm>
          <a:solidFill>
            <a:srgbClr val="FFC000"/>
          </a:solidFill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0D21B3C-B6B4-3286-8F07-B5AAAF9B227D}"/>
                </a:ext>
              </a:extLst>
            </p:cNvPr>
            <p:cNvGrpSpPr/>
            <p:nvPr/>
          </p:nvGrpSpPr>
          <p:grpSpPr>
            <a:xfrm>
              <a:off x="3830686" y="3903965"/>
              <a:ext cx="4833499" cy="732991"/>
              <a:chOff x="2935416" y="3343545"/>
              <a:chExt cx="6868885" cy="839531"/>
            </a:xfrm>
            <a:grpFill/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FF4760A-35A6-4E80-014D-0F66B7C37A68}"/>
                  </a:ext>
                </a:extLst>
              </p:cNvPr>
              <p:cNvSpPr txBox="1"/>
              <p:nvPr/>
            </p:nvSpPr>
            <p:spPr>
              <a:xfrm>
                <a:off x="2935416" y="3465617"/>
                <a:ext cx="6868885" cy="594666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100" dirty="0"/>
              </a:p>
            </p:txBody>
          </p:sp>
          <p:sp>
            <p:nvSpPr>
              <p:cNvPr id="52" name="Rounded Rectangle 51">
                <a:extLst>
                  <a:ext uri="{FF2B5EF4-FFF2-40B4-BE49-F238E27FC236}">
                    <a16:creationId xmlns:a16="http://schemas.microsoft.com/office/drawing/2014/main" id="{F5593EAC-FC9E-D9DE-6CDA-15835F580990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ECD2FC1-C395-95E9-E813-3A6B1F40A31B}"/>
                </a:ext>
              </a:extLst>
            </p:cNvPr>
            <p:cNvSpPr txBox="1"/>
            <p:nvPr/>
          </p:nvSpPr>
          <p:spPr>
            <a:xfrm>
              <a:off x="3830685" y="4018496"/>
              <a:ext cx="4833501" cy="503930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50" dirty="0"/>
                <a:t>CX-135 CCM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B1736B7-C5EC-2828-C67C-837D40F1B212}"/>
              </a:ext>
            </a:extLst>
          </p:cNvPr>
          <p:cNvGrpSpPr/>
          <p:nvPr/>
        </p:nvGrpSpPr>
        <p:grpSpPr>
          <a:xfrm>
            <a:off x="2975117" y="2539170"/>
            <a:ext cx="2325416" cy="369333"/>
            <a:chOff x="3830685" y="3903965"/>
            <a:chExt cx="4833501" cy="732991"/>
          </a:xfrm>
          <a:solidFill>
            <a:schemeClr val="bg1">
              <a:lumMod val="85000"/>
            </a:schemeClr>
          </a:solidFill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ADF98AF-DF50-1C03-45AD-F8D52B9BF868}"/>
                </a:ext>
              </a:extLst>
            </p:cNvPr>
            <p:cNvGrpSpPr/>
            <p:nvPr/>
          </p:nvGrpSpPr>
          <p:grpSpPr>
            <a:xfrm>
              <a:off x="3830686" y="3903965"/>
              <a:ext cx="4833499" cy="732991"/>
              <a:chOff x="2935416" y="3343545"/>
              <a:chExt cx="6868885" cy="839531"/>
            </a:xfrm>
            <a:grpFill/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8738DC5-9286-F552-3CEC-779AFF8C75B4}"/>
                  </a:ext>
                </a:extLst>
              </p:cNvPr>
              <p:cNvSpPr txBox="1"/>
              <p:nvPr/>
            </p:nvSpPr>
            <p:spPr>
              <a:xfrm>
                <a:off x="2935416" y="3465617"/>
                <a:ext cx="6868885" cy="594666"/>
              </a:xfrm>
              <a:prstGeom prst="rect">
                <a:avLst/>
              </a:prstGeom>
              <a:grpFill/>
            </p:spPr>
            <p:txBody>
              <a:bodyPr wrap="square" anchor="ctr">
                <a:spAutoFit/>
              </a:bodyPr>
              <a:lstStyle/>
              <a:p>
                <a:pPr algn="ctr"/>
                <a:endParaRPr lang="en-US" sz="1100" dirty="0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CAB844E9-B617-08FB-0AED-84E273D1E9B2}"/>
                  </a:ext>
                </a:extLst>
              </p:cNvPr>
              <p:cNvSpPr/>
              <p:nvPr/>
            </p:nvSpPr>
            <p:spPr>
              <a:xfrm>
                <a:off x="2935416" y="3343545"/>
                <a:ext cx="6868885" cy="839531"/>
              </a:xfrm>
              <a:prstGeom prst="roundRect">
                <a:avLst>
                  <a:gd name="adj" fmla="val 100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77EBC2B-469E-A567-43C1-9E569BA8D1D0}"/>
                </a:ext>
              </a:extLst>
            </p:cNvPr>
            <p:cNvSpPr txBox="1"/>
            <p:nvPr/>
          </p:nvSpPr>
          <p:spPr>
            <a:xfrm>
              <a:off x="3830685" y="4010861"/>
              <a:ext cx="4833501" cy="519200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50" dirty="0"/>
                <a:t>CX-125 Traceability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FCA9483-4EFA-335F-EB71-3C1BDA56BE18}"/>
              </a:ext>
            </a:extLst>
          </p:cNvPr>
          <p:cNvGrpSpPr/>
          <p:nvPr/>
        </p:nvGrpSpPr>
        <p:grpSpPr>
          <a:xfrm>
            <a:off x="566155" y="3000669"/>
            <a:ext cx="4734387" cy="369333"/>
            <a:chOff x="2935414" y="3343545"/>
            <a:chExt cx="6868887" cy="839531"/>
          </a:xfrm>
          <a:solidFill>
            <a:schemeClr val="bg1">
              <a:lumMod val="85000"/>
            </a:schemeClr>
          </a:solidFill>
        </p:grpSpPr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2F01431E-C3A5-3667-4F39-8D11E47A44BE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C65C4EA-C884-7930-4D57-B5FAF9426FF0}"/>
                </a:ext>
              </a:extLst>
            </p:cNvPr>
            <p:cNvSpPr txBox="1"/>
            <p:nvPr/>
          </p:nvSpPr>
          <p:spPr>
            <a:xfrm>
              <a:off x="2935414" y="3448369"/>
              <a:ext cx="6868883" cy="594666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/>
                <a:t>CX-151  Industry Core Message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C84DC98-94BF-CC40-7AAC-D0A1A88DF9A7}"/>
              </a:ext>
            </a:extLst>
          </p:cNvPr>
          <p:cNvGrpSpPr/>
          <p:nvPr/>
        </p:nvGrpSpPr>
        <p:grpSpPr>
          <a:xfrm>
            <a:off x="566156" y="3508977"/>
            <a:ext cx="4734389" cy="369333"/>
            <a:chOff x="2935414" y="3343545"/>
            <a:chExt cx="6868887" cy="839531"/>
          </a:xfrm>
          <a:solidFill>
            <a:schemeClr val="bg1">
              <a:lumMod val="85000"/>
            </a:schemeClr>
          </a:solidFill>
        </p:grpSpPr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60E28F50-4334-3947-B00E-43237E98D0FF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747551D-11FD-5157-A06A-5CD8336510AD}"/>
                </a:ext>
              </a:extLst>
            </p:cNvPr>
            <p:cNvSpPr txBox="1"/>
            <p:nvPr/>
          </p:nvSpPr>
          <p:spPr>
            <a:xfrm>
              <a:off x="2935414" y="3448369"/>
              <a:ext cx="6868883" cy="594666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/>
                <a:t>CNCF Cloud Events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656A81B-6D25-CCC8-DD7B-691D6592D5E3}"/>
              </a:ext>
            </a:extLst>
          </p:cNvPr>
          <p:cNvGrpSpPr/>
          <p:nvPr/>
        </p:nvGrpSpPr>
        <p:grpSpPr>
          <a:xfrm>
            <a:off x="2975116" y="4040790"/>
            <a:ext cx="2325430" cy="369333"/>
            <a:chOff x="2935414" y="3343545"/>
            <a:chExt cx="6868887" cy="839531"/>
          </a:xfrm>
          <a:solidFill>
            <a:schemeClr val="bg1">
              <a:lumMod val="85000"/>
            </a:schemeClr>
          </a:solidFill>
        </p:grpSpPr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B44FC89C-2643-BAFB-5B37-490141FC09A5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F541065-A065-01B1-D408-A28EFD919D94}"/>
                </a:ext>
              </a:extLst>
            </p:cNvPr>
            <p:cNvSpPr txBox="1"/>
            <p:nvPr/>
          </p:nvSpPr>
          <p:spPr>
            <a:xfrm>
              <a:off x="2935414" y="3448369"/>
              <a:ext cx="6868884" cy="594666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 err="1"/>
                <a:t>DPlane</a:t>
              </a:r>
              <a:r>
                <a:rPr lang="en-US" sz="1100" dirty="0"/>
                <a:t>-Sig Token Refresh Profile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85D2EBE-102F-F3CC-C3BD-7D32DEB9F1BE}"/>
              </a:ext>
            </a:extLst>
          </p:cNvPr>
          <p:cNvGrpSpPr/>
          <p:nvPr/>
        </p:nvGrpSpPr>
        <p:grpSpPr>
          <a:xfrm>
            <a:off x="566156" y="4048537"/>
            <a:ext cx="2325429" cy="369333"/>
            <a:chOff x="2935414" y="3343545"/>
            <a:chExt cx="6868887" cy="839531"/>
          </a:xfrm>
          <a:solidFill>
            <a:schemeClr val="bg1">
              <a:lumMod val="85000"/>
            </a:schemeClr>
          </a:solidFill>
        </p:grpSpPr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739893F0-42C0-6317-F29C-59123FB85ECB}"/>
                </a:ext>
              </a:extLst>
            </p:cNvPr>
            <p:cNvSpPr/>
            <p:nvPr/>
          </p:nvSpPr>
          <p:spPr>
            <a:xfrm>
              <a:off x="2935417" y="3343545"/>
              <a:ext cx="6868884" cy="839531"/>
            </a:xfrm>
            <a:prstGeom prst="roundRect">
              <a:avLst>
                <a:gd name="adj" fmla="val 120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84239A4-7E92-4B4B-9AED-0699B8BB09EC}"/>
                </a:ext>
              </a:extLst>
            </p:cNvPr>
            <p:cNvSpPr txBox="1"/>
            <p:nvPr/>
          </p:nvSpPr>
          <p:spPr>
            <a:xfrm>
              <a:off x="2935414" y="3448369"/>
              <a:ext cx="6868883" cy="594666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 err="1"/>
                <a:t>DPlane</a:t>
              </a:r>
              <a:r>
                <a:rPr lang="en-US" sz="1100" dirty="0"/>
                <a:t>-Sig HTTP Profile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066FC566-1147-A815-AD70-8AC2B40B4862}"/>
              </a:ext>
            </a:extLst>
          </p:cNvPr>
          <p:cNvSpPr txBox="1"/>
          <p:nvPr/>
        </p:nvSpPr>
        <p:spPr>
          <a:xfrm>
            <a:off x="6095998" y="4084250"/>
            <a:ext cx="5037483" cy="2554545"/>
          </a:xfrm>
          <a:prstGeom prst="rect">
            <a:avLst/>
          </a:prstGeom>
          <a:solidFill>
            <a:srgbClr val="DEEAFF"/>
          </a:solidFill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6EF9"/>
                </a:solidFill>
              </a:rPr>
              <a:t>Notification message structure</a:t>
            </a:r>
          </a:p>
          <a:p>
            <a:endParaRPr lang="en-US" sz="800" dirty="0">
              <a:solidFill>
                <a:srgbClr val="006EF9"/>
              </a:solidFill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specversion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"1.0",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"type": 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CertificateCreated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"source": "urn:bpn:BPNL0000000001AB",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"subject": "BPNL0000000002CD",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"id": "a1b2c3d4-5e6f-7a8b-9c0d-1e2f3a4b5c6d",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"time": "2025-05-04T07:00:00Z",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datacontenttype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"application/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dataschema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https://w3id.org/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catenax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/schemas/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ccm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/certificate-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created.json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"data":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certificateId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"cert-550e8400-e29b-41d4-a716-446655440000",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datasetId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"dataset-ccm-cert-abc123",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certificateType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"ISO9001",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validFrom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"2023-01-25",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validUntil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"2026-01-24",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locationBpns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["BPNA000000000001"]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6492B5-5313-C522-24DA-381C653F54DF}"/>
              </a:ext>
            </a:extLst>
          </p:cNvPr>
          <p:cNvSpPr txBox="1"/>
          <p:nvPr/>
        </p:nvSpPr>
        <p:spPr>
          <a:xfrm>
            <a:off x="6095997" y="1059885"/>
            <a:ext cx="5037483" cy="2923877"/>
          </a:xfrm>
          <a:prstGeom prst="rect">
            <a:avLst/>
          </a:prstGeom>
          <a:solidFill>
            <a:srgbClr val="DEEAFF"/>
          </a:solidFill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6EF9"/>
                </a:solidFill>
              </a:rPr>
              <a:t>DSP Catalog Dataset – HTTP Profile</a:t>
            </a:r>
          </a:p>
          <a:p>
            <a:endParaRPr lang="en-US" sz="800" b="1" dirty="0">
              <a:solidFill>
                <a:srgbClr val="006EF9"/>
              </a:solidFill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"@id": "urn:uuid:3dd1add8-4d2d-569e-d634-8394a8836a88",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"@type": "Dataset",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hasPolicy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[…],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datasetType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CertificateNotificationAPI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],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"distribution": [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"@type": "Distribution",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"format": "https://w3id.org/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dplane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-sig/http",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specMetadata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"...",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xregistry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],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accessService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”…"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]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3FF0D0-42D4-A881-C8D6-9E4706FB887F}"/>
              </a:ext>
            </a:extLst>
          </p:cNvPr>
          <p:cNvSpPr txBox="1"/>
          <p:nvPr/>
        </p:nvSpPr>
        <p:spPr>
          <a:xfrm>
            <a:off x="3383264" y="5097159"/>
            <a:ext cx="20798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/>
              <a:t>CX-135</a:t>
            </a:r>
            <a:r>
              <a:rPr lang="en-US" sz="1200" b="1" dirty="0"/>
              <a:t> </a:t>
            </a:r>
            <a:r>
              <a:rPr lang="en-US" sz="1200" dirty="0"/>
              <a:t>defines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API endpoints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datasetType</a:t>
            </a:r>
            <a:r>
              <a:rPr lang="en-US" sz="1200" dirty="0"/>
              <a:t> contents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sz="1200" dirty="0"/>
              <a:t> payload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9D850C-0A59-77C4-BBA1-A26F5D871BCB}"/>
              </a:ext>
            </a:extLst>
          </p:cNvPr>
          <p:cNvSpPr txBox="1"/>
          <p:nvPr/>
        </p:nvSpPr>
        <p:spPr>
          <a:xfrm>
            <a:off x="6095996" y="414121"/>
            <a:ext cx="5037483" cy="215444"/>
          </a:xfrm>
          <a:prstGeom prst="rect">
            <a:avLst/>
          </a:prstGeom>
          <a:solidFill>
            <a:srgbClr val="DEEAFF"/>
          </a:solidFill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6EF9"/>
                </a:solidFill>
              </a:rPr>
              <a:t>Client Notification API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8EA2BF-6CE4-3A93-F0A8-B06093296838}"/>
              </a:ext>
            </a:extLst>
          </p:cNvPr>
          <p:cNvSpPr txBox="1"/>
          <p:nvPr/>
        </p:nvSpPr>
        <p:spPr>
          <a:xfrm>
            <a:off x="6095996" y="749443"/>
            <a:ext cx="5037483" cy="215444"/>
          </a:xfrm>
          <a:prstGeom prst="rect">
            <a:avLst/>
          </a:prstGeom>
          <a:solidFill>
            <a:srgbClr val="DEEAFF"/>
          </a:solidFill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6EF9"/>
                </a:solidFill>
              </a:rPr>
              <a:t>Provider Certificate API</a:t>
            </a:r>
          </a:p>
        </p:txBody>
      </p:sp>
    </p:spTree>
    <p:extLst>
      <p:ext uri="{BB962C8B-B14F-4D97-AF65-F5344CB8AC3E}">
        <p14:creationId xmlns:p14="http://schemas.microsoft.com/office/powerpoint/2010/main" val="29188263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C36E-3327-84C5-C295-AD90FAD6A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614F7-7A09-2E59-EEE5-A379D0D14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MVP, Pricing and Availability, Working Model</a:t>
            </a:r>
          </a:p>
        </p:txBody>
      </p:sp>
    </p:spTree>
    <p:extLst>
      <p:ext uri="{BB962C8B-B14F-4D97-AF65-F5344CB8AC3E}">
        <p14:creationId xmlns:p14="http://schemas.microsoft.com/office/powerpoint/2010/main" val="2668282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A2C7E8-20DF-59F4-F671-697A4D0F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Plan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666D12-5890-4F7E-7CD6-697CBBC4F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MVP – </a:t>
            </a:r>
            <a:r>
              <a:rPr lang="en-US" sz="2400" i="1" dirty="0">
                <a:solidFill>
                  <a:srgbClr val="0051F5"/>
                </a:solidFill>
              </a:rPr>
              <a:t>EDC team, CSPs, Catena-X, Cofinity-X </a:t>
            </a:r>
            <a:endParaRPr lang="en-US" i="1" dirty="0">
              <a:solidFill>
                <a:srgbClr val="0051F5"/>
              </a:solidFill>
            </a:endParaRPr>
          </a:p>
          <a:p>
            <a:pPr lvl="1"/>
            <a:r>
              <a:rPr lang="en-US" dirty="0"/>
              <a:t>Features, component architecture, and identification of all required work streams</a:t>
            </a:r>
          </a:p>
          <a:p>
            <a:pPr lvl="1">
              <a:buFont typeface="Wingdings" pitchFamily="2" charset="2"/>
              <a:buChar char="ü"/>
            </a:pPr>
            <a:r>
              <a:rPr lang="en-US" b="1" dirty="0"/>
              <a:t>Agreement today</a:t>
            </a:r>
          </a:p>
          <a:p>
            <a:r>
              <a:rPr lang="en-US" dirty="0"/>
              <a:t>Pricing and availability - </a:t>
            </a:r>
            <a:r>
              <a:rPr lang="en-US" sz="2400" dirty="0">
                <a:solidFill>
                  <a:srgbClr val="0051F5"/>
                </a:solidFill>
              </a:rPr>
              <a:t>CSPs</a:t>
            </a:r>
            <a:endParaRPr lang="en-US" dirty="0">
              <a:solidFill>
                <a:srgbClr val="0051F5"/>
              </a:solidFill>
            </a:endParaRPr>
          </a:p>
          <a:p>
            <a:pPr lvl="1"/>
            <a:r>
              <a:rPr lang="en-US" dirty="0"/>
              <a:t>CSPs to provide a detailed product plan and presentation</a:t>
            </a:r>
          </a:p>
          <a:p>
            <a:pPr lvl="1"/>
            <a:r>
              <a:rPr lang="en-US" dirty="0"/>
              <a:t>Include pricing and dates (Beta, GA)</a:t>
            </a:r>
          </a:p>
          <a:p>
            <a:pPr lvl="1">
              <a:buFont typeface="Wingdings" pitchFamily="2" charset="2"/>
              <a:buChar char="ü"/>
            </a:pPr>
            <a:r>
              <a:rPr lang="en-US" b="1" dirty="0"/>
              <a:t>Identify required Catena-X inputs</a:t>
            </a:r>
          </a:p>
          <a:p>
            <a:r>
              <a:rPr lang="en-US" dirty="0"/>
              <a:t>Working model – </a:t>
            </a:r>
            <a:r>
              <a:rPr lang="en-US" sz="2400" dirty="0">
                <a:solidFill>
                  <a:srgbClr val="0051F5"/>
                </a:solidFill>
              </a:rPr>
              <a:t>EDC team, CSPs, Catena-X, Cofinity-X </a:t>
            </a:r>
            <a:endParaRPr lang="en-US" dirty="0">
              <a:solidFill>
                <a:srgbClr val="0051F5"/>
              </a:solidFill>
            </a:endParaRPr>
          </a:p>
          <a:p>
            <a:pPr lvl="1"/>
            <a:r>
              <a:rPr lang="en-US" dirty="0"/>
              <a:t>Agree on working model and responsibilities</a:t>
            </a:r>
          </a:p>
          <a:p>
            <a:pPr lvl="1">
              <a:buFont typeface="Wingdings" pitchFamily="2" charset="2"/>
              <a:buChar char="ü"/>
            </a:pPr>
            <a:r>
              <a:rPr lang="en-US" b="1" dirty="0"/>
              <a:t>Agreement today</a:t>
            </a:r>
          </a:p>
        </p:txBody>
      </p:sp>
    </p:spTree>
    <p:extLst>
      <p:ext uri="{BB962C8B-B14F-4D97-AF65-F5344CB8AC3E}">
        <p14:creationId xmlns:p14="http://schemas.microsoft.com/office/powerpoint/2010/main" val="3273461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etaform.template" id="{7D513269-060D-754C-8672-540AC69961E7}" vid="{1D448408-A04F-504B-BC83-5D654CA9CE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41D4CE4-A7FD-524B-9457-6245ECA018C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62647</TotalTime>
  <Words>2619</Words>
  <Application>Microsoft Macintosh PowerPoint</Application>
  <PresentationFormat>Widescreen</PresentationFormat>
  <Paragraphs>706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Arial</vt:lpstr>
      <vt:lpstr>Courier New</vt:lpstr>
      <vt:lpstr>Wingdings</vt:lpstr>
      <vt:lpstr>Office Theme</vt:lpstr>
      <vt:lpstr>  </vt:lpstr>
      <vt:lpstr>Day 0: Monday Agenda</vt:lpstr>
      <vt:lpstr>Day 1: Tuesday Agenda</vt:lpstr>
      <vt:lpstr>Day 2: Wednesday Agenda</vt:lpstr>
      <vt:lpstr>Technology Goals</vt:lpstr>
      <vt:lpstr>Technology Foundation</vt:lpstr>
      <vt:lpstr>Beyond EDC</vt:lpstr>
      <vt:lpstr>Dataspace Technology Foundation</vt:lpstr>
      <vt:lpstr>Dataspace Technology Foundation</vt:lpstr>
      <vt:lpstr>The EDC Platform is Adding Options</vt:lpstr>
      <vt:lpstr>Why Virtualization?</vt:lpstr>
      <vt:lpstr>Virtualization Design</vt:lpstr>
      <vt:lpstr>Dataspace Technology Foundation</vt:lpstr>
      <vt:lpstr>An Ecosystem of Data Planes</vt:lpstr>
      <vt:lpstr>Building Data Planes</vt:lpstr>
      <vt:lpstr>Using Siglets to Build Data Planes</vt:lpstr>
      <vt:lpstr>Dataspace Technology Foundation</vt:lpstr>
      <vt:lpstr>Introducing CFM</vt:lpstr>
      <vt:lpstr>End-to-End Architecture</vt:lpstr>
      <vt:lpstr>Impact on Tractus-X</vt:lpstr>
      <vt:lpstr>EDC-V and Tractus-X EDC</vt:lpstr>
      <vt:lpstr>EDC Impact on Tractus-X</vt:lpstr>
      <vt:lpstr>Deliverables</vt:lpstr>
      <vt:lpstr>Deliverables</vt:lpstr>
      <vt:lpstr>Onboarding API</vt:lpstr>
      <vt:lpstr>From Single Platforms to Ecosystems</vt:lpstr>
      <vt:lpstr>Automated Onboarding API</vt:lpstr>
      <vt:lpstr>Use Case Protocols</vt:lpstr>
      <vt:lpstr>CX-135 Certificate Management: Structural Issues</vt:lpstr>
      <vt:lpstr>CX-135 Desired State</vt:lpstr>
      <vt:lpstr>CCM Proposed Protocol</vt:lpstr>
      <vt:lpstr>CCM Notification Scenario</vt:lpstr>
      <vt:lpstr>CCM Pull Scenario</vt:lpstr>
      <vt:lpstr>CCM Proposal</vt:lpstr>
      <vt:lpstr>CCM Proposal</vt:lpstr>
      <vt:lpstr>CCM Proposal</vt:lpstr>
      <vt:lpstr>CCM Proposal</vt:lpstr>
      <vt:lpstr>Product Plan</vt:lpstr>
      <vt:lpstr>Product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creator>Jim Marino</dc:creator>
  <cp:lastModifiedBy>Jim Marino</cp:lastModifiedBy>
  <cp:revision>1056</cp:revision>
  <dcterms:created xsi:type="dcterms:W3CDTF">2024-06-12T06:02:21Z</dcterms:created>
  <dcterms:modified xsi:type="dcterms:W3CDTF">2026-03-09T21:46:20Z</dcterms:modified>
</cp:coreProperties>
</file>